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Override2.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90" r:id="rId3"/>
    <p:sldId id="257" r:id="rId4"/>
    <p:sldId id="258" r:id="rId5"/>
    <p:sldId id="288" r:id="rId6"/>
    <p:sldId id="259" r:id="rId7"/>
    <p:sldId id="291" r:id="rId8"/>
    <p:sldId id="260" r:id="rId9"/>
    <p:sldId id="261" r:id="rId10"/>
    <p:sldId id="292" r:id="rId11"/>
    <p:sldId id="262" r:id="rId12"/>
    <p:sldId id="263" r:id="rId13"/>
    <p:sldId id="264" r:id="rId14"/>
    <p:sldId id="265" r:id="rId15"/>
    <p:sldId id="293" r:id="rId16"/>
    <p:sldId id="278" r:id="rId17"/>
    <p:sldId id="266" r:id="rId18"/>
    <p:sldId id="279" r:id="rId19"/>
    <p:sldId id="267" r:id="rId20"/>
    <p:sldId id="280" r:id="rId21"/>
    <p:sldId id="268" r:id="rId22"/>
    <p:sldId id="281" r:id="rId23"/>
    <p:sldId id="269" r:id="rId24"/>
    <p:sldId id="282" r:id="rId25"/>
    <p:sldId id="270" r:id="rId26"/>
    <p:sldId id="283" r:id="rId27"/>
    <p:sldId id="271" r:id="rId28"/>
    <p:sldId id="284" r:id="rId29"/>
    <p:sldId id="272" r:id="rId30"/>
    <p:sldId id="285" r:id="rId31"/>
    <p:sldId id="273" r:id="rId32"/>
    <p:sldId id="286" r:id="rId33"/>
    <p:sldId id="274" r:id="rId34"/>
    <p:sldId id="287" r:id="rId35"/>
    <p:sldId id="275" r:id="rId36"/>
    <p:sldId id="276" r:id="rId37"/>
    <p:sldId id="277"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948"/>
    <p:restoredTop sz="94610"/>
  </p:normalViewPr>
  <p:slideViewPr>
    <p:cSldViewPr snapToGrid="0" snapToObjects="1">
      <p:cViewPr>
        <p:scale>
          <a:sx n="76" d="100"/>
          <a:sy n="76" d="100"/>
        </p:scale>
        <p:origin x="1424" y="9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1530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111992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598733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5303520" cy="6858000"/>
          </a:xfrm>
          <a:prstGeom prst="rect">
            <a:avLst/>
          </a:prstGeom>
          <a:solidFill>
            <a:srgbClr val="0B1A3A"/>
          </a:solidFill>
          <a:ln w="12700">
            <a:solidFill>
              <a:srgbClr val="0B1A3A"/>
            </a:solidFill>
            <a:prstDash val="solid"/>
          </a:ln>
        </p:spPr>
      </p:sp>
      <p:sp>
        <p:nvSpPr>
          <p:cNvPr id="3" name="Shape 1"/>
          <p:cNvSpPr/>
          <p:nvPr/>
        </p:nvSpPr>
        <p:spPr>
          <a:xfrm>
            <a:off x="0" y="0"/>
            <a:ext cx="82296" cy="6858000"/>
          </a:xfrm>
          <a:prstGeom prst="rect">
            <a:avLst/>
          </a:prstGeom>
          <a:solidFill>
            <a:srgbClr val="1246B3"/>
          </a:solidFill>
          <a:ln w="12700">
            <a:solidFill>
              <a:srgbClr val="1246B3"/>
            </a:solidFill>
            <a:prstDash val="solid"/>
          </a:ln>
        </p:spPr>
      </p:sp>
      <p:sp>
        <p:nvSpPr>
          <p:cNvPr id="4" name="Shape 2"/>
          <p:cNvSpPr/>
          <p:nvPr/>
        </p:nvSpPr>
        <p:spPr>
          <a:xfrm>
            <a:off x="8686800" y="-1371600"/>
            <a:ext cx="5486400" cy="5486400"/>
          </a:xfrm>
          <a:prstGeom prst="ellipse">
            <a:avLst/>
          </a:prstGeom>
          <a:solidFill>
            <a:srgbClr val="1246B3">
              <a:alpha val="14000"/>
            </a:srgbClr>
          </a:solidFill>
          <a:ln w="12700">
            <a:solidFill>
              <a:srgbClr val="1246B3">
                <a:alpha val="14000"/>
              </a:srgbClr>
            </a:solidFill>
            <a:prstDash val="solid"/>
          </a:ln>
        </p:spPr>
      </p:sp>
      <p:sp>
        <p:nvSpPr>
          <p:cNvPr id="5" name="Shape 3"/>
          <p:cNvSpPr/>
          <p:nvPr/>
        </p:nvSpPr>
        <p:spPr>
          <a:xfrm>
            <a:off x="6858000" y="4114800"/>
            <a:ext cx="3200400" cy="3200400"/>
          </a:xfrm>
          <a:prstGeom prst="ellipse">
            <a:avLst/>
          </a:prstGeom>
          <a:solidFill>
            <a:srgbClr val="1246B3">
              <a:alpha val="12000"/>
            </a:srgbClr>
          </a:solidFill>
          <a:ln w="12700">
            <a:solidFill>
              <a:srgbClr val="1246B3">
                <a:alpha val="12000"/>
              </a:srgbClr>
            </a:solidFill>
            <a:prstDash val="solid"/>
          </a:ln>
        </p:spPr>
      </p:sp>
      <p:sp>
        <p:nvSpPr>
          <p:cNvPr id="7" name="Text 4"/>
          <p:cNvSpPr/>
          <p:nvPr/>
        </p:nvSpPr>
        <p:spPr>
          <a:xfrm>
            <a:off x="201168" y="1188720"/>
            <a:ext cx="4846320" cy="292608"/>
          </a:xfrm>
          <a:prstGeom prst="rect">
            <a:avLst/>
          </a:prstGeom>
          <a:noFill/>
          <a:ln/>
        </p:spPr>
        <p:txBody>
          <a:bodyPr wrap="square" lIns="0" tIns="0" rIns="0" bIns="0" rtlCol="0" anchor="ctr"/>
          <a:lstStyle/>
          <a:p>
            <a:pPr marL="0" indent="0" algn="l">
              <a:buNone/>
            </a:pPr>
            <a:r>
              <a:rPr lang="en-US" sz="900" b="1" kern="0" spc="200" dirty="0">
                <a:solidFill>
                  <a:srgbClr val="38BDF8"/>
                </a:solidFill>
                <a:latin typeface="Calibri" pitchFamily="34" charset="0"/>
                <a:ea typeface="Calibri" pitchFamily="34" charset="-122"/>
                <a:cs typeface="Calibri" pitchFamily="34" charset="-120"/>
              </a:rPr>
              <a:t>PROYECTO ABP · MÓDULO 5</a:t>
            </a:r>
            <a:endParaRPr lang="en-US" sz="900" dirty="0"/>
          </a:p>
        </p:txBody>
      </p:sp>
      <p:sp>
        <p:nvSpPr>
          <p:cNvPr id="8" name="Text 5"/>
          <p:cNvSpPr/>
          <p:nvPr/>
        </p:nvSpPr>
        <p:spPr>
          <a:xfrm>
            <a:off x="201168" y="1554480"/>
            <a:ext cx="4937760" cy="2468880"/>
          </a:xfrm>
          <a:prstGeom prst="rect">
            <a:avLst/>
          </a:prstGeom>
          <a:noFill/>
          <a:ln/>
        </p:spPr>
        <p:txBody>
          <a:bodyPr wrap="square" lIns="0" tIns="0" rIns="0" bIns="0" rtlCol="0" anchor="ctr"/>
          <a:lstStyle/>
          <a:p>
            <a:pPr marL="0" indent="0" algn="l">
              <a:lnSpc>
                <a:spcPct val="95000"/>
              </a:lnSpc>
              <a:buNone/>
            </a:pPr>
            <a:r>
              <a:rPr lang="en-US" sz="5400" b="1" dirty="0">
                <a:solidFill>
                  <a:srgbClr val="FFFFFF"/>
                </a:solidFill>
                <a:latin typeface="Calibri" pitchFamily="34" charset="0"/>
                <a:ea typeface="Calibri" pitchFamily="34" charset="-122"/>
                <a:cs typeface="Calibri" pitchFamily="34" charset="-120"/>
              </a:rPr>
              <a:t>Expense
</a:t>
            </a:r>
            <a:r>
              <a:rPr lang="en-US" sz="5400" b="1" dirty="0">
                <a:solidFill>
                  <a:srgbClr val="38BDF8"/>
                </a:solidFill>
                <a:latin typeface="Calibri" pitchFamily="34" charset="0"/>
                <a:ea typeface="Calibri" pitchFamily="34" charset="-122"/>
                <a:cs typeface="Calibri" pitchFamily="34" charset="-120"/>
              </a:rPr>
              <a:t>Mobility System AI</a:t>
            </a:r>
            <a:endParaRPr lang="en-US" sz="5400" dirty="0"/>
          </a:p>
        </p:txBody>
      </p:sp>
      <p:sp>
        <p:nvSpPr>
          <p:cNvPr id="9" name="Shape 6"/>
          <p:cNvSpPr/>
          <p:nvPr/>
        </p:nvSpPr>
        <p:spPr>
          <a:xfrm>
            <a:off x="201168" y="4069080"/>
            <a:ext cx="1828800" cy="36576"/>
          </a:xfrm>
          <a:prstGeom prst="rect">
            <a:avLst/>
          </a:prstGeom>
          <a:solidFill>
            <a:srgbClr val="FBBF24"/>
          </a:solidFill>
          <a:ln w="12700">
            <a:solidFill>
              <a:srgbClr val="FBBF24"/>
            </a:solidFill>
            <a:prstDash val="solid"/>
          </a:ln>
        </p:spPr>
      </p:sp>
      <p:sp>
        <p:nvSpPr>
          <p:cNvPr id="10" name="Text 7"/>
          <p:cNvSpPr/>
          <p:nvPr/>
        </p:nvSpPr>
        <p:spPr>
          <a:xfrm>
            <a:off x="201168" y="4206240"/>
            <a:ext cx="3363835" cy="777240"/>
          </a:xfrm>
          <a:prstGeom prst="rect">
            <a:avLst/>
          </a:prstGeom>
          <a:noFill/>
          <a:ln/>
        </p:spPr>
        <p:txBody>
          <a:bodyPr wrap="square" lIns="0" tIns="0" rIns="0" bIns="0" rtlCol="0" anchor="ctr"/>
          <a:lstStyle/>
          <a:p>
            <a:pPr marL="0" indent="0" algn="r">
              <a:lnSpc>
                <a:spcPct val="130000"/>
              </a:lnSpc>
              <a:buNone/>
            </a:pPr>
            <a:r>
              <a:rPr lang="en-US" i="1" dirty="0">
                <a:solidFill>
                  <a:srgbClr val="FBBF24"/>
                </a:solidFill>
                <a:latin typeface="Calibri" pitchFamily="34" charset="0"/>
                <a:ea typeface="Calibri" pitchFamily="34" charset="-122"/>
                <a:cs typeface="Calibri" pitchFamily="34" charset="-120"/>
              </a:rPr>
              <a:t>"Menos tiempo rindiendo cuentas.</a:t>
            </a:r>
            <a:endParaRPr lang="en-US" dirty="0"/>
          </a:p>
          <a:p>
            <a:pPr marL="0" indent="0" algn="r">
              <a:lnSpc>
                <a:spcPct val="130000"/>
              </a:lnSpc>
              <a:buNone/>
            </a:pPr>
            <a:r>
              <a:rPr lang="en-US" i="1" dirty="0">
                <a:solidFill>
                  <a:srgbClr val="FBBF24"/>
                </a:solidFill>
                <a:latin typeface="Calibri" pitchFamily="34" charset="0"/>
                <a:ea typeface="Calibri" pitchFamily="34" charset="-122"/>
                <a:cs typeface="Calibri" pitchFamily="34" charset="-120"/>
              </a:rPr>
              <a:t>Más tiempo aportando valor."</a:t>
            </a:r>
            <a:endParaRPr lang="en-US" dirty="0"/>
          </a:p>
        </p:txBody>
      </p:sp>
      <p:sp>
        <p:nvSpPr>
          <p:cNvPr id="11" name="Text 8"/>
          <p:cNvSpPr/>
          <p:nvPr/>
        </p:nvSpPr>
        <p:spPr>
          <a:xfrm>
            <a:off x="201168" y="5504688"/>
            <a:ext cx="4846320" cy="256032"/>
          </a:xfrm>
          <a:prstGeom prst="rect">
            <a:avLst/>
          </a:prstGeom>
          <a:noFill/>
          <a:ln/>
        </p:spPr>
        <p:txBody>
          <a:bodyPr wrap="square" lIns="0" tIns="0" rIns="0" bIns="0" rtlCol="0" anchor="ctr"/>
          <a:lstStyle/>
          <a:p>
            <a:pPr marL="0" indent="0" algn="l">
              <a:buNone/>
            </a:pPr>
            <a:r>
              <a:rPr lang="en-US" sz="1000" dirty="0">
                <a:solidFill>
                  <a:srgbClr val="E2E8F0"/>
                </a:solidFill>
                <a:latin typeface="Calibri" pitchFamily="34" charset="0"/>
                <a:ea typeface="Calibri" pitchFamily="34" charset="-122"/>
                <a:cs typeface="Calibri" pitchFamily="34" charset="-120"/>
              </a:rPr>
              <a:t>Product Owner: Gabriel Sandoval  ·  </a:t>
            </a:r>
            <a:r>
              <a:rPr lang="en-US" sz="1000" dirty="0" err="1">
                <a:solidFill>
                  <a:srgbClr val="E2E8F0"/>
                </a:solidFill>
                <a:latin typeface="Calibri" pitchFamily="34" charset="0"/>
                <a:ea typeface="Calibri" pitchFamily="34" charset="-122"/>
                <a:cs typeface="Calibri" pitchFamily="34" charset="-120"/>
              </a:rPr>
              <a:t>Marzo</a:t>
            </a:r>
            <a:r>
              <a:rPr lang="en-US" sz="1000" dirty="0">
                <a:solidFill>
                  <a:srgbClr val="E2E8F0"/>
                </a:solidFill>
                <a:latin typeface="Calibri" pitchFamily="34" charset="0"/>
                <a:ea typeface="Calibri" pitchFamily="34" charset="-122"/>
                <a:cs typeface="Calibri" pitchFamily="34" charset="-120"/>
              </a:rPr>
              <a:t> 2026 – Copyright ©</a:t>
            </a:r>
            <a:endParaRPr lang="en-US" sz="1000" dirty="0"/>
          </a:p>
        </p:txBody>
      </p:sp>
      <p:sp>
        <p:nvSpPr>
          <p:cNvPr id="12" name="Shape 9"/>
          <p:cNvSpPr/>
          <p:nvPr/>
        </p:nvSpPr>
        <p:spPr>
          <a:xfrm>
            <a:off x="0" y="6720840"/>
            <a:ext cx="12188952" cy="137160"/>
          </a:xfrm>
          <a:prstGeom prst="rect">
            <a:avLst/>
          </a:prstGeom>
          <a:solidFill>
            <a:srgbClr val="1246B3"/>
          </a:solidFill>
          <a:ln w="12700">
            <a:solidFill>
              <a:srgbClr val="1246B3"/>
            </a:solidFill>
            <a:prstDash val="solid"/>
          </a:ln>
        </p:spPr>
      </p:sp>
      <p:pic>
        <p:nvPicPr>
          <p:cNvPr id="14" name="Imagen 13">
            <a:extLst>
              <a:ext uri="{FF2B5EF4-FFF2-40B4-BE49-F238E27FC236}">
                <a16:creationId xmlns:a16="http://schemas.microsoft.com/office/drawing/2014/main" id="{3C70FB0A-FDE3-982D-995F-332770E329C0}"/>
              </a:ext>
            </a:extLst>
          </p:cNvPr>
          <p:cNvPicPr>
            <a:picLocks noChangeAspect="1"/>
          </p:cNvPicPr>
          <p:nvPr/>
        </p:nvPicPr>
        <p:blipFill>
          <a:blip r:embed="rId3"/>
          <a:stretch>
            <a:fillRect/>
          </a:stretch>
        </p:blipFill>
        <p:spPr>
          <a:xfrm>
            <a:off x="6858000" y="1335024"/>
            <a:ext cx="4386166" cy="40233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6" name="Text 4"/>
          <p:cNvSpPr/>
          <p:nvPr/>
        </p:nvSpPr>
        <p:spPr>
          <a:xfrm>
            <a:off x="651510" y="137160"/>
            <a:ext cx="9909810" cy="384048"/>
          </a:xfrm>
          <a:prstGeom prst="rect">
            <a:avLst/>
          </a:prstGeom>
          <a:noFill/>
          <a:ln/>
        </p:spPr>
        <p:txBody>
          <a:bodyPr wrap="square" lIns="0" tIns="0" rIns="0" bIns="0" rtlCol="0" anchor="ctr"/>
          <a:lstStyle/>
          <a:p>
            <a:pPr marL="0" indent="0" algn="l">
              <a:buNone/>
            </a:pPr>
            <a:r>
              <a:rPr lang="en-US" sz="2100" b="1" dirty="0" err="1">
                <a:solidFill>
                  <a:srgbClr val="FFFFFF"/>
                </a:solidFill>
                <a:latin typeface="Calibri" pitchFamily="34" charset="0"/>
                <a:cs typeface="Calibri" pitchFamily="34" charset="-120"/>
              </a:rPr>
              <a:t>Contexto</a:t>
            </a:r>
            <a:r>
              <a:rPr lang="en-US" sz="2100" b="1" dirty="0">
                <a:solidFill>
                  <a:srgbClr val="FFFFFF"/>
                </a:solidFill>
                <a:latin typeface="Calibri" pitchFamily="34" charset="0"/>
                <a:cs typeface="Calibri" pitchFamily="34" charset="-120"/>
              </a:rPr>
              <a:t> General</a:t>
            </a:r>
            <a:endParaRPr lang="en-US" sz="21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Text 7"/>
          <p:cNvSpPr/>
          <p:nvPr/>
        </p:nvSpPr>
        <p:spPr>
          <a:xfrm>
            <a:off x="11091672" y="137160"/>
            <a:ext cx="914400" cy="566928"/>
          </a:xfrm>
          <a:prstGeom prst="rect">
            <a:avLst/>
          </a:prstGeom>
          <a:noFill/>
          <a:ln/>
        </p:spPr>
        <p:txBody>
          <a:bodyPr wrap="square" lIns="0" tIns="0" rIns="0" bIns="0" rtlCol="0" anchor="ctr"/>
          <a:lstStyle/>
          <a:p>
            <a:pPr marL="0" indent="0" algn="ctr">
              <a:buNone/>
            </a:pPr>
            <a:r>
              <a:rPr lang="en-US" sz="2200" b="1" dirty="0">
                <a:solidFill>
                  <a:srgbClr val="38BDF8"/>
                </a:solidFill>
                <a:latin typeface="Calibri" pitchFamily="34" charset="0"/>
                <a:ea typeface="Calibri" pitchFamily="34" charset="-122"/>
                <a:cs typeface="Calibri" pitchFamily="34" charset="-120"/>
              </a:rPr>
              <a:t>GSG</a:t>
            </a:r>
            <a:endParaRPr lang="en-US" sz="2200" dirty="0"/>
          </a:p>
        </p:txBody>
      </p:sp>
      <p:sp>
        <p:nvSpPr>
          <p:cNvPr id="10" name="Shape 8"/>
          <p:cNvSpPr/>
          <p:nvPr/>
        </p:nvSpPr>
        <p:spPr>
          <a:xfrm>
            <a:off x="0" y="6720840"/>
            <a:ext cx="12188952" cy="137160"/>
          </a:xfrm>
          <a:prstGeom prst="rect">
            <a:avLst/>
          </a:prstGeom>
          <a:solidFill>
            <a:srgbClr val="1246B3"/>
          </a:solidFill>
          <a:ln w="12700">
            <a:solidFill>
              <a:srgbClr val="1246B3"/>
            </a:solidFill>
            <a:prstDash val="solid"/>
          </a:ln>
        </p:spPr>
      </p:sp>
      <p:sp>
        <p:nvSpPr>
          <p:cNvPr id="11" name="Text 9"/>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7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700" dirty="0"/>
          </a:p>
        </p:txBody>
      </p:sp>
      <p:sp>
        <p:nvSpPr>
          <p:cNvPr id="13" name="Shape 10"/>
          <p:cNvSpPr/>
          <p:nvPr/>
        </p:nvSpPr>
        <p:spPr>
          <a:xfrm>
            <a:off x="1159383" y="1904619"/>
            <a:ext cx="9870186" cy="3743706"/>
          </a:xfrm>
          <a:prstGeom prst="rect">
            <a:avLst/>
          </a:prstGeom>
          <a:solidFill>
            <a:srgbClr val="060D1F">
              <a:alpha val="82000"/>
            </a:srgbClr>
          </a:solidFill>
          <a:ln w="12700">
            <a:solidFill>
              <a:srgbClr val="060D1F">
                <a:alpha val="82000"/>
              </a:srgbClr>
            </a:solidFill>
            <a:prstDash val="solid"/>
          </a:ln>
        </p:spPr>
      </p:sp>
      <p:sp>
        <p:nvSpPr>
          <p:cNvPr id="14" name="Shape 11"/>
          <p:cNvSpPr/>
          <p:nvPr/>
        </p:nvSpPr>
        <p:spPr>
          <a:xfrm flipH="1">
            <a:off x="651510" y="1722120"/>
            <a:ext cx="82297" cy="4106037"/>
          </a:xfrm>
          <a:prstGeom prst="rect">
            <a:avLst/>
          </a:prstGeom>
          <a:solidFill>
            <a:srgbClr val="FBBF24"/>
          </a:solidFill>
          <a:ln w="12700">
            <a:solidFill>
              <a:srgbClr val="FBBF24"/>
            </a:solidFill>
            <a:prstDash val="solid"/>
          </a:ln>
        </p:spPr>
      </p:sp>
      <p:sp>
        <p:nvSpPr>
          <p:cNvPr id="28" name="CuadroTexto 27">
            <a:extLst>
              <a:ext uri="{FF2B5EF4-FFF2-40B4-BE49-F238E27FC236}">
                <a16:creationId xmlns:a16="http://schemas.microsoft.com/office/drawing/2014/main" id="{A5A32128-744D-EF5F-8054-6422452836FD}"/>
              </a:ext>
            </a:extLst>
          </p:cNvPr>
          <p:cNvSpPr txBox="1"/>
          <p:nvPr/>
        </p:nvSpPr>
        <p:spPr>
          <a:xfrm>
            <a:off x="9757458" y="7280476"/>
            <a:ext cx="184731" cy="369332"/>
          </a:xfrm>
          <a:prstGeom prst="rect">
            <a:avLst/>
          </a:prstGeom>
          <a:noFill/>
        </p:spPr>
        <p:txBody>
          <a:bodyPr wrap="none" rtlCol="0">
            <a:spAutoFit/>
          </a:bodyPr>
          <a:lstStyle/>
          <a:p>
            <a:endParaRPr lang="es-ES_tradnl" dirty="0"/>
          </a:p>
        </p:txBody>
      </p:sp>
      <p:sp>
        <p:nvSpPr>
          <p:cNvPr id="30" name="CuadroTexto 29">
            <a:extLst>
              <a:ext uri="{FF2B5EF4-FFF2-40B4-BE49-F238E27FC236}">
                <a16:creationId xmlns:a16="http://schemas.microsoft.com/office/drawing/2014/main" id="{E1E62ADF-6868-2E99-A864-CB7F36689F1C}"/>
              </a:ext>
            </a:extLst>
          </p:cNvPr>
          <p:cNvSpPr txBox="1"/>
          <p:nvPr/>
        </p:nvSpPr>
        <p:spPr>
          <a:xfrm>
            <a:off x="1465326" y="2194768"/>
            <a:ext cx="9258299" cy="2893100"/>
          </a:xfrm>
          <a:prstGeom prst="rect">
            <a:avLst/>
          </a:prstGeom>
          <a:noFill/>
        </p:spPr>
        <p:txBody>
          <a:bodyPr wrap="square">
            <a:spAutoFit/>
          </a:bodyPr>
          <a:lstStyle/>
          <a:p>
            <a:r>
              <a:rPr lang="es-CL" sz="1400" b="1" dirty="0" err="1">
                <a:solidFill>
                  <a:schemeClr val="bg1"/>
                </a:solidFill>
                <a:effectLst/>
                <a:latin typeface="Arial Unicode MS" panose="020B0604020202020204" pitchFamily="34" charset="-128"/>
                <a:ea typeface="Arial Unicode MS" panose="020B0604020202020204" pitchFamily="34" charset="-128"/>
                <a:cs typeface="Arial Unicode MS" panose="020B0604020202020204" pitchFamily="34" charset="-128"/>
              </a:rPr>
              <a:t>TechLogistics</a:t>
            </a:r>
            <a:r>
              <a:rPr lang="es-CL" sz="1400" b="1" dirty="0">
                <a:solidFill>
                  <a:schemeClr val="bg1"/>
                </a:solidFill>
                <a:effectLst/>
                <a:latin typeface="Arial Unicode MS" panose="020B0604020202020204" pitchFamily="34" charset="-128"/>
                <a:ea typeface="Arial Unicode MS" panose="020B0604020202020204" pitchFamily="34" charset="-128"/>
                <a:cs typeface="Arial Unicode MS" panose="020B0604020202020204" pitchFamily="34" charset="-128"/>
              </a:rPr>
              <a:t> S.A. gestiona más de 450 solicitudes de viáticos mensuales mediante un proceso altamente manual, apoyado en planillas Excel enviadas por correo electrónico. Este modelo ha derivado en una crisis operativa y reputacional interna, con impactos financieros, humanos y de control.</a:t>
            </a:r>
          </a:p>
          <a:p>
            <a:endParaRPr lang="es-CL" sz="1400" b="1" dirty="0">
              <a:solidFill>
                <a:schemeClr val="bg1"/>
              </a:solidFill>
              <a:effectLst/>
              <a:latin typeface="Arial Unicode MS" panose="020B0604020202020204" pitchFamily="34" charset="-128"/>
              <a:ea typeface="Arial Unicode MS" panose="020B0604020202020204" pitchFamily="34" charset="-128"/>
              <a:cs typeface="Arial Unicode MS" panose="020B0604020202020204" pitchFamily="34" charset="-128"/>
            </a:endParaRPr>
          </a:p>
          <a:p>
            <a:pPr marL="342900" lvl="0" indent="-342900">
              <a:buFont typeface="+mj-lt"/>
              <a:buAutoNum type="arabicPeriod"/>
              <a:tabLst>
                <a:tab pos="457200" algn="l"/>
              </a:tabLst>
            </a:pPr>
            <a:r>
              <a:rPr lang="es-CL" sz="1400" b="1" dirty="0">
                <a:solidFill>
                  <a:schemeClr val="bg1"/>
                </a:solidFill>
                <a:effectLst/>
                <a:latin typeface="Arial Unicode MS" panose="020B0604020202020204" pitchFamily="34" charset="-128"/>
                <a:ea typeface="Arial Unicode MS" panose="020B0604020202020204" pitchFamily="34" charset="-128"/>
                <a:cs typeface="Arial Unicode MS" panose="020B0604020202020204" pitchFamily="34" charset="-128"/>
              </a:rPr>
              <a:t>Fuga de capital: aproximadamente un 12% de los reembolsos presentan errores de cálculo, duplicidades o gastos mal imputados debido a la carga manual y la ausencia de validaciones automáticas.</a:t>
            </a:r>
          </a:p>
          <a:p>
            <a:pPr marL="342900" lvl="0" indent="-342900">
              <a:buFont typeface="+mj-lt"/>
              <a:buAutoNum type="arabicPeriod"/>
              <a:tabLst>
                <a:tab pos="457200" algn="l"/>
              </a:tabLst>
            </a:pPr>
            <a:endParaRPr lang="es-CL" sz="1400" b="1" dirty="0">
              <a:solidFill>
                <a:schemeClr val="bg1"/>
              </a:solidFill>
              <a:effectLst/>
              <a:latin typeface="Arial Unicode MS" panose="020B0604020202020204" pitchFamily="34" charset="-128"/>
              <a:ea typeface="Arial Unicode MS" panose="020B0604020202020204" pitchFamily="34" charset="-128"/>
              <a:cs typeface="Arial Unicode MS" panose="020B0604020202020204" pitchFamily="34" charset="-128"/>
            </a:endParaRPr>
          </a:p>
          <a:p>
            <a:pPr marL="342900" lvl="0" indent="-342900">
              <a:buFont typeface="+mj-lt"/>
              <a:buAutoNum type="arabicPeriod"/>
              <a:tabLst>
                <a:tab pos="457200" algn="l"/>
              </a:tabLst>
            </a:pPr>
            <a:r>
              <a:rPr lang="es-CL" sz="1400" b="1" dirty="0">
                <a:solidFill>
                  <a:schemeClr val="bg1"/>
                </a:solidFill>
                <a:effectLst/>
                <a:latin typeface="Arial Unicode MS" panose="020B0604020202020204" pitchFamily="34" charset="-128"/>
                <a:ea typeface="Arial Unicode MS" panose="020B0604020202020204" pitchFamily="34" charset="-128"/>
                <a:cs typeface="Arial Unicode MS" panose="020B0604020202020204" pitchFamily="34" charset="-128"/>
              </a:rPr>
              <a:t>Fricción interna: los colaboradores —especialmente choferes y personal en terreno— deben financiar los gastos con su propio dinero, esperando hasta 20 días para el reembolso. Esto deteriora el clima laboral, incrementa reclamos y pone en riesgo la retención.</a:t>
            </a:r>
          </a:p>
          <a:p>
            <a:pPr marL="342900" lvl="0" indent="-342900">
              <a:buFont typeface="+mj-lt"/>
              <a:buAutoNum type="arabicPeriod"/>
              <a:tabLst>
                <a:tab pos="457200" algn="l"/>
              </a:tabLst>
            </a:pPr>
            <a:endParaRPr lang="es-CL" sz="1400" b="1" dirty="0">
              <a:solidFill>
                <a:schemeClr val="bg1"/>
              </a:solidFill>
              <a:effectLst/>
              <a:latin typeface="Arial Unicode MS" panose="020B0604020202020204" pitchFamily="34" charset="-128"/>
              <a:ea typeface="Arial Unicode MS" panose="020B0604020202020204" pitchFamily="34" charset="-128"/>
              <a:cs typeface="Arial Unicode MS" panose="020B0604020202020204" pitchFamily="34" charset="-128"/>
            </a:endParaRPr>
          </a:p>
          <a:p>
            <a:pPr marL="342900" lvl="0" indent="-342900">
              <a:buFont typeface="+mj-lt"/>
              <a:buAutoNum type="arabicPeriod"/>
              <a:tabLst>
                <a:tab pos="457200" algn="l"/>
              </a:tabLst>
            </a:pPr>
            <a:r>
              <a:rPr lang="es-CL" sz="1400" b="1" dirty="0">
                <a:solidFill>
                  <a:schemeClr val="bg1"/>
                </a:solidFill>
                <a:effectLst/>
                <a:latin typeface="Arial Unicode MS" panose="020B0604020202020204" pitchFamily="34" charset="-128"/>
                <a:ea typeface="Arial Unicode MS" panose="020B0604020202020204" pitchFamily="34" charset="-128"/>
                <a:cs typeface="Arial Unicode MS" panose="020B0604020202020204" pitchFamily="34" charset="-128"/>
              </a:rPr>
              <a:t>Opacidad del proceso: Finanzas y el Comité de Innovación no cuentan con visibilidad en tiempo real, lo que impide auditar gastos, anticipar flujo de caja y tomar decisiones informadas.</a:t>
            </a:r>
          </a:p>
        </p:txBody>
      </p:sp>
    </p:spTree>
    <p:extLst>
      <p:ext uri="{BB962C8B-B14F-4D97-AF65-F5344CB8AC3E}">
        <p14:creationId xmlns:p14="http://schemas.microsoft.com/office/powerpoint/2010/main" val="19319869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1</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Visión del Producto</a:t>
            </a:r>
            <a:endParaRPr lang="en-US" sz="2100"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000" i="1" dirty="0">
                <a:solidFill>
                  <a:srgbClr val="38BDF8"/>
                </a:solidFill>
                <a:latin typeface="Calibri" pitchFamily="34" charset="0"/>
                <a:ea typeface="Calibri" pitchFamily="34" charset="-122"/>
                <a:cs typeface="Calibri" pitchFamily="34" charset="-120"/>
              </a:rPr>
              <a:t>Expense Mobility AI  ·  Rediseño del Flujo de Viáticos</a:t>
            </a:r>
            <a:endParaRPr lang="en-US" sz="10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Text 7"/>
          <p:cNvSpPr/>
          <p:nvPr/>
        </p:nvSpPr>
        <p:spPr>
          <a:xfrm>
            <a:off x="11091672" y="137160"/>
            <a:ext cx="914400" cy="566928"/>
          </a:xfrm>
          <a:prstGeom prst="rect">
            <a:avLst/>
          </a:prstGeom>
          <a:noFill/>
          <a:ln/>
        </p:spPr>
        <p:txBody>
          <a:bodyPr wrap="square" lIns="0" tIns="0" rIns="0" bIns="0" rtlCol="0" anchor="ctr"/>
          <a:lstStyle/>
          <a:p>
            <a:pPr marL="0" indent="0" algn="ctr">
              <a:buNone/>
            </a:pPr>
            <a:r>
              <a:rPr lang="en-US" sz="2200" b="1" dirty="0">
                <a:solidFill>
                  <a:srgbClr val="38BDF8"/>
                </a:solidFill>
                <a:latin typeface="Calibri" pitchFamily="34" charset="0"/>
                <a:ea typeface="Calibri" pitchFamily="34" charset="-122"/>
                <a:cs typeface="Calibri" pitchFamily="34" charset="-120"/>
              </a:rPr>
              <a:t>GSG</a:t>
            </a:r>
            <a:endParaRPr lang="en-US" sz="2200" dirty="0"/>
          </a:p>
        </p:txBody>
      </p:sp>
      <p:sp>
        <p:nvSpPr>
          <p:cNvPr id="10" name="Shape 8"/>
          <p:cNvSpPr/>
          <p:nvPr/>
        </p:nvSpPr>
        <p:spPr>
          <a:xfrm>
            <a:off x="0" y="6720840"/>
            <a:ext cx="12188952" cy="137160"/>
          </a:xfrm>
          <a:prstGeom prst="rect">
            <a:avLst/>
          </a:prstGeom>
          <a:solidFill>
            <a:srgbClr val="1246B3"/>
          </a:solidFill>
          <a:ln w="12700">
            <a:solidFill>
              <a:srgbClr val="1246B3"/>
            </a:solidFill>
            <a:prstDash val="solid"/>
          </a:ln>
        </p:spPr>
      </p:sp>
      <p:sp>
        <p:nvSpPr>
          <p:cNvPr id="11" name="Text 9"/>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7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700" dirty="0"/>
          </a:p>
        </p:txBody>
      </p:sp>
      <p:pic>
        <p:nvPicPr>
          <p:cNvPr id="12" name="Image 0" descr="preencoded.png"/>
          <p:cNvPicPr>
            <a:picLocks noChangeAspect="1"/>
          </p:cNvPicPr>
          <p:nvPr/>
        </p:nvPicPr>
        <p:blipFill>
          <a:blip r:embed="rId3"/>
          <a:stretch>
            <a:fillRect/>
          </a:stretch>
        </p:blipFill>
        <p:spPr>
          <a:xfrm>
            <a:off x="296037" y="1261872"/>
            <a:ext cx="3773103" cy="3008376"/>
          </a:xfrm>
          <a:prstGeom prst="rect">
            <a:avLst/>
          </a:prstGeom>
        </p:spPr>
      </p:pic>
      <p:sp>
        <p:nvSpPr>
          <p:cNvPr id="13" name="Shape 10"/>
          <p:cNvSpPr/>
          <p:nvPr/>
        </p:nvSpPr>
        <p:spPr>
          <a:xfrm>
            <a:off x="197358" y="4962906"/>
            <a:ext cx="3840480" cy="1005840"/>
          </a:xfrm>
          <a:prstGeom prst="rect">
            <a:avLst/>
          </a:prstGeom>
          <a:solidFill>
            <a:srgbClr val="060D1F">
              <a:alpha val="82000"/>
            </a:srgbClr>
          </a:solidFill>
          <a:ln w="12700">
            <a:solidFill>
              <a:srgbClr val="060D1F">
                <a:alpha val="82000"/>
              </a:srgbClr>
            </a:solidFill>
            <a:prstDash val="solid"/>
          </a:ln>
        </p:spPr>
      </p:sp>
      <p:sp>
        <p:nvSpPr>
          <p:cNvPr id="14" name="Shape 11"/>
          <p:cNvSpPr/>
          <p:nvPr/>
        </p:nvSpPr>
        <p:spPr>
          <a:xfrm>
            <a:off x="260604" y="4986909"/>
            <a:ext cx="70866" cy="868680"/>
          </a:xfrm>
          <a:prstGeom prst="rect">
            <a:avLst/>
          </a:prstGeom>
          <a:solidFill>
            <a:srgbClr val="FBBF24"/>
          </a:solidFill>
          <a:ln w="12700">
            <a:solidFill>
              <a:srgbClr val="FBBF24"/>
            </a:solidFill>
            <a:prstDash val="solid"/>
          </a:ln>
        </p:spPr>
      </p:sp>
      <p:sp>
        <p:nvSpPr>
          <p:cNvPr id="15" name="Text 12"/>
          <p:cNvSpPr/>
          <p:nvPr/>
        </p:nvSpPr>
        <p:spPr>
          <a:xfrm>
            <a:off x="394716" y="4895441"/>
            <a:ext cx="3657600" cy="868680"/>
          </a:xfrm>
          <a:prstGeom prst="rect">
            <a:avLst/>
          </a:prstGeom>
          <a:noFill/>
          <a:ln/>
        </p:spPr>
        <p:txBody>
          <a:bodyPr wrap="square" lIns="0" tIns="0" rIns="0" bIns="0" rtlCol="0" anchor="ctr"/>
          <a:lstStyle/>
          <a:p>
            <a:pPr marL="0" indent="0">
              <a:lnSpc>
                <a:spcPct val="120000"/>
              </a:lnSpc>
              <a:buNone/>
            </a:pPr>
            <a:r>
              <a:rPr lang="en-US" sz="1400" b="1" dirty="0">
                <a:solidFill>
                  <a:schemeClr val="accent4">
                    <a:lumMod val="20000"/>
                    <a:lumOff val="80000"/>
                  </a:schemeClr>
                </a:solidFill>
                <a:latin typeface="Gill Sans MT" panose="020B0502020104020203" pitchFamily="34" charset="77"/>
                <a:ea typeface="Calibri" pitchFamily="34" charset="-122"/>
                <a:cs typeface="Calibri" pitchFamily="34" charset="-120"/>
              </a:rPr>
              <a:t>Juan Cisternas: </a:t>
            </a:r>
            <a:r>
              <a:rPr lang="es-ES_tradnl" sz="1400" i="1" dirty="0">
                <a:solidFill>
                  <a:schemeClr val="bg1"/>
                </a:solidFill>
                <a:latin typeface="Gill Sans MT" panose="020B0502020104020203" pitchFamily="34" charset="77"/>
              </a:rPr>
              <a:t>“Cuando rendía una boleta, se podían demorar hasta tres semanas en pagarla !! y más de una vez me cortaron la cola jaja. Ahora rendí el lunes una boleta de petróleo de la Shell y al día siguiente ya estaba pagada y completa…así que super bien y eso que dicen estamos en la marcha blanca recién.”</a:t>
            </a:r>
            <a:endParaRPr lang="en-US" sz="1400" i="1" dirty="0">
              <a:solidFill>
                <a:schemeClr val="bg1"/>
              </a:solidFill>
              <a:latin typeface="Gill Sans MT" panose="020B0502020104020203" pitchFamily="34" charset="77"/>
            </a:endParaRPr>
          </a:p>
        </p:txBody>
      </p:sp>
      <p:sp>
        <p:nvSpPr>
          <p:cNvPr id="16" name="Shape 13"/>
          <p:cNvSpPr/>
          <p:nvPr/>
        </p:nvSpPr>
        <p:spPr>
          <a:xfrm>
            <a:off x="4315968" y="1051560"/>
            <a:ext cx="2395728" cy="5074920"/>
          </a:xfrm>
          <a:prstGeom prst="rect">
            <a:avLst/>
          </a:prstGeom>
          <a:solidFill>
            <a:srgbClr val="0D1B3E"/>
          </a:solidFill>
          <a:ln w="12700">
            <a:solidFill>
              <a:srgbClr val="38BDF8"/>
            </a:solidFill>
            <a:prstDash val="solid"/>
          </a:ln>
        </p:spPr>
      </p:sp>
      <p:sp>
        <p:nvSpPr>
          <p:cNvPr id="17" name="Shape 14"/>
          <p:cNvSpPr/>
          <p:nvPr/>
        </p:nvSpPr>
        <p:spPr>
          <a:xfrm>
            <a:off x="4315968" y="1051560"/>
            <a:ext cx="2395728" cy="41148"/>
          </a:xfrm>
          <a:prstGeom prst="rect">
            <a:avLst/>
          </a:prstGeom>
          <a:solidFill>
            <a:srgbClr val="38BDF8"/>
          </a:solidFill>
          <a:ln w="12700">
            <a:solidFill>
              <a:srgbClr val="38BDF8"/>
            </a:solidFill>
            <a:prstDash val="solid"/>
          </a:ln>
        </p:spPr>
      </p:sp>
      <p:sp>
        <p:nvSpPr>
          <p:cNvPr id="18" name="Text 15"/>
          <p:cNvSpPr/>
          <p:nvPr/>
        </p:nvSpPr>
        <p:spPr>
          <a:xfrm>
            <a:off x="4315968" y="2011680"/>
            <a:ext cx="2395728" cy="1645920"/>
          </a:xfrm>
          <a:prstGeom prst="rect">
            <a:avLst/>
          </a:prstGeom>
          <a:noFill/>
          <a:ln/>
        </p:spPr>
        <p:txBody>
          <a:bodyPr wrap="square" lIns="0" tIns="0" rIns="0" bIns="0" rtlCol="0" anchor="ctr"/>
          <a:lstStyle/>
          <a:p>
            <a:pPr marL="0" indent="0" algn="ctr">
              <a:buNone/>
            </a:pPr>
            <a:r>
              <a:rPr lang="en-US" sz="7000" b="1" dirty="0">
                <a:solidFill>
                  <a:srgbClr val="38BDF8"/>
                </a:solidFill>
                <a:latin typeface="Calibri" pitchFamily="34" charset="0"/>
                <a:ea typeface="Calibri" pitchFamily="34" charset="-122"/>
                <a:cs typeface="Calibri" pitchFamily="34" charset="-120"/>
              </a:rPr>
              <a:t>&lt;5%</a:t>
            </a:r>
            <a:endParaRPr lang="en-US" sz="7000" dirty="0"/>
          </a:p>
        </p:txBody>
      </p:sp>
      <p:sp>
        <p:nvSpPr>
          <p:cNvPr id="19" name="Text 16"/>
          <p:cNvSpPr/>
          <p:nvPr/>
        </p:nvSpPr>
        <p:spPr>
          <a:xfrm>
            <a:off x="4315968" y="3931920"/>
            <a:ext cx="2395728" cy="731520"/>
          </a:xfrm>
          <a:prstGeom prst="rect">
            <a:avLst/>
          </a:prstGeom>
          <a:noFill/>
          <a:ln/>
        </p:spPr>
        <p:txBody>
          <a:bodyPr wrap="square" lIns="0" tIns="0" rIns="0" bIns="0" rtlCol="0" anchor="ctr"/>
          <a:lstStyle/>
          <a:p>
            <a:pPr marL="0" indent="0" algn="ctr">
              <a:lnSpc>
                <a:spcPct val="120000"/>
              </a:lnSpc>
              <a:buNone/>
            </a:pPr>
            <a:r>
              <a:rPr lang="en-US" sz="1400" dirty="0">
                <a:solidFill>
                  <a:srgbClr val="E2E8F0"/>
                </a:solidFill>
                <a:latin typeface="Calibri" pitchFamily="34" charset="0"/>
                <a:ea typeface="Calibri" pitchFamily="34" charset="-122"/>
                <a:cs typeface="Calibri" pitchFamily="34" charset="-120"/>
              </a:rPr>
              <a:t>Tasa de error</a:t>
            </a:r>
            <a:endParaRPr lang="en-US" sz="1400" dirty="0"/>
          </a:p>
          <a:p>
            <a:pPr marL="0" indent="0" algn="ctr">
              <a:lnSpc>
                <a:spcPct val="120000"/>
              </a:lnSpc>
              <a:buNone/>
            </a:pPr>
            <a:r>
              <a:rPr lang="en-US" sz="1400" dirty="0">
                <a:solidFill>
                  <a:srgbClr val="E2E8F0"/>
                </a:solidFill>
                <a:latin typeface="Calibri" pitchFamily="34" charset="0"/>
                <a:ea typeface="Calibri" pitchFamily="34" charset="-122"/>
                <a:cs typeface="Calibri" pitchFamily="34" charset="-120"/>
              </a:rPr>
              <a:t>en rendición</a:t>
            </a:r>
            <a:endParaRPr lang="en-US" sz="1400" dirty="0"/>
          </a:p>
        </p:txBody>
      </p:sp>
      <p:sp>
        <p:nvSpPr>
          <p:cNvPr id="20" name="Shape 17"/>
          <p:cNvSpPr/>
          <p:nvPr/>
        </p:nvSpPr>
        <p:spPr>
          <a:xfrm>
            <a:off x="6894576" y="1051560"/>
            <a:ext cx="2395728" cy="5074920"/>
          </a:xfrm>
          <a:prstGeom prst="rect">
            <a:avLst/>
          </a:prstGeom>
          <a:solidFill>
            <a:srgbClr val="0D1B3E"/>
          </a:solidFill>
          <a:ln w="12700">
            <a:solidFill>
              <a:srgbClr val="FBBF24"/>
            </a:solidFill>
            <a:prstDash val="solid"/>
          </a:ln>
        </p:spPr>
      </p:sp>
      <p:sp>
        <p:nvSpPr>
          <p:cNvPr id="21" name="Shape 18"/>
          <p:cNvSpPr/>
          <p:nvPr/>
        </p:nvSpPr>
        <p:spPr>
          <a:xfrm>
            <a:off x="6894576" y="1051560"/>
            <a:ext cx="2395728" cy="41148"/>
          </a:xfrm>
          <a:prstGeom prst="rect">
            <a:avLst/>
          </a:prstGeom>
          <a:solidFill>
            <a:srgbClr val="FBBF24"/>
          </a:solidFill>
          <a:ln w="12700">
            <a:solidFill>
              <a:srgbClr val="FBBF24"/>
            </a:solidFill>
            <a:prstDash val="solid"/>
          </a:ln>
        </p:spPr>
      </p:sp>
      <p:sp>
        <p:nvSpPr>
          <p:cNvPr id="22" name="Text 19"/>
          <p:cNvSpPr/>
          <p:nvPr/>
        </p:nvSpPr>
        <p:spPr>
          <a:xfrm>
            <a:off x="6894576" y="2011680"/>
            <a:ext cx="2395728" cy="1645920"/>
          </a:xfrm>
          <a:prstGeom prst="rect">
            <a:avLst/>
          </a:prstGeom>
          <a:noFill/>
          <a:ln/>
        </p:spPr>
        <p:txBody>
          <a:bodyPr wrap="square" lIns="0" tIns="0" rIns="0" bIns="0" rtlCol="0" anchor="ctr"/>
          <a:lstStyle/>
          <a:p>
            <a:pPr marL="0" indent="0" algn="ctr">
              <a:buNone/>
            </a:pPr>
            <a:r>
              <a:rPr lang="en-US" sz="7000" b="1" dirty="0">
                <a:solidFill>
                  <a:srgbClr val="FBBF24"/>
                </a:solidFill>
                <a:latin typeface="Calibri" pitchFamily="34" charset="0"/>
                <a:ea typeface="Calibri" pitchFamily="34" charset="-122"/>
                <a:cs typeface="Calibri" pitchFamily="34" charset="-120"/>
              </a:rPr>
              <a:t>&gt;80%</a:t>
            </a:r>
            <a:endParaRPr lang="en-US" sz="7000" dirty="0"/>
          </a:p>
        </p:txBody>
      </p:sp>
      <p:sp>
        <p:nvSpPr>
          <p:cNvPr id="23" name="Text 20"/>
          <p:cNvSpPr/>
          <p:nvPr/>
        </p:nvSpPr>
        <p:spPr>
          <a:xfrm>
            <a:off x="6894576" y="3931920"/>
            <a:ext cx="2395728" cy="731520"/>
          </a:xfrm>
          <a:prstGeom prst="rect">
            <a:avLst/>
          </a:prstGeom>
          <a:noFill/>
          <a:ln/>
        </p:spPr>
        <p:txBody>
          <a:bodyPr wrap="square" lIns="0" tIns="0" rIns="0" bIns="0" rtlCol="0" anchor="ctr"/>
          <a:lstStyle/>
          <a:p>
            <a:pPr marL="0" indent="0" algn="ctr">
              <a:lnSpc>
                <a:spcPct val="120000"/>
              </a:lnSpc>
              <a:buNone/>
            </a:pPr>
            <a:r>
              <a:rPr lang="en-US" sz="1400" dirty="0">
                <a:solidFill>
                  <a:srgbClr val="E2E8F0"/>
                </a:solidFill>
                <a:latin typeface="Calibri" pitchFamily="34" charset="0"/>
                <a:ea typeface="Calibri" pitchFamily="34" charset="-122"/>
                <a:cs typeface="Calibri" pitchFamily="34" charset="-120"/>
              </a:rPr>
              <a:t>Gastos aprobados</a:t>
            </a:r>
            <a:endParaRPr lang="en-US" sz="1400" dirty="0"/>
          </a:p>
          <a:p>
            <a:pPr marL="0" indent="0" algn="ctr">
              <a:lnSpc>
                <a:spcPct val="120000"/>
              </a:lnSpc>
              <a:buNone/>
            </a:pPr>
            <a:r>
              <a:rPr lang="en-US" sz="1400" dirty="0">
                <a:solidFill>
                  <a:srgbClr val="E2E8F0"/>
                </a:solidFill>
                <a:latin typeface="Calibri" pitchFamily="34" charset="0"/>
                <a:ea typeface="Calibri" pitchFamily="34" charset="-122"/>
                <a:cs typeface="Calibri" pitchFamily="34" charset="-120"/>
              </a:rPr>
              <a:t>automáticamente</a:t>
            </a:r>
            <a:endParaRPr lang="en-US" sz="1400" dirty="0"/>
          </a:p>
        </p:txBody>
      </p:sp>
      <p:sp>
        <p:nvSpPr>
          <p:cNvPr id="24" name="Shape 21"/>
          <p:cNvSpPr/>
          <p:nvPr/>
        </p:nvSpPr>
        <p:spPr>
          <a:xfrm>
            <a:off x="9473184" y="1051560"/>
            <a:ext cx="2395728" cy="5074920"/>
          </a:xfrm>
          <a:prstGeom prst="rect">
            <a:avLst/>
          </a:prstGeom>
          <a:solidFill>
            <a:srgbClr val="0D1B3E"/>
          </a:solidFill>
          <a:ln w="12700">
            <a:solidFill>
              <a:srgbClr val="34D399"/>
            </a:solidFill>
            <a:prstDash val="solid"/>
          </a:ln>
        </p:spPr>
      </p:sp>
      <p:sp>
        <p:nvSpPr>
          <p:cNvPr id="25" name="Shape 22"/>
          <p:cNvSpPr/>
          <p:nvPr/>
        </p:nvSpPr>
        <p:spPr>
          <a:xfrm>
            <a:off x="9473184" y="1051560"/>
            <a:ext cx="2395728" cy="41148"/>
          </a:xfrm>
          <a:prstGeom prst="rect">
            <a:avLst/>
          </a:prstGeom>
          <a:solidFill>
            <a:srgbClr val="34D399"/>
          </a:solidFill>
          <a:ln w="12700">
            <a:solidFill>
              <a:srgbClr val="34D399"/>
            </a:solidFill>
            <a:prstDash val="solid"/>
          </a:ln>
        </p:spPr>
      </p:sp>
      <p:sp>
        <p:nvSpPr>
          <p:cNvPr id="26" name="Text 23"/>
          <p:cNvSpPr/>
          <p:nvPr/>
        </p:nvSpPr>
        <p:spPr>
          <a:xfrm>
            <a:off x="9473184" y="2011680"/>
            <a:ext cx="2395728" cy="1645920"/>
          </a:xfrm>
          <a:prstGeom prst="rect">
            <a:avLst/>
          </a:prstGeom>
          <a:noFill/>
          <a:ln/>
        </p:spPr>
        <p:txBody>
          <a:bodyPr wrap="square" lIns="0" tIns="0" rIns="0" bIns="0" rtlCol="0" anchor="ctr"/>
          <a:lstStyle/>
          <a:p>
            <a:pPr marL="0" indent="0" algn="ctr">
              <a:buNone/>
            </a:pPr>
            <a:r>
              <a:rPr lang="en-US" sz="7000" b="1" dirty="0">
                <a:solidFill>
                  <a:srgbClr val="34D399"/>
                </a:solidFill>
                <a:latin typeface="Calibri" pitchFamily="34" charset="0"/>
                <a:ea typeface="Calibri" pitchFamily="34" charset="-122"/>
                <a:cs typeface="Calibri" pitchFamily="34" charset="-120"/>
              </a:rPr>
              <a:t>✓</a:t>
            </a:r>
            <a:endParaRPr lang="en-US" sz="7000" dirty="0"/>
          </a:p>
        </p:txBody>
      </p:sp>
      <p:sp>
        <p:nvSpPr>
          <p:cNvPr id="27" name="Text 24"/>
          <p:cNvSpPr/>
          <p:nvPr/>
        </p:nvSpPr>
        <p:spPr>
          <a:xfrm>
            <a:off x="9473184" y="3931920"/>
            <a:ext cx="2395728" cy="731520"/>
          </a:xfrm>
          <a:prstGeom prst="rect">
            <a:avLst/>
          </a:prstGeom>
          <a:noFill/>
          <a:ln/>
        </p:spPr>
        <p:txBody>
          <a:bodyPr wrap="square" lIns="0" tIns="0" rIns="0" bIns="0" rtlCol="0" anchor="ctr"/>
          <a:lstStyle/>
          <a:p>
            <a:pPr marL="0" indent="0" algn="ctr">
              <a:lnSpc>
                <a:spcPct val="120000"/>
              </a:lnSpc>
              <a:buNone/>
            </a:pPr>
            <a:r>
              <a:rPr lang="en-US" sz="1400" dirty="0">
                <a:solidFill>
                  <a:srgbClr val="E2E8F0"/>
                </a:solidFill>
                <a:latin typeface="Calibri" pitchFamily="34" charset="0"/>
                <a:ea typeface="Calibri" pitchFamily="34" charset="-122"/>
                <a:cs typeface="Calibri" pitchFamily="34" charset="-120"/>
              </a:rPr>
              <a:t>Reembolsos</a:t>
            </a:r>
            <a:endParaRPr lang="en-US" sz="1400" dirty="0"/>
          </a:p>
          <a:p>
            <a:pPr marL="0" indent="0" algn="ctr">
              <a:lnSpc>
                <a:spcPct val="120000"/>
              </a:lnSpc>
              <a:buNone/>
            </a:pPr>
            <a:r>
              <a:rPr lang="en-US" sz="1400" dirty="0">
                <a:solidFill>
                  <a:srgbClr val="E2E8F0"/>
                </a:solidFill>
                <a:latin typeface="Calibri" pitchFamily="34" charset="0"/>
                <a:ea typeface="Calibri" pitchFamily="34" charset="-122"/>
                <a:cs typeface="Calibri" pitchFamily="34" charset="-120"/>
              </a:rPr>
              <a:t>sin demoras</a:t>
            </a:r>
            <a:endParaRPr lang="en-US" sz="1400" dirty="0"/>
          </a:p>
        </p:txBody>
      </p:sp>
      <p:sp>
        <p:nvSpPr>
          <p:cNvPr id="28" name="CuadroTexto 27">
            <a:extLst>
              <a:ext uri="{FF2B5EF4-FFF2-40B4-BE49-F238E27FC236}">
                <a16:creationId xmlns:a16="http://schemas.microsoft.com/office/drawing/2014/main" id="{A5A32128-744D-EF5F-8054-6422452836FD}"/>
              </a:ext>
            </a:extLst>
          </p:cNvPr>
          <p:cNvSpPr txBox="1"/>
          <p:nvPr/>
        </p:nvSpPr>
        <p:spPr>
          <a:xfrm>
            <a:off x="9757458" y="7280476"/>
            <a:ext cx="184731" cy="369332"/>
          </a:xfrm>
          <a:prstGeom prst="rect">
            <a:avLst/>
          </a:prstGeom>
          <a:noFill/>
        </p:spPr>
        <p:txBody>
          <a:bodyPr wrap="none" rtlCol="0">
            <a:spAutoFit/>
          </a:bodyPr>
          <a:lstStyle/>
          <a:p>
            <a:endParaRPr lang="es-ES_tradnl"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11263"/>
            <a:ext cx="12106656" cy="914400"/>
          </a:xfrm>
          <a:prstGeom prst="rect">
            <a:avLst/>
          </a:prstGeom>
          <a:solidFill>
            <a:srgbClr val="0A1428"/>
          </a:solidFill>
          <a:ln w="12700">
            <a:solidFill>
              <a:srgbClr val="0A1428"/>
            </a:solidFill>
            <a:prstDash val="solid"/>
          </a:ln>
        </p:spPr>
        <p:txBody>
          <a:bodyPr/>
          <a:lstStyle/>
          <a:p>
            <a:endParaRPr lang="es-ES_tradnl" dirty="0"/>
          </a:p>
        </p:txBody>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1</a:t>
            </a:r>
            <a:endParaRPr lang="en-US" sz="800" dirty="0"/>
          </a:p>
        </p:txBody>
      </p:sp>
      <p:sp>
        <p:nvSpPr>
          <p:cNvPr id="6" name="Text 4"/>
          <p:cNvSpPr/>
          <p:nvPr/>
        </p:nvSpPr>
        <p:spPr>
          <a:xfrm>
            <a:off x="2331720" y="301859"/>
            <a:ext cx="10170804" cy="384048"/>
          </a:xfrm>
          <a:prstGeom prst="rect">
            <a:avLst/>
          </a:prstGeom>
          <a:noFill/>
          <a:ln/>
        </p:spPr>
        <p:txBody>
          <a:bodyPr wrap="square" lIns="0" tIns="0" rIns="0" bIns="0" rtlCol="0" anchor="ctr"/>
          <a:lstStyle/>
          <a:p>
            <a:pPr latinLnBrk="1"/>
            <a:r>
              <a:rPr lang="en-US" b="1" dirty="0">
                <a:solidFill>
                  <a:srgbClr val="FFFFFF"/>
                </a:solidFill>
                <a:latin typeface="Calibri" pitchFamily="34" charset="0"/>
                <a:ea typeface="Calibri" pitchFamily="34" charset="-122"/>
                <a:cs typeface="Calibri" pitchFamily="34" charset="-120"/>
              </a:rPr>
              <a:t>Visión del </a:t>
            </a:r>
            <a:r>
              <a:rPr lang="en-US" b="1" dirty="0" err="1">
                <a:solidFill>
                  <a:srgbClr val="FFFFFF"/>
                </a:solidFill>
                <a:latin typeface="Calibri" pitchFamily="34" charset="0"/>
                <a:ea typeface="Calibri" pitchFamily="34" charset="-122"/>
                <a:cs typeface="Calibri" pitchFamily="34" charset="-120"/>
              </a:rPr>
              <a:t>Producto</a:t>
            </a:r>
            <a:r>
              <a:rPr lang="en-US" b="1" dirty="0">
                <a:solidFill>
                  <a:srgbClr val="FFFFFF"/>
                </a:solidFill>
                <a:latin typeface="Calibri" pitchFamily="34" charset="0"/>
                <a:ea typeface="Calibri" pitchFamily="34" charset="-122"/>
                <a:cs typeface="Calibri" pitchFamily="34" charset="-120"/>
              </a:rPr>
              <a:t> – </a:t>
            </a:r>
            <a:r>
              <a:rPr lang="en-US" b="1" dirty="0" err="1">
                <a:solidFill>
                  <a:srgbClr val="FFFFFF"/>
                </a:solidFill>
                <a:latin typeface="Calibri" pitchFamily="34" charset="0"/>
                <a:ea typeface="Calibri" pitchFamily="34" charset="-122"/>
                <a:cs typeface="Calibri" pitchFamily="34" charset="-120"/>
              </a:rPr>
              <a:t>Nombre</a:t>
            </a:r>
            <a:r>
              <a:rPr lang="en-US" b="1" dirty="0">
                <a:solidFill>
                  <a:srgbClr val="FFFFFF"/>
                </a:solidFill>
                <a:latin typeface="Calibri" pitchFamily="34" charset="0"/>
                <a:ea typeface="Calibri" pitchFamily="34" charset="-122"/>
                <a:cs typeface="Calibri" pitchFamily="34" charset="-120"/>
              </a:rPr>
              <a:t> Proyecto : Expense
</a:t>
            </a:r>
            <a:r>
              <a:rPr lang="en-US" b="1" dirty="0">
                <a:solidFill>
                  <a:schemeClr val="bg1"/>
                </a:solidFill>
                <a:latin typeface="Calibri" pitchFamily="34" charset="0"/>
                <a:ea typeface="Calibri" pitchFamily="34" charset="-122"/>
                <a:cs typeface="Calibri" pitchFamily="34" charset="-120"/>
              </a:rPr>
              <a:t>Mobility System AI</a:t>
            </a:r>
            <a:endParaRPr lang="en-US" dirty="0">
              <a:solidFill>
                <a:schemeClr val="bg1"/>
              </a:solidFill>
            </a:endParaRPr>
          </a:p>
          <a:p>
            <a:pPr marL="0" indent="0" algn="l">
              <a:buNone/>
            </a:pPr>
            <a:endParaRPr lang="en-US"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000" i="1" dirty="0">
                <a:solidFill>
                  <a:srgbClr val="38BDF8"/>
                </a:solidFill>
                <a:latin typeface="Calibri" pitchFamily="34" charset="0"/>
                <a:ea typeface="Calibri" pitchFamily="34" charset="-122"/>
                <a:cs typeface="Calibri" pitchFamily="34" charset="-120"/>
              </a:rPr>
              <a:t>Características · Propuesta de Valor · Solución · Beneficios</a:t>
            </a:r>
            <a:endParaRPr lang="en-US" sz="10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Text 7"/>
          <p:cNvSpPr/>
          <p:nvPr/>
        </p:nvSpPr>
        <p:spPr>
          <a:xfrm>
            <a:off x="11091672" y="137160"/>
            <a:ext cx="914400" cy="566928"/>
          </a:xfrm>
          <a:prstGeom prst="rect">
            <a:avLst/>
          </a:prstGeom>
          <a:noFill/>
          <a:ln/>
        </p:spPr>
        <p:txBody>
          <a:bodyPr wrap="square" lIns="0" tIns="0" rIns="0" bIns="0" rtlCol="0" anchor="ctr"/>
          <a:lstStyle/>
          <a:p>
            <a:pPr marL="0" indent="0" algn="ctr">
              <a:buNone/>
            </a:pPr>
            <a:r>
              <a:rPr lang="en-US" sz="2200" b="1" dirty="0">
                <a:solidFill>
                  <a:srgbClr val="38BDF8"/>
                </a:solidFill>
                <a:latin typeface="Calibri" pitchFamily="34" charset="0"/>
                <a:ea typeface="Calibri" pitchFamily="34" charset="-122"/>
                <a:cs typeface="Calibri" pitchFamily="34" charset="-120"/>
              </a:rPr>
              <a:t>GSG</a:t>
            </a:r>
            <a:endParaRPr lang="en-US" sz="2200" dirty="0"/>
          </a:p>
        </p:txBody>
      </p:sp>
      <p:sp>
        <p:nvSpPr>
          <p:cNvPr id="10" name="Shape 8"/>
          <p:cNvSpPr/>
          <p:nvPr/>
        </p:nvSpPr>
        <p:spPr>
          <a:xfrm>
            <a:off x="0" y="6720840"/>
            <a:ext cx="12188952" cy="137160"/>
          </a:xfrm>
          <a:prstGeom prst="rect">
            <a:avLst/>
          </a:prstGeom>
          <a:solidFill>
            <a:srgbClr val="1246B3"/>
          </a:solidFill>
          <a:ln w="12700">
            <a:solidFill>
              <a:srgbClr val="1246B3"/>
            </a:solidFill>
            <a:prstDash val="solid"/>
          </a:ln>
        </p:spPr>
      </p:sp>
      <p:sp>
        <p:nvSpPr>
          <p:cNvPr id="11" name="Text 9"/>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14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1400" dirty="0"/>
          </a:p>
        </p:txBody>
      </p:sp>
      <p:sp>
        <p:nvSpPr>
          <p:cNvPr id="12" name="Shape 10"/>
          <p:cNvSpPr/>
          <p:nvPr/>
        </p:nvSpPr>
        <p:spPr>
          <a:xfrm>
            <a:off x="201168" y="1133856"/>
            <a:ext cx="5897880" cy="1764792"/>
          </a:xfrm>
          <a:prstGeom prst="rect">
            <a:avLst/>
          </a:prstGeom>
          <a:solidFill>
            <a:srgbClr val="0D1B3E"/>
          </a:solidFill>
          <a:ln w="12700">
            <a:solidFill>
              <a:srgbClr val="FBBF24"/>
            </a:solidFill>
            <a:prstDash val="solid"/>
          </a:ln>
        </p:spPr>
      </p:sp>
      <p:sp>
        <p:nvSpPr>
          <p:cNvPr id="13" name="Shape 11"/>
          <p:cNvSpPr/>
          <p:nvPr/>
        </p:nvSpPr>
        <p:spPr>
          <a:xfrm>
            <a:off x="201168" y="1005840"/>
            <a:ext cx="54864" cy="1764792"/>
          </a:xfrm>
          <a:prstGeom prst="rect">
            <a:avLst/>
          </a:prstGeom>
          <a:solidFill>
            <a:srgbClr val="FBBF24"/>
          </a:solidFill>
          <a:ln w="12700">
            <a:solidFill>
              <a:srgbClr val="FBBF24"/>
            </a:solidFill>
            <a:prstDash val="solid"/>
          </a:ln>
        </p:spPr>
      </p:sp>
      <p:sp>
        <p:nvSpPr>
          <p:cNvPr id="14" name="Text 12"/>
          <p:cNvSpPr/>
          <p:nvPr/>
        </p:nvSpPr>
        <p:spPr>
          <a:xfrm>
            <a:off x="292608" y="945177"/>
            <a:ext cx="5696712" cy="201168"/>
          </a:xfrm>
          <a:prstGeom prst="rect">
            <a:avLst/>
          </a:prstGeom>
          <a:noFill/>
          <a:ln/>
        </p:spPr>
        <p:txBody>
          <a:bodyPr wrap="square" lIns="0" tIns="0" rIns="0" bIns="0" rtlCol="0" anchor="ctr"/>
          <a:lstStyle/>
          <a:p>
            <a:pPr marL="0" indent="0">
              <a:buNone/>
            </a:pPr>
            <a:r>
              <a:rPr lang="en-US" sz="1400" b="1" kern="0" spc="120" dirty="0">
                <a:solidFill>
                  <a:srgbClr val="FBBF24"/>
                </a:solidFill>
                <a:latin typeface="Calibri" pitchFamily="34" charset="0"/>
                <a:ea typeface="Calibri" pitchFamily="34" charset="-122"/>
                <a:cs typeface="Calibri" pitchFamily="34" charset="-120"/>
              </a:rPr>
              <a:t>VISION &amp; SLOGAN</a:t>
            </a:r>
            <a:endParaRPr lang="en-US" sz="1400" dirty="0"/>
          </a:p>
        </p:txBody>
      </p:sp>
      <p:sp>
        <p:nvSpPr>
          <p:cNvPr id="15" name="Text 13"/>
          <p:cNvSpPr/>
          <p:nvPr/>
        </p:nvSpPr>
        <p:spPr>
          <a:xfrm>
            <a:off x="288036" y="1126831"/>
            <a:ext cx="5815584" cy="1691640"/>
          </a:xfrm>
          <a:prstGeom prst="rect">
            <a:avLst/>
          </a:prstGeom>
          <a:noFill/>
          <a:ln/>
        </p:spPr>
        <p:txBody>
          <a:bodyPr wrap="square" lIns="0" tIns="0" rIns="0" bIns="0" rtlCol="0" anchor="t"/>
          <a:lstStyle/>
          <a:p>
            <a:pPr marL="0" indent="0">
              <a:lnSpc>
                <a:spcPct val="120000"/>
              </a:lnSpc>
              <a:buNone/>
            </a:pPr>
            <a:r>
              <a:rPr lang="en-US" sz="1400" b="1" u="sng" dirty="0">
                <a:solidFill>
                  <a:srgbClr val="FFFFFF"/>
                </a:solidFill>
                <a:latin typeface="Calibri" pitchFamily="34" charset="0"/>
                <a:ea typeface="Calibri" pitchFamily="34" charset="-122"/>
                <a:cs typeface="Calibri" pitchFamily="34" charset="-120"/>
              </a:rPr>
              <a:t>Vision</a:t>
            </a:r>
          </a:p>
          <a:p>
            <a:pPr marL="0" indent="0" algn="ctr">
              <a:lnSpc>
                <a:spcPct val="120000"/>
              </a:lnSpc>
              <a:buNone/>
            </a:pPr>
            <a:endParaRPr lang="en-US" sz="1400" b="1" u="sng" dirty="0">
              <a:solidFill>
                <a:srgbClr val="FFFFFF"/>
              </a:solidFill>
              <a:latin typeface="Calibri" pitchFamily="34" charset="0"/>
              <a:ea typeface="Calibri" pitchFamily="34" charset="-122"/>
              <a:cs typeface="Calibri" pitchFamily="34" charset="-120"/>
            </a:endParaRPr>
          </a:p>
          <a:p>
            <a:pPr marL="0" indent="0" algn="ctr">
              <a:lnSpc>
                <a:spcPct val="120000"/>
              </a:lnSpc>
              <a:buNone/>
            </a:pPr>
            <a:endParaRPr lang="en-US" sz="1400" b="1" u="sng" dirty="0">
              <a:solidFill>
                <a:srgbClr val="FFFFFF"/>
              </a:solidFill>
              <a:latin typeface="Calibri" pitchFamily="34" charset="0"/>
              <a:ea typeface="Calibri" pitchFamily="34" charset="-122"/>
              <a:cs typeface="Calibri" pitchFamily="34" charset="-120"/>
            </a:endParaRPr>
          </a:p>
          <a:p>
            <a:pPr marL="0" indent="0" algn="ctr">
              <a:lnSpc>
                <a:spcPct val="120000"/>
              </a:lnSpc>
              <a:buNone/>
            </a:pPr>
            <a:endParaRPr lang="en-US" sz="1400" b="1" u="sng" dirty="0">
              <a:solidFill>
                <a:srgbClr val="FFFFFF"/>
              </a:solidFill>
              <a:latin typeface="Calibri" pitchFamily="34" charset="0"/>
              <a:ea typeface="Calibri" pitchFamily="34" charset="-122"/>
              <a:cs typeface="Calibri" pitchFamily="34" charset="-120"/>
            </a:endParaRPr>
          </a:p>
          <a:p>
            <a:pPr marL="0" indent="0" algn="ctr">
              <a:lnSpc>
                <a:spcPct val="120000"/>
              </a:lnSpc>
              <a:buNone/>
            </a:pPr>
            <a:endParaRPr lang="en-US" sz="1400" b="1" u="sng" dirty="0">
              <a:solidFill>
                <a:srgbClr val="FFFFFF"/>
              </a:solidFill>
              <a:latin typeface="Calibri" pitchFamily="34" charset="0"/>
              <a:ea typeface="Calibri" pitchFamily="34" charset="-122"/>
              <a:cs typeface="Calibri" pitchFamily="34" charset="-120"/>
            </a:endParaRPr>
          </a:p>
          <a:p>
            <a:pPr marL="0" indent="0" algn="ctr">
              <a:lnSpc>
                <a:spcPct val="120000"/>
              </a:lnSpc>
              <a:buNone/>
            </a:pPr>
            <a:r>
              <a:rPr lang="en-US" sz="1400" b="1" i="1" dirty="0">
                <a:solidFill>
                  <a:srgbClr val="93C5FD"/>
                </a:solidFill>
                <a:latin typeface="Calibri" pitchFamily="34" charset="0"/>
                <a:ea typeface="Calibri" pitchFamily="34" charset="-122"/>
                <a:cs typeface="Calibri" pitchFamily="34" charset="-120"/>
              </a:rPr>
              <a:t>"Menos tiempo </a:t>
            </a:r>
            <a:r>
              <a:rPr lang="en-US" sz="1400" b="1" i="1" dirty="0" err="1">
                <a:solidFill>
                  <a:srgbClr val="93C5FD"/>
                </a:solidFill>
                <a:latin typeface="Calibri" pitchFamily="34" charset="0"/>
                <a:ea typeface="Calibri" pitchFamily="34" charset="-122"/>
                <a:cs typeface="Calibri" pitchFamily="34" charset="-120"/>
              </a:rPr>
              <a:t>rindiendo</a:t>
            </a:r>
            <a:r>
              <a:rPr lang="en-US" sz="1400" b="1" i="1" dirty="0">
                <a:solidFill>
                  <a:srgbClr val="93C5FD"/>
                </a:solidFill>
                <a:latin typeface="Calibri" pitchFamily="34" charset="0"/>
                <a:ea typeface="Calibri" pitchFamily="34" charset="-122"/>
                <a:cs typeface="Calibri" pitchFamily="34" charset="-120"/>
              </a:rPr>
              <a:t> </a:t>
            </a:r>
            <a:r>
              <a:rPr lang="en-US" sz="1400" b="1" i="1" dirty="0" err="1">
                <a:solidFill>
                  <a:srgbClr val="93C5FD"/>
                </a:solidFill>
                <a:latin typeface="Calibri" pitchFamily="34" charset="0"/>
                <a:ea typeface="Calibri" pitchFamily="34" charset="-122"/>
                <a:cs typeface="Calibri" pitchFamily="34" charset="-120"/>
              </a:rPr>
              <a:t>cuentas</a:t>
            </a:r>
            <a:r>
              <a:rPr lang="en-US" sz="1400" b="1" i="1" dirty="0">
                <a:solidFill>
                  <a:srgbClr val="93C5FD"/>
                </a:solidFill>
                <a:latin typeface="Calibri" pitchFamily="34" charset="0"/>
                <a:ea typeface="Calibri" pitchFamily="34" charset="-122"/>
                <a:cs typeface="Calibri" pitchFamily="34" charset="-120"/>
              </a:rPr>
              <a:t>. Más tiempo aportando valor."</a:t>
            </a:r>
            <a:endParaRPr lang="en-US" sz="1400" b="1" dirty="0"/>
          </a:p>
        </p:txBody>
      </p:sp>
      <p:sp>
        <p:nvSpPr>
          <p:cNvPr id="16" name="Shape 14"/>
          <p:cNvSpPr/>
          <p:nvPr/>
        </p:nvSpPr>
        <p:spPr>
          <a:xfrm>
            <a:off x="201168" y="2862072"/>
            <a:ext cx="5897880" cy="1764792"/>
          </a:xfrm>
          <a:prstGeom prst="rect">
            <a:avLst/>
          </a:prstGeom>
          <a:solidFill>
            <a:srgbClr val="0D1B3E"/>
          </a:solidFill>
          <a:ln w="12700">
            <a:solidFill>
              <a:srgbClr val="38BDF8"/>
            </a:solidFill>
            <a:prstDash val="solid"/>
          </a:ln>
        </p:spPr>
      </p:sp>
      <p:sp>
        <p:nvSpPr>
          <p:cNvPr id="17" name="Shape 15"/>
          <p:cNvSpPr/>
          <p:nvPr/>
        </p:nvSpPr>
        <p:spPr>
          <a:xfrm>
            <a:off x="201168" y="2862072"/>
            <a:ext cx="54864" cy="1764792"/>
          </a:xfrm>
          <a:prstGeom prst="rect">
            <a:avLst/>
          </a:prstGeom>
          <a:solidFill>
            <a:srgbClr val="38BDF8"/>
          </a:solidFill>
          <a:ln w="12700">
            <a:solidFill>
              <a:srgbClr val="38BDF8"/>
            </a:solidFill>
            <a:prstDash val="solid"/>
          </a:ln>
        </p:spPr>
      </p:sp>
      <p:sp>
        <p:nvSpPr>
          <p:cNvPr id="18" name="Text 16"/>
          <p:cNvSpPr/>
          <p:nvPr/>
        </p:nvSpPr>
        <p:spPr>
          <a:xfrm>
            <a:off x="329184" y="2926080"/>
            <a:ext cx="5696712" cy="201168"/>
          </a:xfrm>
          <a:prstGeom prst="rect">
            <a:avLst/>
          </a:prstGeom>
          <a:noFill/>
          <a:ln/>
        </p:spPr>
        <p:txBody>
          <a:bodyPr wrap="square" lIns="0" tIns="0" rIns="0" bIns="0" rtlCol="0" anchor="ctr"/>
          <a:lstStyle/>
          <a:p>
            <a:pPr marL="0" indent="0">
              <a:buNone/>
            </a:pPr>
            <a:r>
              <a:rPr lang="en-US" sz="1400" b="1" kern="0" spc="120" dirty="0">
                <a:solidFill>
                  <a:srgbClr val="38BDF8"/>
                </a:solidFill>
                <a:latin typeface="Calibri" pitchFamily="34" charset="0"/>
                <a:ea typeface="Calibri" pitchFamily="34" charset="-122"/>
                <a:cs typeface="Calibri" pitchFamily="34" charset="-120"/>
              </a:rPr>
              <a:t>PROPUESTA DE VALOR</a:t>
            </a:r>
            <a:endParaRPr lang="en-US" sz="1400" dirty="0"/>
          </a:p>
        </p:txBody>
      </p:sp>
      <p:sp>
        <p:nvSpPr>
          <p:cNvPr id="19" name="Text 17"/>
          <p:cNvSpPr/>
          <p:nvPr/>
        </p:nvSpPr>
        <p:spPr>
          <a:xfrm>
            <a:off x="329184" y="3163824"/>
            <a:ext cx="5696712" cy="1399032"/>
          </a:xfrm>
          <a:prstGeom prst="rect">
            <a:avLst/>
          </a:prstGeom>
          <a:noFill/>
          <a:ln/>
        </p:spPr>
        <p:txBody>
          <a:bodyPr wrap="square" lIns="0" tIns="0" rIns="0" bIns="0" rtlCol="0" anchor="t"/>
          <a:lstStyle/>
          <a:p>
            <a:pPr marL="0" indent="0">
              <a:lnSpc>
                <a:spcPct val="120000"/>
              </a:lnSpc>
              <a:buNone/>
            </a:pPr>
            <a:r>
              <a:rPr lang="en-US" sz="1600" dirty="0">
                <a:solidFill>
                  <a:srgbClr val="E2E8F0"/>
                </a:solidFill>
                <a:latin typeface="Calibri" pitchFamily="34" charset="0"/>
                <a:ea typeface="Calibri" pitchFamily="34" charset="-122"/>
                <a:cs typeface="Calibri" pitchFamily="34" charset="-120"/>
              </a:rPr>
              <a:t>Eliminar el proceso manual de </a:t>
            </a:r>
            <a:r>
              <a:rPr lang="en-US" sz="1600" dirty="0" err="1">
                <a:solidFill>
                  <a:srgbClr val="E2E8F0"/>
                </a:solidFill>
                <a:latin typeface="Calibri" pitchFamily="34" charset="0"/>
                <a:ea typeface="Calibri" pitchFamily="34" charset="-122"/>
                <a:cs typeface="Calibri" pitchFamily="34" charset="-120"/>
              </a:rPr>
              <a:t>viáticos</a:t>
            </a:r>
            <a:r>
              <a:rPr lang="en-US" sz="1600" dirty="0">
                <a:solidFill>
                  <a:srgbClr val="E2E8F0"/>
                </a:solidFill>
                <a:latin typeface="Calibri" pitchFamily="34" charset="0"/>
                <a:ea typeface="Calibri" pitchFamily="34" charset="-122"/>
                <a:cs typeface="Calibri" pitchFamily="34" charset="-120"/>
              </a:rPr>
              <a:t> </a:t>
            </a:r>
            <a:r>
              <a:rPr lang="en-US" sz="1600" dirty="0" err="1">
                <a:solidFill>
                  <a:srgbClr val="E2E8F0"/>
                </a:solidFill>
                <a:latin typeface="Calibri" pitchFamily="34" charset="0"/>
                <a:ea typeface="Calibri" pitchFamily="34" charset="-122"/>
                <a:cs typeface="Calibri" pitchFamily="34" charset="-120"/>
              </a:rPr>
              <a:t>por</a:t>
            </a:r>
            <a:r>
              <a:rPr lang="en-US" sz="1600" dirty="0">
                <a:solidFill>
                  <a:srgbClr val="E2E8F0"/>
                </a:solidFill>
                <a:latin typeface="Calibri" pitchFamily="34" charset="0"/>
                <a:ea typeface="Calibri" pitchFamily="34" charset="-122"/>
                <a:cs typeface="Calibri" pitchFamily="34" charset="-120"/>
              </a:rPr>
              <a:t> un flujo 100% digital e inteligente que reduce errores en un 85%, libera horas de </a:t>
            </a:r>
            <a:r>
              <a:rPr lang="en-US" sz="1600" dirty="0" err="1">
                <a:solidFill>
                  <a:srgbClr val="E2E8F0"/>
                </a:solidFill>
                <a:latin typeface="Calibri" pitchFamily="34" charset="0"/>
                <a:ea typeface="Calibri" pitchFamily="34" charset="-122"/>
                <a:cs typeface="Calibri" pitchFamily="34" charset="-120"/>
              </a:rPr>
              <a:t>transportistas</a:t>
            </a:r>
            <a:r>
              <a:rPr lang="en-US" sz="1600" dirty="0">
                <a:solidFill>
                  <a:srgbClr val="E2E8F0"/>
                </a:solidFill>
                <a:latin typeface="Calibri" pitchFamily="34" charset="0"/>
                <a:ea typeface="Calibri" pitchFamily="34" charset="-122"/>
                <a:cs typeface="Calibri" pitchFamily="34" charset="-120"/>
              </a:rPr>
              <a:t>, </a:t>
            </a:r>
            <a:r>
              <a:rPr lang="en-US" sz="1600" dirty="0" err="1">
                <a:solidFill>
                  <a:srgbClr val="E2E8F0"/>
                </a:solidFill>
                <a:latin typeface="Calibri" pitchFamily="34" charset="0"/>
                <a:ea typeface="Calibri" pitchFamily="34" charset="-122"/>
                <a:cs typeface="Calibri" pitchFamily="34" charset="-120"/>
              </a:rPr>
              <a:t>analistas</a:t>
            </a:r>
            <a:r>
              <a:rPr lang="en-US" sz="1600" dirty="0">
                <a:solidFill>
                  <a:srgbClr val="E2E8F0"/>
                </a:solidFill>
                <a:latin typeface="Calibri" pitchFamily="34" charset="0"/>
                <a:ea typeface="Calibri" pitchFamily="34" charset="-122"/>
                <a:cs typeface="Calibri" pitchFamily="34" charset="-120"/>
              </a:rPr>
              <a:t> y </a:t>
            </a:r>
            <a:r>
              <a:rPr lang="en-US" sz="1600" dirty="0" err="1">
                <a:solidFill>
                  <a:srgbClr val="E2E8F0"/>
                </a:solidFill>
                <a:latin typeface="Calibri" pitchFamily="34" charset="0"/>
                <a:ea typeface="Calibri" pitchFamily="34" charset="-122"/>
                <a:cs typeface="Calibri" pitchFamily="34" charset="-120"/>
              </a:rPr>
              <a:t>ademas</a:t>
            </a:r>
            <a:r>
              <a:rPr lang="en-US" sz="1600" dirty="0">
                <a:solidFill>
                  <a:srgbClr val="E2E8F0"/>
                </a:solidFill>
                <a:latin typeface="Calibri" pitchFamily="34" charset="0"/>
                <a:ea typeface="Calibri" pitchFamily="34" charset="-122"/>
                <a:cs typeface="Calibri" pitchFamily="34" charset="-120"/>
              </a:rPr>
              <a:t> genera ROI positivo en menos de 15 meses.</a:t>
            </a:r>
            <a:endParaRPr lang="en-US" sz="1600" dirty="0"/>
          </a:p>
        </p:txBody>
      </p:sp>
      <p:sp>
        <p:nvSpPr>
          <p:cNvPr id="20" name="Shape 18"/>
          <p:cNvSpPr/>
          <p:nvPr/>
        </p:nvSpPr>
        <p:spPr>
          <a:xfrm>
            <a:off x="201168" y="4718304"/>
            <a:ext cx="5897880" cy="1764792"/>
          </a:xfrm>
          <a:prstGeom prst="rect">
            <a:avLst/>
          </a:prstGeom>
          <a:solidFill>
            <a:srgbClr val="0D1B3E"/>
          </a:solidFill>
          <a:ln w="12700">
            <a:solidFill>
              <a:srgbClr val="1246B3"/>
            </a:solidFill>
            <a:prstDash val="solid"/>
          </a:ln>
        </p:spPr>
        <p:txBody>
          <a:bodyPr/>
          <a:lstStyle/>
          <a:p>
            <a:endParaRPr lang="es-ES_tradnl" dirty="0"/>
          </a:p>
        </p:txBody>
      </p:sp>
      <p:sp>
        <p:nvSpPr>
          <p:cNvPr id="21" name="Shape 19"/>
          <p:cNvSpPr/>
          <p:nvPr/>
        </p:nvSpPr>
        <p:spPr>
          <a:xfrm>
            <a:off x="201168" y="4718304"/>
            <a:ext cx="54864" cy="1764792"/>
          </a:xfrm>
          <a:prstGeom prst="rect">
            <a:avLst/>
          </a:prstGeom>
          <a:solidFill>
            <a:srgbClr val="1246B3"/>
          </a:solidFill>
          <a:ln w="12700">
            <a:solidFill>
              <a:srgbClr val="1246B3"/>
            </a:solidFill>
            <a:prstDash val="solid"/>
          </a:ln>
        </p:spPr>
      </p:sp>
      <p:sp>
        <p:nvSpPr>
          <p:cNvPr id="22" name="Text 20"/>
          <p:cNvSpPr/>
          <p:nvPr/>
        </p:nvSpPr>
        <p:spPr>
          <a:xfrm>
            <a:off x="329184" y="4782312"/>
            <a:ext cx="5696712" cy="201168"/>
          </a:xfrm>
          <a:prstGeom prst="rect">
            <a:avLst/>
          </a:prstGeom>
          <a:noFill/>
          <a:ln/>
        </p:spPr>
        <p:txBody>
          <a:bodyPr wrap="square" lIns="0" tIns="0" rIns="0" bIns="0" rtlCol="0" anchor="ctr"/>
          <a:lstStyle/>
          <a:p>
            <a:pPr marL="0" indent="0">
              <a:buNone/>
            </a:pPr>
            <a:r>
              <a:rPr lang="en-US" sz="1400" b="1" kern="0" spc="120" dirty="0">
                <a:solidFill>
                  <a:srgbClr val="1246B3"/>
                </a:solidFill>
                <a:latin typeface="Calibri" pitchFamily="34" charset="0"/>
                <a:ea typeface="Calibri" pitchFamily="34" charset="-122"/>
                <a:cs typeface="Calibri" pitchFamily="34" charset="-120"/>
              </a:rPr>
              <a:t>SOLUCIÓN</a:t>
            </a:r>
            <a:endParaRPr lang="en-US" sz="1400" dirty="0"/>
          </a:p>
        </p:txBody>
      </p:sp>
      <p:sp>
        <p:nvSpPr>
          <p:cNvPr id="23" name="Text 21"/>
          <p:cNvSpPr/>
          <p:nvPr/>
        </p:nvSpPr>
        <p:spPr>
          <a:xfrm>
            <a:off x="329184" y="5020056"/>
            <a:ext cx="5696712" cy="1399032"/>
          </a:xfrm>
          <a:prstGeom prst="rect">
            <a:avLst/>
          </a:prstGeom>
          <a:noFill/>
          <a:ln/>
        </p:spPr>
        <p:txBody>
          <a:bodyPr wrap="square" lIns="0" tIns="0" rIns="0" bIns="0" rtlCol="0" anchor="t"/>
          <a:lstStyle/>
          <a:p>
            <a:pPr marL="0" indent="0">
              <a:lnSpc>
                <a:spcPct val="120000"/>
              </a:lnSpc>
              <a:buNone/>
            </a:pPr>
            <a:r>
              <a:rPr lang="en-US" sz="1600" dirty="0">
                <a:solidFill>
                  <a:srgbClr val="E2E8F0"/>
                </a:solidFill>
                <a:latin typeface="Calibri" pitchFamily="34" charset="0"/>
                <a:ea typeface="Calibri" pitchFamily="34" charset="-122"/>
                <a:cs typeface="Calibri" pitchFamily="34" charset="-120"/>
              </a:rPr>
              <a:t>(1) Control en Origen – TCC Digital y reglas automáticas  (2) App y Rendición Digital con OCR + IA  (3) Gobierno del Gasto con workflow de excepciones  (4) Métricas, ROI y </a:t>
            </a:r>
            <a:r>
              <a:rPr lang="en-US" sz="1600" dirty="0" err="1">
                <a:solidFill>
                  <a:srgbClr val="E2E8F0"/>
                </a:solidFill>
                <a:latin typeface="Calibri" pitchFamily="34" charset="0"/>
                <a:ea typeface="Calibri" pitchFamily="34" charset="-122"/>
                <a:cs typeface="Calibri" pitchFamily="34" charset="-120"/>
              </a:rPr>
              <a:t>Escalabilidad</a:t>
            </a:r>
            <a:r>
              <a:rPr lang="en-US" sz="1600" dirty="0">
                <a:solidFill>
                  <a:srgbClr val="E2E8F0"/>
                </a:solidFill>
                <a:latin typeface="Calibri" pitchFamily="34" charset="0"/>
                <a:ea typeface="Calibri" pitchFamily="34" charset="-122"/>
                <a:cs typeface="Calibri" pitchFamily="34" charset="-120"/>
              </a:rPr>
              <a:t>  </a:t>
            </a:r>
            <a:endParaRPr lang="en-US" sz="1600" dirty="0"/>
          </a:p>
        </p:txBody>
      </p:sp>
      <p:sp>
        <p:nvSpPr>
          <p:cNvPr id="24" name="Shape 22"/>
          <p:cNvSpPr/>
          <p:nvPr/>
        </p:nvSpPr>
        <p:spPr>
          <a:xfrm>
            <a:off x="6309360" y="1005840"/>
            <a:ext cx="5897880" cy="1764792"/>
          </a:xfrm>
          <a:prstGeom prst="rect">
            <a:avLst/>
          </a:prstGeom>
          <a:solidFill>
            <a:srgbClr val="0D1B3E"/>
          </a:solidFill>
          <a:ln w="12700">
            <a:solidFill>
              <a:srgbClr val="A78BFA"/>
            </a:solidFill>
            <a:prstDash val="solid"/>
          </a:ln>
        </p:spPr>
      </p:sp>
      <p:sp>
        <p:nvSpPr>
          <p:cNvPr id="25" name="Shape 23"/>
          <p:cNvSpPr/>
          <p:nvPr/>
        </p:nvSpPr>
        <p:spPr>
          <a:xfrm>
            <a:off x="6309360" y="1005840"/>
            <a:ext cx="54864" cy="1764792"/>
          </a:xfrm>
          <a:prstGeom prst="rect">
            <a:avLst/>
          </a:prstGeom>
          <a:solidFill>
            <a:srgbClr val="A78BFA"/>
          </a:solidFill>
          <a:ln w="12700">
            <a:solidFill>
              <a:srgbClr val="A78BFA"/>
            </a:solidFill>
            <a:prstDash val="solid"/>
          </a:ln>
        </p:spPr>
      </p:sp>
      <p:sp>
        <p:nvSpPr>
          <p:cNvPr id="26" name="Text 24"/>
          <p:cNvSpPr/>
          <p:nvPr/>
        </p:nvSpPr>
        <p:spPr>
          <a:xfrm>
            <a:off x="6437376" y="1069848"/>
            <a:ext cx="5696712" cy="201168"/>
          </a:xfrm>
          <a:prstGeom prst="rect">
            <a:avLst/>
          </a:prstGeom>
          <a:noFill/>
          <a:ln/>
        </p:spPr>
        <p:txBody>
          <a:bodyPr wrap="square" lIns="0" tIns="0" rIns="0" bIns="0" rtlCol="0" anchor="ctr"/>
          <a:lstStyle/>
          <a:p>
            <a:pPr marL="0" indent="0">
              <a:buNone/>
            </a:pPr>
            <a:r>
              <a:rPr lang="en-US" sz="1400" b="1" kern="0" spc="120" dirty="0">
                <a:solidFill>
                  <a:srgbClr val="A78BFA"/>
                </a:solidFill>
                <a:latin typeface="Calibri" pitchFamily="34" charset="0"/>
                <a:ea typeface="Calibri" pitchFamily="34" charset="-122"/>
                <a:cs typeface="Calibri" pitchFamily="34" charset="-120"/>
              </a:rPr>
              <a:t>CARACTERÍSTICAS</a:t>
            </a:r>
            <a:endParaRPr lang="en-US" sz="1400" dirty="0"/>
          </a:p>
        </p:txBody>
      </p:sp>
      <p:sp>
        <p:nvSpPr>
          <p:cNvPr id="27" name="Text 25"/>
          <p:cNvSpPr/>
          <p:nvPr/>
        </p:nvSpPr>
        <p:spPr>
          <a:xfrm>
            <a:off x="6437376" y="1307592"/>
            <a:ext cx="5696712" cy="1399032"/>
          </a:xfrm>
          <a:prstGeom prst="rect">
            <a:avLst/>
          </a:prstGeom>
          <a:noFill/>
          <a:ln/>
        </p:spPr>
        <p:txBody>
          <a:bodyPr wrap="square" lIns="0" tIns="0" rIns="0" bIns="0" rtlCol="0" anchor="t"/>
          <a:lstStyle/>
          <a:p>
            <a:pPr marL="0" indent="0">
              <a:lnSpc>
                <a:spcPct val="120000"/>
              </a:lnSpc>
              <a:buNone/>
            </a:pPr>
            <a:r>
              <a:rPr lang="en-US" sz="1400" b="1" dirty="0">
                <a:solidFill>
                  <a:srgbClr val="A78BFA"/>
                </a:solidFill>
                <a:latin typeface="Calibri" pitchFamily="34" charset="0"/>
                <a:ea typeface="Calibri" pitchFamily="34" charset="-122"/>
                <a:cs typeface="Calibri" pitchFamily="34" charset="-120"/>
              </a:rPr>
              <a:t>✦  </a:t>
            </a:r>
            <a:r>
              <a:rPr lang="en-US" sz="1400" b="1" dirty="0">
                <a:solidFill>
                  <a:srgbClr val="E2E8F0"/>
                </a:solidFill>
                <a:latin typeface="Calibri" pitchFamily="34" charset="0"/>
                <a:ea typeface="Calibri" pitchFamily="34" charset="-122"/>
                <a:cs typeface="Calibri" pitchFamily="34" charset="-120"/>
              </a:rPr>
              <a:t>TCCD (</a:t>
            </a:r>
            <a:r>
              <a:rPr lang="es-ES_tradnl" sz="1400" b="1" dirty="0">
                <a:solidFill>
                  <a:srgbClr val="E2E8F0"/>
                </a:solidFill>
                <a:latin typeface="Calibri" pitchFamily="34" charset="0"/>
                <a:ea typeface="Calibri" pitchFamily="34" charset="-122"/>
                <a:cs typeface="Calibri" pitchFamily="34" charset="-120"/>
              </a:rPr>
              <a:t>Tarjeta</a:t>
            </a:r>
            <a:r>
              <a:rPr lang="en-US" sz="1400" b="1" dirty="0">
                <a:solidFill>
                  <a:srgbClr val="E2E8F0"/>
                </a:solidFill>
                <a:latin typeface="Calibri" pitchFamily="34" charset="0"/>
                <a:ea typeface="Calibri" pitchFamily="34" charset="-122"/>
                <a:cs typeface="Calibri" pitchFamily="34" charset="-120"/>
              </a:rPr>
              <a:t> de </a:t>
            </a:r>
            <a:r>
              <a:rPr lang="en-US" sz="1400" b="1" dirty="0" err="1">
                <a:solidFill>
                  <a:srgbClr val="E2E8F0"/>
                </a:solidFill>
                <a:latin typeface="Calibri" pitchFamily="34" charset="0"/>
                <a:ea typeface="Calibri" pitchFamily="34" charset="-122"/>
                <a:cs typeface="Calibri" pitchFamily="34" charset="-120"/>
              </a:rPr>
              <a:t>Credito</a:t>
            </a:r>
            <a:r>
              <a:rPr lang="en-US" sz="1400" b="1" dirty="0">
                <a:solidFill>
                  <a:srgbClr val="E2E8F0"/>
                </a:solidFill>
                <a:latin typeface="Calibri" pitchFamily="34" charset="0"/>
                <a:ea typeface="Calibri" pitchFamily="34" charset="-122"/>
                <a:cs typeface="Calibri" pitchFamily="34" charset="-120"/>
              </a:rPr>
              <a:t> </a:t>
            </a:r>
            <a:r>
              <a:rPr lang="en-US" sz="1400" b="1" dirty="0" err="1">
                <a:solidFill>
                  <a:srgbClr val="E2E8F0"/>
                </a:solidFill>
                <a:latin typeface="Calibri" pitchFamily="34" charset="0"/>
                <a:ea typeface="Calibri" pitchFamily="34" charset="-122"/>
                <a:cs typeface="Calibri" pitchFamily="34" charset="-120"/>
              </a:rPr>
              <a:t>Corporativa</a:t>
            </a:r>
            <a:r>
              <a:rPr lang="en-US" sz="1400" b="1" dirty="0">
                <a:solidFill>
                  <a:srgbClr val="E2E8F0"/>
                </a:solidFill>
                <a:latin typeface="Calibri" pitchFamily="34" charset="0"/>
                <a:ea typeface="Calibri" pitchFamily="34" charset="-122"/>
                <a:cs typeface="Calibri" pitchFamily="34" charset="-120"/>
              </a:rPr>
              <a:t> Digital) con </a:t>
            </a:r>
            <a:r>
              <a:rPr lang="en-US" sz="1400" b="1" dirty="0" err="1">
                <a:solidFill>
                  <a:srgbClr val="E2E8F0"/>
                </a:solidFill>
                <a:latin typeface="Calibri" pitchFamily="34" charset="0"/>
                <a:ea typeface="Calibri" pitchFamily="34" charset="-122"/>
                <a:cs typeface="Calibri" pitchFamily="34" charset="-120"/>
              </a:rPr>
              <a:t>límites</a:t>
            </a:r>
            <a:r>
              <a:rPr lang="en-US" sz="1400" b="1" dirty="0">
                <a:solidFill>
                  <a:srgbClr val="E2E8F0"/>
                </a:solidFill>
                <a:latin typeface="Calibri" pitchFamily="34" charset="0"/>
                <a:ea typeface="Calibri" pitchFamily="34" charset="-122"/>
                <a:cs typeface="Calibri" pitchFamily="34" charset="-120"/>
              </a:rPr>
              <a:t> </a:t>
            </a:r>
            <a:r>
              <a:rPr lang="es-ES_tradnl" sz="1400" b="1" dirty="0">
                <a:solidFill>
                  <a:srgbClr val="E2E8F0"/>
                </a:solidFill>
                <a:latin typeface="Calibri" pitchFamily="34" charset="0"/>
                <a:ea typeface="Calibri" pitchFamily="34" charset="-122"/>
                <a:cs typeface="Calibri" pitchFamily="34" charset="-120"/>
              </a:rPr>
              <a:t>establecidos</a:t>
            </a:r>
            <a:r>
              <a:rPr lang="en-US" sz="1400" b="1" dirty="0">
                <a:solidFill>
                  <a:srgbClr val="E2E8F0"/>
                </a:solidFill>
                <a:latin typeface="Calibri" pitchFamily="34" charset="0"/>
                <a:ea typeface="Calibri" pitchFamily="34" charset="-122"/>
                <a:cs typeface="Calibri" pitchFamily="34" charset="-120"/>
              </a:rPr>
              <a:t> </a:t>
            </a:r>
            <a:r>
              <a:rPr lang="en-US" sz="1400" b="1" dirty="0" err="1">
                <a:solidFill>
                  <a:srgbClr val="E2E8F0"/>
                </a:solidFill>
                <a:latin typeface="Calibri" pitchFamily="34" charset="0"/>
                <a:ea typeface="Calibri" pitchFamily="34" charset="-122"/>
                <a:cs typeface="Calibri" pitchFamily="34" charset="-120"/>
              </a:rPr>
              <a:t>en</a:t>
            </a:r>
            <a:r>
              <a:rPr lang="en-US" sz="1400" b="1" dirty="0">
                <a:solidFill>
                  <a:srgbClr val="E2E8F0"/>
                </a:solidFill>
                <a:latin typeface="Calibri" pitchFamily="34" charset="0"/>
                <a:ea typeface="Calibri" pitchFamily="34" charset="-122"/>
                <a:cs typeface="Calibri" pitchFamily="34" charset="-120"/>
              </a:rPr>
              <a:t> la </a:t>
            </a:r>
            <a:r>
              <a:rPr lang="es-ES_tradnl" sz="1400" b="1" dirty="0">
                <a:solidFill>
                  <a:srgbClr val="E2E8F0"/>
                </a:solidFill>
                <a:latin typeface="Calibri" pitchFamily="34" charset="0"/>
                <a:ea typeface="Calibri" pitchFamily="34" charset="-122"/>
                <a:cs typeface="Calibri" pitchFamily="34" charset="-120"/>
              </a:rPr>
              <a:t>política</a:t>
            </a:r>
            <a:r>
              <a:rPr lang="en-US" sz="1400" b="1" dirty="0">
                <a:solidFill>
                  <a:srgbClr val="E2E8F0"/>
                </a:solidFill>
                <a:latin typeface="Calibri" pitchFamily="34" charset="0"/>
                <a:ea typeface="Calibri" pitchFamily="34" charset="-122"/>
                <a:cs typeface="Calibri" pitchFamily="34" charset="-120"/>
              </a:rPr>
              <a:t> de </a:t>
            </a:r>
            <a:r>
              <a:rPr lang="en-US" sz="1400" b="1" dirty="0" err="1">
                <a:solidFill>
                  <a:srgbClr val="E2E8F0"/>
                </a:solidFill>
                <a:latin typeface="Calibri" pitchFamily="34" charset="0"/>
                <a:ea typeface="Calibri" pitchFamily="34" charset="-122"/>
                <a:cs typeface="Calibri" pitchFamily="34" charset="-120"/>
              </a:rPr>
              <a:t>viaticos</a:t>
            </a:r>
            <a:r>
              <a:rPr lang="en-US" sz="1400" b="1" dirty="0">
                <a:solidFill>
                  <a:srgbClr val="E2E8F0"/>
                </a:solidFill>
                <a:latin typeface="Calibri" pitchFamily="34" charset="0"/>
                <a:ea typeface="Calibri" pitchFamily="34" charset="-122"/>
                <a:cs typeface="Calibri" pitchFamily="34" charset="-120"/>
              </a:rPr>
              <a:t> y </a:t>
            </a:r>
            <a:r>
              <a:rPr lang="en-US" sz="1400" b="1" dirty="0" err="1">
                <a:solidFill>
                  <a:srgbClr val="E2E8F0"/>
                </a:solidFill>
                <a:latin typeface="Calibri" pitchFamily="34" charset="0"/>
                <a:ea typeface="Calibri" pitchFamily="34" charset="-122"/>
                <a:cs typeface="Calibri" pitchFamily="34" charset="-120"/>
              </a:rPr>
              <a:t>gastos</a:t>
            </a:r>
            <a:r>
              <a:rPr lang="en-US" sz="1400" b="1" dirty="0">
                <a:solidFill>
                  <a:srgbClr val="E2E8F0"/>
                </a:solidFill>
                <a:latin typeface="Calibri" pitchFamily="34" charset="0"/>
                <a:ea typeface="Calibri" pitchFamily="34" charset="-122"/>
                <a:cs typeface="Calibri" pitchFamily="34" charset="-120"/>
              </a:rPr>
              <a:t>.
</a:t>
            </a:r>
            <a:r>
              <a:rPr lang="en-US" sz="1400" b="1" dirty="0">
                <a:solidFill>
                  <a:srgbClr val="A78BFA"/>
                </a:solidFill>
                <a:latin typeface="Calibri" pitchFamily="34" charset="0"/>
                <a:ea typeface="Calibri" pitchFamily="34" charset="-122"/>
                <a:cs typeface="Calibri" pitchFamily="34" charset="-120"/>
              </a:rPr>
              <a:t>✦  </a:t>
            </a:r>
            <a:r>
              <a:rPr lang="en-US" sz="1400" b="1" dirty="0">
                <a:solidFill>
                  <a:srgbClr val="E2E8F0"/>
                </a:solidFill>
                <a:latin typeface="Calibri" pitchFamily="34" charset="0"/>
                <a:ea typeface="Calibri" pitchFamily="34" charset="-122"/>
                <a:cs typeface="Calibri" pitchFamily="34" charset="-120"/>
              </a:rPr>
              <a:t>App móvil con OCR e IA para clasificación de boletas
</a:t>
            </a:r>
            <a:r>
              <a:rPr lang="en-US" sz="1400" b="1" dirty="0">
                <a:solidFill>
                  <a:srgbClr val="A78BFA"/>
                </a:solidFill>
                <a:latin typeface="Calibri" pitchFamily="34" charset="0"/>
                <a:ea typeface="Calibri" pitchFamily="34" charset="-122"/>
                <a:cs typeface="Calibri" pitchFamily="34" charset="-120"/>
              </a:rPr>
              <a:t>✦  </a:t>
            </a:r>
            <a:r>
              <a:rPr lang="en-US" sz="1400" b="1" dirty="0" err="1">
                <a:solidFill>
                  <a:srgbClr val="E2E8F0"/>
                </a:solidFill>
                <a:latin typeface="Calibri" pitchFamily="34" charset="0"/>
                <a:ea typeface="Calibri" pitchFamily="34" charset="-122"/>
                <a:cs typeface="Calibri" pitchFamily="34" charset="-120"/>
              </a:rPr>
              <a:t>Aprobaciones</a:t>
            </a:r>
            <a:r>
              <a:rPr lang="en-US" sz="1400" b="1" dirty="0">
                <a:solidFill>
                  <a:srgbClr val="E2E8F0"/>
                </a:solidFill>
                <a:latin typeface="Calibri" pitchFamily="34" charset="0"/>
                <a:ea typeface="Calibri" pitchFamily="34" charset="-122"/>
                <a:cs typeface="Calibri" pitchFamily="34" charset="-120"/>
              </a:rPr>
              <a:t> con thresholds y workflows </a:t>
            </a:r>
            <a:r>
              <a:rPr lang="en-US" sz="1400" b="1" dirty="0" err="1">
                <a:solidFill>
                  <a:srgbClr val="E2E8F0"/>
                </a:solidFill>
                <a:latin typeface="Calibri" pitchFamily="34" charset="0"/>
                <a:ea typeface="Calibri" pitchFamily="34" charset="-122"/>
                <a:cs typeface="Calibri" pitchFamily="34" charset="-120"/>
              </a:rPr>
              <a:t>automatizados</a:t>
            </a:r>
            <a:r>
              <a:rPr lang="en-US" sz="1400" b="1" dirty="0">
                <a:solidFill>
                  <a:srgbClr val="E2E8F0"/>
                </a:solidFill>
                <a:latin typeface="Calibri" pitchFamily="34" charset="0"/>
                <a:ea typeface="Calibri" pitchFamily="34" charset="-122"/>
                <a:cs typeface="Calibri" pitchFamily="34" charset="-120"/>
              </a:rPr>
              <a:t>
</a:t>
            </a:r>
            <a:r>
              <a:rPr lang="en-US" sz="1400" b="1" dirty="0">
                <a:solidFill>
                  <a:srgbClr val="A78BFA"/>
                </a:solidFill>
                <a:latin typeface="Calibri" pitchFamily="34" charset="0"/>
                <a:ea typeface="Calibri" pitchFamily="34" charset="-122"/>
                <a:cs typeface="Calibri" pitchFamily="34" charset="-120"/>
              </a:rPr>
              <a:t>✦  </a:t>
            </a:r>
            <a:r>
              <a:rPr lang="en-US" sz="1400" b="1" dirty="0">
                <a:solidFill>
                  <a:srgbClr val="E2E8F0"/>
                </a:solidFill>
                <a:latin typeface="Calibri" pitchFamily="34" charset="0"/>
                <a:ea typeface="Calibri" pitchFamily="34" charset="-122"/>
                <a:cs typeface="Calibri" pitchFamily="34" charset="-120"/>
              </a:rPr>
              <a:t>Registro offline + Dashboard de métricas y ROI</a:t>
            </a:r>
            <a:endParaRPr lang="en-US" sz="1400" b="1" dirty="0"/>
          </a:p>
        </p:txBody>
      </p:sp>
      <p:sp>
        <p:nvSpPr>
          <p:cNvPr id="28" name="Shape 26"/>
          <p:cNvSpPr/>
          <p:nvPr/>
        </p:nvSpPr>
        <p:spPr>
          <a:xfrm>
            <a:off x="6309360" y="2862072"/>
            <a:ext cx="5897880" cy="1764792"/>
          </a:xfrm>
          <a:prstGeom prst="rect">
            <a:avLst/>
          </a:prstGeom>
          <a:solidFill>
            <a:srgbClr val="0D1B3E"/>
          </a:solidFill>
          <a:ln w="12700">
            <a:solidFill>
              <a:srgbClr val="34D399"/>
            </a:solidFill>
            <a:prstDash val="solid"/>
          </a:ln>
        </p:spPr>
      </p:sp>
      <p:sp>
        <p:nvSpPr>
          <p:cNvPr id="29" name="Shape 27"/>
          <p:cNvSpPr/>
          <p:nvPr/>
        </p:nvSpPr>
        <p:spPr>
          <a:xfrm>
            <a:off x="6309360" y="2862072"/>
            <a:ext cx="54864" cy="1764792"/>
          </a:xfrm>
          <a:prstGeom prst="rect">
            <a:avLst/>
          </a:prstGeom>
          <a:solidFill>
            <a:srgbClr val="34D399"/>
          </a:solidFill>
          <a:ln w="12700">
            <a:solidFill>
              <a:srgbClr val="34D399"/>
            </a:solidFill>
            <a:prstDash val="solid"/>
          </a:ln>
        </p:spPr>
      </p:sp>
      <p:sp>
        <p:nvSpPr>
          <p:cNvPr id="30" name="Text 28"/>
          <p:cNvSpPr/>
          <p:nvPr/>
        </p:nvSpPr>
        <p:spPr>
          <a:xfrm>
            <a:off x="6437376" y="2926080"/>
            <a:ext cx="5696712" cy="201168"/>
          </a:xfrm>
          <a:prstGeom prst="rect">
            <a:avLst/>
          </a:prstGeom>
          <a:noFill/>
          <a:ln/>
        </p:spPr>
        <p:txBody>
          <a:bodyPr wrap="square" lIns="0" tIns="0" rIns="0" bIns="0" rtlCol="0" anchor="ctr"/>
          <a:lstStyle/>
          <a:p>
            <a:pPr marL="0" indent="0">
              <a:buNone/>
            </a:pPr>
            <a:r>
              <a:rPr lang="en-US" sz="1400" b="1" kern="0" spc="120" dirty="0">
                <a:solidFill>
                  <a:srgbClr val="34D399"/>
                </a:solidFill>
                <a:latin typeface="Calibri" pitchFamily="34" charset="0"/>
                <a:ea typeface="Calibri" pitchFamily="34" charset="-122"/>
                <a:cs typeface="Calibri" pitchFamily="34" charset="-120"/>
              </a:rPr>
              <a:t>BENEFICIOS</a:t>
            </a:r>
            <a:endParaRPr lang="en-US" sz="1400" dirty="0"/>
          </a:p>
        </p:txBody>
      </p:sp>
      <p:sp>
        <p:nvSpPr>
          <p:cNvPr id="31" name="Text 29"/>
          <p:cNvSpPr/>
          <p:nvPr/>
        </p:nvSpPr>
        <p:spPr>
          <a:xfrm>
            <a:off x="6437376" y="3163824"/>
            <a:ext cx="5696712" cy="1399032"/>
          </a:xfrm>
          <a:prstGeom prst="rect">
            <a:avLst/>
          </a:prstGeom>
          <a:noFill/>
          <a:ln/>
        </p:spPr>
        <p:txBody>
          <a:bodyPr wrap="square" lIns="0" tIns="0" rIns="0" bIns="0" rtlCol="0" anchor="t"/>
          <a:lstStyle/>
          <a:p>
            <a:pPr marL="0" indent="0">
              <a:lnSpc>
                <a:spcPct val="120000"/>
              </a:lnSpc>
              <a:buNone/>
            </a:pPr>
            <a:r>
              <a:rPr lang="en-US" sz="1600" dirty="0">
                <a:solidFill>
                  <a:srgbClr val="E2E8F0"/>
                </a:solidFill>
                <a:latin typeface="Calibri" pitchFamily="34" charset="0"/>
                <a:ea typeface="Calibri" pitchFamily="34" charset="-122"/>
                <a:cs typeface="Calibri" pitchFamily="34" charset="-120"/>
              </a:rPr>
              <a:t>Ahorro mensual neto $2.810.000  ·  Payback 14,2 meses  ·  ROI +68,6% a 24 meses  ·  Reducción errores y retrabajo  ·  Liberación de analistas  ·  Trazabilidad y auditabilidad completa.</a:t>
            </a:r>
            <a:endParaRPr lang="en-US" sz="1600" dirty="0"/>
          </a:p>
        </p:txBody>
      </p:sp>
      <p:sp>
        <p:nvSpPr>
          <p:cNvPr id="32" name="Shape 30"/>
          <p:cNvSpPr/>
          <p:nvPr/>
        </p:nvSpPr>
        <p:spPr>
          <a:xfrm>
            <a:off x="6309360" y="4718304"/>
            <a:ext cx="5897880" cy="1764792"/>
          </a:xfrm>
          <a:prstGeom prst="rect">
            <a:avLst/>
          </a:prstGeom>
          <a:solidFill>
            <a:srgbClr val="0D1B3E"/>
          </a:solidFill>
          <a:ln w="12700">
            <a:solidFill>
              <a:srgbClr val="FBBF24"/>
            </a:solidFill>
            <a:prstDash val="solid"/>
          </a:ln>
        </p:spPr>
      </p:sp>
      <p:sp>
        <p:nvSpPr>
          <p:cNvPr id="33" name="Shape 31"/>
          <p:cNvSpPr/>
          <p:nvPr/>
        </p:nvSpPr>
        <p:spPr>
          <a:xfrm>
            <a:off x="6309360" y="4718304"/>
            <a:ext cx="54864" cy="1764792"/>
          </a:xfrm>
          <a:prstGeom prst="rect">
            <a:avLst/>
          </a:prstGeom>
          <a:solidFill>
            <a:srgbClr val="FBBF24"/>
          </a:solidFill>
          <a:ln w="12700">
            <a:solidFill>
              <a:srgbClr val="FBBF24"/>
            </a:solidFill>
            <a:prstDash val="solid"/>
          </a:ln>
        </p:spPr>
      </p:sp>
      <p:sp>
        <p:nvSpPr>
          <p:cNvPr id="34" name="Text 32"/>
          <p:cNvSpPr/>
          <p:nvPr/>
        </p:nvSpPr>
        <p:spPr>
          <a:xfrm>
            <a:off x="6437376" y="4782312"/>
            <a:ext cx="5696712" cy="201168"/>
          </a:xfrm>
          <a:prstGeom prst="rect">
            <a:avLst/>
          </a:prstGeom>
          <a:noFill/>
          <a:ln/>
        </p:spPr>
        <p:txBody>
          <a:bodyPr wrap="square" lIns="0" tIns="0" rIns="0" bIns="0" rtlCol="0" anchor="ctr"/>
          <a:lstStyle/>
          <a:p>
            <a:pPr marL="0" indent="0">
              <a:buNone/>
            </a:pPr>
            <a:r>
              <a:rPr lang="en-US" sz="1400" b="1" kern="0" spc="120" dirty="0">
                <a:solidFill>
                  <a:srgbClr val="FBBF24"/>
                </a:solidFill>
                <a:latin typeface="Calibri" pitchFamily="34" charset="0"/>
                <a:ea typeface="Calibri" pitchFamily="34" charset="-122"/>
                <a:cs typeface="Calibri" pitchFamily="34" charset="-120"/>
              </a:rPr>
              <a:t>CRITERIOS DE ÉXITO</a:t>
            </a:r>
            <a:endParaRPr lang="en-US" sz="1400" dirty="0"/>
          </a:p>
        </p:txBody>
      </p:sp>
      <p:sp>
        <p:nvSpPr>
          <p:cNvPr id="35" name="Text 33"/>
          <p:cNvSpPr/>
          <p:nvPr/>
        </p:nvSpPr>
        <p:spPr>
          <a:xfrm>
            <a:off x="6437376" y="5020056"/>
            <a:ext cx="5696712" cy="1399032"/>
          </a:xfrm>
          <a:prstGeom prst="rect">
            <a:avLst/>
          </a:prstGeom>
          <a:noFill/>
          <a:ln/>
        </p:spPr>
        <p:txBody>
          <a:bodyPr wrap="square" lIns="0" tIns="0" rIns="0" bIns="0" rtlCol="0" anchor="t"/>
          <a:lstStyle/>
          <a:p>
            <a:pPr marL="0" indent="0">
              <a:lnSpc>
                <a:spcPct val="120000"/>
              </a:lnSpc>
              <a:buNone/>
            </a:pPr>
            <a:r>
              <a:rPr lang="en-US" sz="1600" b="1" dirty="0">
                <a:solidFill>
                  <a:srgbClr val="FBBF24"/>
                </a:solidFill>
                <a:latin typeface="Calibri" pitchFamily="34" charset="0"/>
                <a:ea typeface="Calibri" pitchFamily="34" charset="-122"/>
                <a:cs typeface="Calibri" pitchFamily="34" charset="-120"/>
              </a:rPr>
              <a:t>✔  </a:t>
            </a:r>
            <a:r>
              <a:rPr lang="en-US" sz="1600" dirty="0">
                <a:solidFill>
                  <a:srgbClr val="E2E8F0"/>
                </a:solidFill>
                <a:latin typeface="Calibri" pitchFamily="34" charset="0"/>
                <a:ea typeface="Calibri" pitchFamily="34" charset="-122"/>
                <a:cs typeface="Calibri" pitchFamily="34" charset="-120"/>
              </a:rPr>
              <a:t>Piloto exitoso con 10 choferes en Sprint 3  </a:t>
            </a:r>
            <a:r>
              <a:rPr lang="en-US" sz="1600" b="1" dirty="0">
                <a:solidFill>
                  <a:srgbClr val="FBBF24"/>
                </a:solidFill>
                <a:latin typeface="Calibri" pitchFamily="34" charset="0"/>
                <a:ea typeface="Calibri" pitchFamily="34" charset="-122"/>
                <a:cs typeface="Calibri" pitchFamily="34" charset="-120"/>
              </a:rPr>
              <a:t>✔  </a:t>
            </a:r>
            <a:r>
              <a:rPr lang="en-US" sz="1600" dirty="0">
                <a:solidFill>
                  <a:srgbClr val="E2E8F0"/>
                </a:solidFill>
                <a:latin typeface="Calibri" pitchFamily="34" charset="0"/>
                <a:ea typeface="Calibri" pitchFamily="34" charset="-122"/>
                <a:cs typeface="Calibri" pitchFamily="34" charset="-120"/>
              </a:rPr>
              <a:t>Go-live total en Sprint 6
</a:t>
            </a:r>
            <a:r>
              <a:rPr lang="en-US" sz="1600" b="1" dirty="0">
                <a:solidFill>
                  <a:srgbClr val="FBBF24"/>
                </a:solidFill>
                <a:latin typeface="Calibri" pitchFamily="34" charset="0"/>
                <a:ea typeface="Calibri" pitchFamily="34" charset="-122"/>
                <a:cs typeface="Calibri" pitchFamily="34" charset="-120"/>
              </a:rPr>
              <a:t>✔  </a:t>
            </a:r>
            <a:r>
              <a:rPr lang="en-US" sz="1600" dirty="0">
                <a:solidFill>
                  <a:srgbClr val="E2E8F0"/>
                </a:solidFill>
                <a:latin typeface="Calibri" pitchFamily="34" charset="0"/>
                <a:ea typeface="Calibri" pitchFamily="34" charset="-122"/>
                <a:cs typeface="Calibri" pitchFamily="34" charset="-120"/>
              </a:rPr>
              <a:t>0 incidentes críticos  </a:t>
            </a:r>
            <a:r>
              <a:rPr lang="en-US" sz="1600" b="1" dirty="0">
                <a:solidFill>
                  <a:srgbClr val="FBBF24"/>
                </a:solidFill>
                <a:latin typeface="Calibri" pitchFamily="34" charset="0"/>
                <a:ea typeface="Calibri" pitchFamily="34" charset="-122"/>
                <a:cs typeface="Calibri" pitchFamily="34" charset="-120"/>
              </a:rPr>
              <a:t>✔  </a:t>
            </a:r>
            <a:r>
              <a:rPr lang="en-US" sz="1600" dirty="0">
                <a:solidFill>
                  <a:srgbClr val="E2E8F0"/>
                </a:solidFill>
                <a:latin typeface="Calibri" pitchFamily="34" charset="0"/>
                <a:ea typeface="Calibri" pitchFamily="34" charset="-122"/>
                <a:cs typeface="Calibri" pitchFamily="34" charset="-120"/>
              </a:rPr>
              <a:t>ROI positivo a los 15 meses  </a:t>
            </a:r>
            <a:r>
              <a:rPr lang="en-US" sz="1600" b="1" dirty="0">
                <a:solidFill>
                  <a:srgbClr val="FBBF24"/>
                </a:solidFill>
                <a:latin typeface="Calibri" pitchFamily="34" charset="0"/>
                <a:ea typeface="Calibri" pitchFamily="34" charset="-122"/>
                <a:cs typeface="Calibri" pitchFamily="34" charset="-120"/>
              </a:rPr>
              <a:t>✔  </a:t>
            </a:r>
            <a:r>
              <a:rPr lang="en-US" sz="1600" dirty="0">
                <a:solidFill>
                  <a:srgbClr val="E2E8F0"/>
                </a:solidFill>
                <a:latin typeface="Calibri" pitchFamily="34" charset="0"/>
                <a:ea typeface="Calibri" pitchFamily="34" charset="-122"/>
                <a:cs typeface="Calibri" pitchFamily="34" charset="-120"/>
              </a:rPr>
              <a:t>Auditoría sin hallazgos en Q1</a:t>
            </a:r>
            <a:endParaRPr lang="en-US" sz="1600" dirty="0"/>
          </a:p>
        </p:txBody>
      </p:sp>
      <p:sp>
        <p:nvSpPr>
          <p:cNvPr id="37" name="CuadroTexto 36">
            <a:extLst>
              <a:ext uri="{FF2B5EF4-FFF2-40B4-BE49-F238E27FC236}">
                <a16:creationId xmlns:a16="http://schemas.microsoft.com/office/drawing/2014/main" id="{BE12C5AD-CE24-07CD-E3C4-81BAC86A4627}"/>
              </a:ext>
            </a:extLst>
          </p:cNvPr>
          <p:cNvSpPr txBox="1"/>
          <p:nvPr/>
        </p:nvSpPr>
        <p:spPr>
          <a:xfrm>
            <a:off x="196596" y="1379560"/>
            <a:ext cx="5701284" cy="954107"/>
          </a:xfrm>
          <a:prstGeom prst="rect">
            <a:avLst/>
          </a:prstGeom>
          <a:noFill/>
        </p:spPr>
        <p:txBody>
          <a:bodyPr wrap="square" rtlCol="0">
            <a:spAutoFit/>
          </a:bodyPr>
          <a:lstStyle/>
          <a:p>
            <a:pPr algn="ctr"/>
            <a:r>
              <a:rPr lang="es-CL" sz="1400" b="1" dirty="0">
                <a:solidFill>
                  <a:schemeClr val="bg1"/>
                </a:solidFill>
              </a:rPr>
              <a:t>“Transformar la gestión de viáticos en una experiencia digital simple y confiable que libere a los colaboradores de procesos administrativos, garantice reembolsos oportunos y entregue a la organización mayor visibilidad del gasto para una mejor gestión financiera.”</a:t>
            </a:r>
            <a:endParaRPr lang="es-ES_tradnl" sz="1400" b="1"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11263"/>
            <a:ext cx="12106656" cy="914400"/>
          </a:xfrm>
          <a:prstGeom prst="rect">
            <a:avLst/>
          </a:prstGeom>
          <a:solidFill>
            <a:srgbClr val="0A1428"/>
          </a:solidFill>
          <a:ln w="12700">
            <a:solidFill>
              <a:srgbClr val="0A1428"/>
            </a:solidFill>
            <a:prstDash val="solid"/>
          </a:ln>
        </p:spPr>
        <p:txBody>
          <a:bodyPr/>
          <a:lstStyle/>
          <a:p>
            <a:endParaRPr lang="es-ES_tradnl" dirty="0"/>
          </a:p>
        </p:txBody>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1</a:t>
            </a:r>
            <a:endParaRPr lang="en-US" sz="800" dirty="0"/>
          </a:p>
        </p:txBody>
      </p:sp>
      <p:sp>
        <p:nvSpPr>
          <p:cNvPr id="6" name="Text 4"/>
          <p:cNvSpPr/>
          <p:nvPr/>
        </p:nvSpPr>
        <p:spPr>
          <a:xfrm>
            <a:off x="2331720" y="301859"/>
            <a:ext cx="10170804" cy="384048"/>
          </a:xfrm>
          <a:prstGeom prst="rect">
            <a:avLst/>
          </a:prstGeom>
          <a:noFill/>
          <a:ln/>
        </p:spPr>
        <p:txBody>
          <a:bodyPr wrap="square" lIns="0" tIns="0" rIns="0" bIns="0" rtlCol="0" anchor="ctr"/>
          <a:lstStyle/>
          <a:p>
            <a:pPr latinLnBrk="1"/>
            <a:r>
              <a:rPr lang="en-US" b="1" dirty="0">
                <a:solidFill>
                  <a:srgbClr val="FFFFFF"/>
                </a:solidFill>
                <a:latin typeface="Calibri" pitchFamily="34" charset="0"/>
                <a:ea typeface="Calibri" pitchFamily="34" charset="-122"/>
                <a:cs typeface="Calibri" pitchFamily="34" charset="-120"/>
              </a:rPr>
              <a:t>Visión del </a:t>
            </a:r>
            <a:r>
              <a:rPr lang="en-US" b="1" dirty="0" err="1">
                <a:solidFill>
                  <a:srgbClr val="FFFFFF"/>
                </a:solidFill>
                <a:latin typeface="Calibri" pitchFamily="34" charset="0"/>
                <a:ea typeface="Calibri" pitchFamily="34" charset="-122"/>
                <a:cs typeface="Calibri" pitchFamily="34" charset="-120"/>
              </a:rPr>
              <a:t>Producto</a:t>
            </a:r>
            <a:r>
              <a:rPr lang="en-US" b="1" dirty="0">
                <a:solidFill>
                  <a:srgbClr val="FFFFFF"/>
                </a:solidFill>
                <a:latin typeface="Calibri" pitchFamily="34" charset="0"/>
                <a:ea typeface="Calibri" pitchFamily="34" charset="-122"/>
                <a:cs typeface="Calibri" pitchFamily="34" charset="-120"/>
              </a:rPr>
              <a:t> – </a:t>
            </a:r>
            <a:r>
              <a:rPr lang="en-US" b="1" dirty="0" err="1">
                <a:solidFill>
                  <a:srgbClr val="FFFFFF"/>
                </a:solidFill>
                <a:latin typeface="Calibri" pitchFamily="34" charset="0"/>
                <a:ea typeface="Calibri" pitchFamily="34" charset="-122"/>
                <a:cs typeface="Calibri" pitchFamily="34" charset="-120"/>
              </a:rPr>
              <a:t>Nombre</a:t>
            </a:r>
            <a:r>
              <a:rPr lang="en-US" b="1" dirty="0">
                <a:solidFill>
                  <a:srgbClr val="FFFFFF"/>
                </a:solidFill>
                <a:latin typeface="Calibri" pitchFamily="34" charset="0"/>
                <a:ea typeface="Calibri" pitchFamily="34" charset="-122"/>
                <a:cs typeface="Calibri" pitchFamily="34" charset="-120"/>
              </a:rPr>
              <a:t> Proyecto : Expense
</a:t>
            </a:r>
            <a:r>
              <a:rPr lang="en-US" b="1" dirty="0">
                <a:solidFill>
                  <a:schemeClr val="bg1"/>
                </a:solidFill>
                <a:latin typeface="Calibri" pitchFamily="34" charset="0"/>
                <a:ea typeface="Calibri" pitchFamily="34" charset="-122"/>
                <a:cs typeface="Calibri" pitchFamily="34" charset="-120"/>
              </a:rPr>
              <a:t>Mobility System AI</a:t>
            </a:r>
            <a:endParaRPr lang="en-US" dirty="0">
              <a:solidFill>
                <a:schemeClr val="bg1"/>
              </a:solidFill>
            </a:endParaRPr>
          </a:p>
          <a:p>
            <a:pPr marL="0" indent="0" algn="l">
              <a:buNone/>
            </a:pPr>
            <a:endParaRPr lang="en-US"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000" i="1" dirty="0">
                <a:solidFill>
                  <a:srgbClr val="38BDF8"/>
                </a:solidFill>
                <a:latin typeface="Calibri" pitchFamily="34" charset="0"/>
                <a:ea typeface="Calibri" pitchFamily="34" charset="-122"/>
                <a:cs typeface="Calibri" pitchFamily="34" charset="-120"/>
              </a:rPr>
              <a:t>Características · Propuesta de Valor · Solución · Beneficios</a:t>
            </a:r>
            <a:endParaRPr lang="en-US" sz="10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Text 7"/>
          <p:cNvSpPr/>
          <p:nvPr/>
        </p:nvSpPr>
        <p:spPr>
          <a:xfrm>
            <a:off x="11091672" y="137160"/>
            <a:ext cx="914400" cy="566928"/>
          </a:xfrm>
          <a:prstGeom prst="rect">
            <a:avLst/>
          </a:prstGeom>
          <a:noFill/>
          <a:ln/>
        </p:spPr>
        <p:txBody>
          <a:bodyPr wrap="square" lIns="0" tIns="0" rIns="0" bIns="0" rtlCol="0" anchor="ctr"/>
          <a:lstStyle/>
          <a:p>
            <a:pPr marL="0" indent="0" algn="ctr">
              <a:buNone/>
            </a:pPr>
            <a:r>
              <a:rPr lang="en-US" sz="2200" b="1" dirty="0">
                <a:solidFill>
                  <a:srgbClr val="38BDF8"/>
                </a:solidFill>
                <a:latin typeface="Calibri" pitchFamily="34" charset="0"/>
                <a:ea typeface="Calibri" pitchFamily="34" charset="-122"/>
                <a:cs typeface="Calibri" pitchFamily="34" charset="-120"/>
              </a:rPr>
              <a:t>GSG</a:t>
            </a:r>
            <a:endParaRPr lang="en-US" sz="2200" dirty="0"/>
          </a:p>
        </p:txBody>
      </p:sp>
      <p:sp>
        <p:nvSpPr>
          <p:cNvPr id="10" name="Shape 8"/>
          <p:cNvSpPr/>
          <p:nvPr/>
        </p:nvSpPr>
        <p:spPr>
          <a:xfrm>
            <a:off x="0" y="6720840"/>
            <a:ext cx="12188952" cy="137160"/>
          </a:xfrm>
          <a:prstGeom prst="rect">
            <a:avLst/>
          </a:prstGeom>
          <a:solidFill>
            <a:srgbClr val="1246B3"/>
          </a:solidFill>
          <a:ln w="12700">
            <a:solidFill>
              <a:srgbClr val="1246B3"/>
            </a:solidFill>
            <a:prstDash val="solid"/>
          </a:ln>
        </p:spPr>
      </p:sp>
      <p:sp>
        <p:nvSpPr>
          <p:cNvPr id="11" name="Text 9"/>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14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1400" dirty="0"/>
          </a:p>
        </p:txBody>
      </p:sp>
      <p:sp>
        <p:nvSpPr>
          <p:cNvPr id="12" name="Shape 10"/>
          <p:cNvSpPr/>
          <p:nvPr/>
        </p:nvSpPr>
        <p:spPr>
          <a:xfrm>
            <a:off x="201168" y="1133856"/>
            <a:ext cx="5897880" cy="1764792"/>
          </a:xfrm>
          <a:prstGeom prst="rect">
            <a:avLst/>
          </a:prstGeom>
          <a:solidFill>
            <a:srgbClr val="0D1B3E"/>
          </a:solidFill>
          <a:ln w="12700">
            <a:solidFill>
              <a:srgbClr val="FBBF24"/>
            </a:solidFill>
            <a:prstDash val="solid"/>
          </a:ln>
        </p:spPr>
      </p:sp>
      <p:sp>
        <p:nvSpPr>
          <p:cNvPr id="13" name="Shape 11"/>
          <p:cNvSpPr/>
          <p:nvPr/>
        </p:nvSpPr>
        <p:spPr>
          <a:xfrm>
            <a:off x="201168" y="1005840"/>
            <a:ext cx="54864" cy="1764792"/>
          </a:xfrm>
          <a:prstGeom prst="rect">
            <a:avLst/>
          </a:prstGeom>
          <a:solidFill>
            <a:srgbClr val="FBBF24"/>
          </a:solidFill>
          <a:ln w="12700">
            <a:solidFill>
              <a:srgbClr val="FBBF24"/>
            </a:solidFill>
            <a:prstDash val="solid"/>
          </a:ln>
        </p:spPr>
      </p:sp>
      <p:sp>
        <p:nvSpPr>
          <p:cNvPr id="14" name="Text 12"/>
          <p:cNvSpPr/>
          <p:nvPr/>
        </p:nvSpPr>
        <p:spPr>
          <a:xfrm>
            <a:off x="292608" y="945177"/>
            <a:ext cx="5696712" cy="201168"/>
          </a:xfrm>
          <a:prstGeom prst="rect">
            <a:avLst/>
          </a:prstGeom>
          <a:noFill/>
          <a:ln/>
        </p:spPr>
        <p:txBody>
          <a:bodyPr wrap="square" lIns="0" tIns="0" rIns="0" bIns="0" rtlCol="0" anchor="ctr"/>
          <a:lstStyle/>
          <a:p>
            <a:pPr marL="0" indent="0">
              <a:buNone/>
            </a:pPr>
            <a:r>
              <a:rPr lang="en-US" sz="1400" b="1" kern="0" spc="120" dirty="0">
                <a:solidFill>
                  <a:srgbClr val="FBBF24"/>
                </a:solidFill>
                <a:latin typeface="Calibri" pitchFamily="34" charset="0"/>
                <a:ea typeface="Calibri" pitchFamily="34" charset="-122"/>
                <a:cs typeface="Calibri" pitchFamily="34" charset="-120"/>
              </a:rPr>
              <a:t>VISION &amp; SLOGAN</a:t>
            </a:r>
            <a:endParaRPr lang="en-US" sz="1400" dirty="0"/>
          </a:p>
        </p:txBody>
      </p:sp>
      <p:sp>
        <p:nvSpPr>
          <p:cNvPr id="15" name="Text 13"/>
          <p:cNvSpPr/>
          <p:nvPr/>
        </p:nvSpPr>
        <p:spPr>
          <a:xfrm>
            <a:off x="288036" y="1126831"/>
            <a:ext cx="5815584" cy="1691640"/>
          </a:xfrm>
          <a:prstGeom prst="rect">
            <a:avLst/>
          </a:prstGeom>
          <a:noFill/>
          <a:ln/>
        </p:spPr>
        <p:txBody>
          <a:bodyPr wrap="square" lIns="0" tIns="0" rIns="0" bIns="0" rtlCol="0" anchor="t"/>
          <a:lstStyle/>
          <a:p>
            <a:pPr marL="0" indent="0">
              <a:lnSpc>
                <a:spcPct val="120000"/>
              </a:lnSpc>
              <a:buNone/>
            </a:pPr>
            <a:r>
              <a:rPr lang="en-US" sz="1400" b="1" u="sng" dirty="0">
                <a:solidFill>
                  <a:srgbClr val="FFFFFF"/>
                </a:solidFill>
                <a:latin typeface="Calibri" pitchFamily="34" charset="0"/>
                <a:ea typeface="Calibri" pitchFamily="34" charset="-122"/>
                <a:cs typeface="Calibri" pitchFamily="34" charset="-120"/>
              </a:rPr>
              <a:t>Vision</a:t>
            </a:r>
          </a:p>
          <a:p>
            <a:pPr marL="0" indent="0" algn="ctr">
              <a:lnSpc>
                <a:spcPct val="120000"/>
              </a:lnSpc>
              <a:buNone/>
            </a:pPr>
            <a:endParaRPr lang="en-US" sz="1400" b="1" u="sng" dirty="0">
              <a:solidFill>
                <a:srgbClr val="FFFFFF"/>
              </a:solidFill>
              <a:latin typeface="Calibri" pitchFamily="34" charset="0"/>
              <a:ea typeface="Calibri" pitchFamily="34" charset="-122"/>
              <a:cs typeface="Calibri" pitchFamily="34" charset="-120"/>
            </a:endParaRPr>
          </a:p>
          <a:p>
            <a:pPr marL="0" indent="0" algn="ctr">
              <a:lnSpc>
                <a:spcPct val="120000"/>
              </a:lnSpc>
              <a:buNone/>
            </a:pPr>
            <a:endParaRPr lang="en-US" sz="1400" b="1" u="sng" dirty="0">
              <a:solidFill>
                <a:srgbClr val="FFFFFF"/>
              </a:solidFill>
              <a:latin typeface="Calibri" pitchFamily="34" charset="0"/>
              <a:ea typeface="Calibri" pitchFamily="34" charset="-122"/>
              <a:cs typeface="Calibri" pitchFamily="34" charset="-120"/>
            </a:endParaRPr>
          </a:p>
          <a:p>
            <a:pPr marL="0" indent="0" algn="ctr">
              <a:lnSpc>
                <a:spcPct val="120000"/>
              </a:lnSpc>
              <a:buNone/>
            </a:pPr>
            <a:endParaRPr lang="en-US" sz="1400" b="1" u="sng" dirty="0">
              <a:solidFill>
                <a:srgbClr val="FFFFFF"/>
              </a:solidFill>
              <a:latin typeface="Calibri" pitchFamily="34" charset="0"/>
              <a:ea typeface="Calibri" pitchFamily="34" charset="-122"/>
              <a:cs typeface="Calibri" pitchFamily="34" charset="-120"/>
            </a:endParaRPr>
          </a:p>
          <a:p>
            <a:pPr marL="0" indent="0" algn="ctr">
              <a:lnSpc>
                <a:spcPct val="120000"/>
              </a:lnSpc>
              <a:buNone/>
            </a:pPr>
            <a:endParaRPr lang="en-US" sz="1400" b="1" u="sng" dirty="0">
              <a:solidFill>
                <a:srgbClr val="FFFFFF"/>
              </a:solidFill>
              <a:latin typeface="Calibri" pitchFamily="34" charset="0"/>
              <a:ea typeface="Calibri" pitchFamily="34" charset="-122"/>
              <a:cs typeface="Calibri" pitchFamily="34" charset="-120"/>
            </a:endParaRPr>
          </a:p>
          <a:p>
            <a:pPr marL="0" indent="0" algn="ctr">
              <a:lnSpc>
                <a:spcPct val="120000"/>
              </a:lnSpc>
              <a:buNone/>
            </a:pPr>
            <a:r>
              <a:rPr lang="en-US" sz="1400" b="1" i="1" dirty="0">
                <a:solidFill>
                  <a:srgbClr val="93C5FD"/>
                </a:solidFill>
                <a:latin typeface="Calibri" pitchFamily="34" charset="0"/>
                <a:ea typeface="Calibri" pitchFamily="34" charset="-122"/>
                <a:cs typeface="Calibri" pitchFamily="34" charset="-120"/>
              </a:rPr>
              <a:t>"Menos tiempo </a:t>
            </a:r>
            <a:r>
              <a:rPr lang="en-US" sz="1400" b="1" i="1" dirty="0" err="1">
                <a:solidFill>
                  <a:srgbClr val="93C5FD"/>
                </a:solidFill>
                <a:latin typeface="Calibri" pitchFamily="34" charset="0"/>
                <a:ea typeface="Calibri" pitchFamily="34" charset="-122"/>
                <a:cs typeface="Calibri" pitchFamily="34" charset="-120"/>
              </a:rPr>
              <a:t>rindiendo</a:t>
            </a:r>
            <a:r>
              <a:rPr lang="en-US" sz="1400" b="1" i="1" dirty="0">
                <a:solidFill>
                  <a:srgbClr val="93C5FD"/>
                </a:solidFill>
                <a:latin typeface="Calibri" pitchFamily="34" charset="0"/>
                <a:ea typeface="Calibri" pitchFamily="34" charset="-122"/>
                <a:cs typeface="Calibri" pitchFamily="34" charset="-120"/>
              </a:rPr>
              <a:t> </a:t>
            </a:r>
            <a:r>
              <a:rPr lang="en-US" sz="1400" b="1" i="1" dirty="0" err="1">
                <a:solidFill>
                  <a:srgbClr val="93C5FD"/>
                </a:solidFill>
                <a:latin typeface="Calibri" pitchFamily="34" charset="0"/>
                <a:ea typeface="Calibri" pitchFamily="34" charset="-122"/>
                <a:cs typeface="Calibri" pitchFamily="34" charset="-120"/>
              </a:rPr>
              <a:t>cuentas</a:t>
            </a:r>
            <a:r>
              <a:rPr lang="en-US" sz="1400" b="1" i="1" dirty="0">
                <a:solidFill>
                  <a:srgbClr val="93C5FD"/>
                </a:solidFill>
                <a:latin typeface="Calibri" pitchFamily="34" charset="0"/>
                <a:ea typeface="Calibri" pitchFamily="34" charset="-122"/>
                <a:cs typeface="Calibri" pitchFamily="34" charset="-120"/>
              </a:rPr>
              <a:t>. Más tiempo aportando valor."</a:t>
            </a:r>
            <a:endParaRPr lang="en-US" sz="1400" b="1" dirty="0"/>
          </a:p>
        </p:txBody>
      </p:sp>
      <p:sp>
        <p:nvSpPr>
          <p:cNvPr id="16" name="Shape 14"/>
          <p:cNvSpPr/>
          <p:nvPr/>
        </p:nvSpPr>
        <p:spPr>
          <a:xfrm>
            <a:off x="201168" y="2862072"/>
            <a:ext cx="5897880" cy="1764792"/>
          </a:xfrm>
          <a:prstGeom prst="rect">
            <a:avLst/>
          </a:prstGeom>
          <a:solidFill>
            <a:srgbClr val="0D1B3E"/>
          </a:solidFill>
          <a:ln w="12700">
            <a:solidFill>
              <a:srgbClr val="38BDF8"/>
            </a:solidFill>
            <a:prstDash val="solid"/>
          </a:ln>
        </p:spPr>
      </p:sp>
      <p:sp>
        <p:nvSpPr>
          <p:cNvPr id="17" name="Shape 15"/>
          <p:cNvSpPr/>
          <p:nvPr/>
        </p:nvSpPr>
        <p:spPr>
          <a:xfrm>
            <a:off x="201168" y="2862072"/>
            <a:ext cx="54864" cy="1764792"/>
          </a:xfrm>
          <a:prstGeom prst="rect">
            <a:avLst/>
          </a:prstGeom>
          <a:solidFill>
            <a:srgbClr val="38BDF8"/>
          </a:solidFill>
          <a:ln w="12700">
            <a:solidFill>
              <a:srgbClr val="38BDF8"/>
            </a:solidFill>
            <a:prstDash val="solid"/>
          </a:ln>
        </p:spPr>
      </p:sp>
      <p:sp>
        <p:nvSpPr>
          <p:cNvPr id="18" name="Text 16"/>
          <p:cNvSpPr/>
          <p:nvPr/>
        </p:nvSpPr>
        <p:spPr>
          <a:xfrm>
            <a:off x="329184" y="2926080"/>
            <a:ext cx="5696712" cy="201168"/>
          </a:xfrm>
          <a:prstGeom prst="rect">
            <a:avLst/>
          </a:prstGeom>
          <a:noFill/>
          <a:ln/>
        </p:spPr>
        <p:txBody>
          <a:bodyPr wrap="square" lIns="0" tIns="0" rIns="0" bIns="0" rtlCol="0" anchor="ctr"/>
          <a:lstStyle/>
          <a:p>
            <a:pPr marL="0" indent="0">
              <a:buNone/>
            </a:pPr>
            <a:r>
              <a:rPr lang="en-US" sz="1400" b="1" kern="0" spc="120" dirty="0">
                <a:solidFill>
                  <a:srgbClr val="38BDF8"/>
                </a:solidFill>
                <a:latin typeface="Calibri" pitchFamily="34" charset="0"/>
                <a:ea typeface="Calibri" pitchFamily="34" charset="-122"/>
                <a:cs typeface="Calibri" pitchFamily="34" charset="-120"/>
              </a:rPr>
              <a:t>PROPUESTA DE VALOR</a:t>
            </a:r>
            <a:endParaRPr lang="en-US" sz="1400" dirty="0"/>
          </a:p>
        </p:txBody>
      </p:sp>
      <p:sp>
        <p:nvSpPr>
          <p:cNvPr id="19" name="Text 17"/>
          <p:cNvSpPr/>
          <p:nvPr/>
        </p:nvSpPr>
        <p:spPr>
          <a:xfrm>
            <a:off x="329184" y="3163824"/>
            <a:ext cx="5696712" cy="1399032"/>
          </a:xfrm>
          <a:prstGeom prst="rect">
            <a:avLst/>
          </a:prstGeom>
          <a:noFill/>
          <a:ln/>
        </p:spPr>
        <p:txBody>
          <a:bodyPr wrap="square" lIns="0" tIns="0" rIns="0" bIns="0" rtlCol="0" anchor="t"/>
          <a:lstStyle/>
          <a:p>
            <a:pPr marL="0" indent="0">
              <a:lnSpc>
                <a:spcPct val="120000"/>
              </a:lnSpc>
              <a:buNone/>
            </a:pPr>
            <a:r>
              <a:rPr lang="en-US" sz="1600" dirty="0">
                <a:solidFill>
                  <a:srgbClr val="E2E8F0"/>
                </a:solidFill>
                <a:latin typeface="Calibri" pitchFamily="34" charset="0"/>
                <a:ea typeface="Calibri" pitchFamily="34" charset="-122"/>
                <a:cs typeface="Calibri" pitchFamily="34" charset="-120"/>
              </a:rPr>
              <a:t>Eliminar el proceso manual de </a:t>
            </a:r>
            <a:r>
              <a:rPr lang="en-US" sz="1600" dirty="0" err="1">
                <a:solidFill>
                  <a:srgbClr val="E2E8F0"/>
                </a:solidFill>
                <a:latin typeface="Calibri" pitchFamily="34" charset="0"/>
                <a:ea typeface="Calibri" pitchFamily="34" charset="-122"/>
                <a:cs typeface="Calibri" pitchFamily="34" charset="-120"/>
              </a:rPr>
              <a:t>viáticos</a:t>
            </a:r>
            <a:r>
              <a:rPr lang="en-US" sz="1600" dirty="0">
                <a:solidFill>
                  <a:srgbClr val="E2E8F0"/>
                </a:solidFill>
                <a:latin typeface="Calibri" pitchFamily="34" charset="0"/>
                <a:ea typeface="Calibri" pitchFamily="34" charset="-122"/>
                <a:cs typeface="Calibri" pitchFamily="34" charset="-120"/>
              </a:rPr>
              <a:t> </a:t>
            </a:r>
            <a:r>
              <a:rPr lang="en-US" sz="1600" dirty="0" err="1">
                <a:solidFill>
                  <a:srgbClr val="E2E8F0"/>
                </a:solidFill>
                <a:latin typeface="Calibri" pitchFamily="34" charset="0"/>
                <a:ea typeface="Calibri" pitchFamily="34" charset="-122"/>
                <a:cs typeface="Calibri" pitchFamily="34" charset="-120"/>
              </a:rPr>
              <a:t>por</a:t>
            </a:r>
            <a:r>
              <a:rPr lang="en-US" sz="1600" dirty="0">
                <a:solidFill>
                  <a:srgbClr val="E2E8F0"/>
                </a:solidFill>
                <a:latin typeface="Calibri" pitchFamily="34" charset="0"/>
                <a:ea typeface="Calibri" pitchFamily="34" charset="-122"/>
                <a:cs typeface="Calibri" pitchFamily="34" charset="-120"/>
              </a:rPr>
              <a:t> un flujo 100% digital e inteligente que reduce errores en un 85%, libera horas de </a:t>
            </a:r>
            <a:r>
              <a:rPr lang="en-US" sz="1600" dirty="0" err="1">
                <a:solidFill>
                  <a:srgbClr val="E2E8F0"/>
                </a:solidFill>
                <a:latin typeface="Calibri" pitchFamily="34" charset="0"/>
                <a:ea typeface="Calibri" pitchFamily="34" charset="-122"/>
                <a:cs typeface="Calibri" pitchFamily="34" charset="-120"/>
              </a:rPr>
              <a:t>transportistas</a:t>
            </a:r>
            <a:r>
              <a:rPr lang="en-US" sz="1600" dirty="0">
                <a:solidFill>
                  <a:srgbClr val="E2E8F0"/>
                </a:solidFill>
                <a:latin typeface="Calibri" pitchFamily="34" charset="0"/>
                <a:ea typeface="Calibri" pitchFamily="34" charset="-122"/>
                <a:cs typeface="Calibri" pitchFamily="34" charset="-120"/>
              </a:rPr>
              <a:t>, </a:t>
            </a:r>
            <a:r>
              <a:rPr lang="en-US" sz="1600" dirty="0" err="1">
                <a:solidFill>
                  <a:srgbClr val="E2E8F0"/>
                </a:solidFill>
                <a:latin typeface="Calibri" pitchFamily="34" charset="0"/>
                <a:ea typeface="Calibri" pitchFamily="34" charset="-122"/>
                <a:cs typeface="Calibri" pitchFamily="34" charset="-120"/>
              </a:rPr>
              <a:t>analistas</a:t>
            </a:r>
            <a:r>
              <a:rPr lang="en-US" sz="1600" dirty="0">
                <a:solidFill>
                  <a:srgbClr val="E2E8F0"/>
                </a:solidFill>
                <a:latin typeface="Calibri" pitchFamily="34" charset="0"/>
                <a:ea typeface="Calibri" pitchFamily="34" charset="-122"/>
                <a:cs typeface="Calibri" pitchFamily="34" charset="-120"/>
              </a:rPr>
              <a:t> y </a:t>
            </a:r>
            <a:r>
              <a:rPr lang="en-US" sz="1600" dirty="0" err="1">
                <a:solidFill>
                  <a:srgbClr val="E2E8F0"/>
                </a:solidFill>
                <a:latin typeface="Calibri" pitchFamily="34" charset="0"/>
                <a:ea typeface="Calibri" pitchFamily="34" charset="-122"/>
                <a:cs typeface="Calibri" pitchFamily="34" charset="-120"/>
              </a:rPr>
              <a:t>ademas</a:t>
            </a:r>
            <a:r>
              <a:rPr lang="en-US" sz="1600" dirty="0">
                <a:solidFill>
                  <a:srgbClr val="E2E8F0"/>
                </a:solidFill>
                <a:latin typeface="Calibri" pitchFamily="34" charset="0"/>
                <a:ea typeface="Calibri" pitchFamily="34" charset="-122"/>
                <a:cs typeface="Calibri" pitchFamily="34" charset="-120"/>
              </a:rPr>
              <a:t> genera ROI positivo en menos de 15 meses.</a:t>
            </a:r>
            <a:endParaRPr lang="en-US" sz="1600" dirty="0"/>
          </a:p>
        </p:txBody>
      </p:sp>
      <p:sp>
        <p:nvSpPr>
          <p:cNvPr id="20" name="Shape 18"/>
          <p:cNvSpPr/>
          <p:nvPr/>
        </p:nvSpPr>
        <p:spPr>
          <a:xfrm>
            <a:off x="201168" y="4718304"/>
            <a:ext cx="5897880" cy="1764792"/>
          </a:xfrm>
          <a:prstGeom prst="rect">
            <a:avLst/>
          </a:prstGeom>
          <a:solidFill>
            <a:srgbClr val="0D1B3E"/>
          </a:solidFill>
          <a:ln w="12700">
            <a:solidFill>
              <a:srgbClr val="1246B3"/>
            </a:solidFill>
            <a:prstDash val="solid"/>
          </a:ln>
        </p:spPr>
        <p:txBody>
          <a:bodyPr/>
          <a:lstStyle/>
          <a:p>
            <a:endParaRPr lang="es-ES_tradnl" dirty="0"/>
          </a:p>
        </p:txBody>
      </p:sp>
      <p:sp>
        <p:nvSpPr>
          <p:cNvPr id="21" name="Shape 19"/>
          <p:cNvSpPr/>
          <p:nvPr/>
        </p:nvSpPr>
        <p:spPr>
          <a:xfrm>
            <a:off x="201168" y="4718304"/>
            <a:ext cx="54864" cy="1764792"/>
          </a:xfrm>
          <a:prstGeom prst="rect">
            <a:avLst/>
          </a:prstGeom>
          <a:solidFill>
            <a:srgbClr val="1246B3"/>
          </a:solidFill>
          <a:ln w="12700">
            <a:solidFill>
              <a:srgbClr val="1246B3"/>
            </a:solidFill>
            <a:prstDash val="solid"/>
          </a:ln>
        </p:spPr>
      </p:sp>
      <p:sp>
        <p:nvSpPr>
          <p:cNvPr id="22" name="Text 20"/>
          <p:cNvSpPr/>
          <p:nvPr/>
        </p:nvSpPr>
        <p:spPr>
          <a:xfrm>
            <a:off x="329184" y="4782312"/>
            <a:ext cx="5696712" cy="201168"/>
          </a:xfrm>
          <a:prstGeom prst="rect">
            <a:avLst/>
          </a:prstGeom>
          <a:noFill/>
          <a:ln/>
        </p:spPr>
        <p:txBody>
          <a:bodyPr wrap="square" lIns="0" tIns="0" rIns="0" bIns="0" rtlCol="0" anchor="ctr"/>
          <a:lstStyle/>
          <a:p>
            <a:pPr marL="0" indent="0">
              <a:buNone/>
            </a:pPr>
            <a:r>
              <a:rPr lang="en-US" sz="1400" b="1" kern="0" spc="120" dirty="0">
                <a:solidFill>
                  <a:srgbClr val="1246B3"/>
                </a:solidFill>
                <a:latin typeface="Calibri" pitchFamily="34" charset="0"/>
                <a:ea typeface="Calibri" pitchFamily="34" charset="-122"/>
                <a:cs typeface="Calibri" pitchFamily="34" charset="-120"/>
              </a:rPr>
              <a:t>SOLUCIÓN</a:t>
            </a:r>
            <a:endParaRPr lang="en-US" sz="1400" dirty="0"/>
          </a:p>
        </p:txBody>
      </p:sp>
      <p:sp>
        <p:nvSpPr>
          <p:cNvPr id="23" name="Text 21"/>
          <p:cNvSpPr/>
          <p:nvPr/>
        </p:nvSpPr>
        <p:spPr>
          <a:xfrm>
            <a:off x="329184" y="5020056"/>
            <a:ext cx="5696712" cy="1399032"/>
          </a:xfrm>
          <a:prstGeom prst="rect">
            <a:avLst/>
          </a:prstGeom>
          <a:noFill/>
          <a:ln/>
        </p:spPr>
        <p:txBody>
          <a:bodyPr wrap="square" lIns="0" tIns="0" rIns="0" bIns="0" rtlCol="0" anchor="t"/>
          <a:lstStyle/>
          <a:p>
            <a:pPr marL="0" indent="0">
              <a:lnSpc>
                <a:spcPct val="120000"/>
              </a:lnSpc>
              <a:buNone/>
            </a:pPr>
            <a:r>
              <a:rPr lang="en-US" sz="1600" dirty="0">
                <a:solidFill>
                  <a:srgbClr val="E2E8F0"/>
                </a:solidFill>
                <a:latin typeface="Calibri" pitchFamily="34" charset="0"/>
                <a:ea typeface="Calibri" pitchFamily="34" charset="-122"/>
                <a:cs typeface="Calibri" pitchFamily="34" charset="-120"/>
              </a:rPr>
              <a:t>(1) Control en Origen – TCC Digital y reglas automáticas  (2) App y Rendición Digital con OCR + IA  (3) Gobierno del Gasto con workflow de excepciones  (4) Métricas, ROI y </a:t>
            </a:r>
            <a:r>
              <a:rPr lang="en-US" sz="1600" dirty="0" err="1">
                <a:solidFill>
                  <a:srgbClr val="E2E8F0"/>
                </a:solidFill>
                <a:latin typeface="Calibri" pitchFamily="34" charset="0"/>
                <a:ea typeface="Calibri" pitchFamily="34" charset="-122"/>
                <a:cs typeface="Calibri" pitchFamily="34" charset="-120"/>
              </a:rPr>
              <a:t>Escalabilidad</a:t>
            </a:r>
            <a:r>
              <a:rPr lang="en-US" sz="1600" dirty="0">
                <a:solidFill>
                  <a:srgbClr val="E2E8F0"/>
                </a:solidFill>
                <a:latin typeface="Calibri" pitchFamily="34" charset="0"/>
                <a:ea typeface="Calibri" pitchFamily="34" charset="-122"/>
                <a:cs typeface="Calibri" pitchFamily="34" charset="-120"/>
              </a:rPr>
              <a:t>  </a:t>
            </a:r>
            <a:endParaRPr lang="en-US" sz="1600" dirty="0"/>
          </a:p>
        </p:txBody>
      </p:sp>
      <p:sp>
        <p:nvSpPr>
          <p:cNvPr id="24" name="Shape 22"/>
          <p:cNvSpPr/>
          <p:nvPr/>
        </p:nvSpPr>
        <p:spPr>
          <a:xfrm>
            <a:off x="6309360" y="1005840"/>
            <a:ext cx="5897880" cy="1764792"/>
          </a:xfrm>
          <a:prstGeom prst="rect">
            <a:avLst/>
          </a:prstGeom>
          <a:solidFill>
            <a:srgbClr val="0D1B3E"/>
          </a:solidFill>
          <a:ln w="12700">
            <a:solidFill>
              <a:srgbClr val="A78BFA"/>
            </a:solidFill>
            <a:prstDash val="solid"/>
          </a:ln>
        </p:spPr>
      </p:sp>
      <p:sp>
        <p:nvSpPr>
          <p:cNvPr id="25" name="Shape 23"/>
          <p:cNvSpPr/>
          <p:nvPr/>
        </p:nvSpPr>
        <p:spPr>
          <a:xfrm>
            <a:off x="6309360" y="1005840"/>
            <a:ext cx="54864" cy="1764792"/>
          </a:xfrm>
          <a:prstGeom prst="rect">
            <a:avLst/>
          </a:prstGeom>
          <a:solidFill>
            <a:srgbClr val="A78BFA"/>
          </a:solidFill>
          <a:ln w="12700">
            <a:solidFill>
              <a:srgbClr val="A78BFA"/>
            </a:solidFill>
            <a:prstDash val="solid"/>
          </a:ln>
        </p:spPr>
      </p:sp>
      <p:sp>
        <p:nvSpPr>
          <p:cNvPr id="26" name="Text 24"/>
          <p:cNvSpPr/>
          <p:nvPr/>
        </p:nvSpPr>
        <p:spPr>
          <a:xfrm>
            <a:off x="6437376" y="1069848"/>
            <a:ext cx="5696712" cy="201168"/>
          </a:xfrm>
          <a:prstGeom prst="rect">
            <a:avLst/>
          </a:prstGeom>
          <a:noFill/>
          <a:ln/>
        </p:spPr>
        <p:txBody>
          <a:bodyPr wrap="square" lIns="0" tIns="0" rIns="0" bIns="0" rtlCol="0" anchor="ctr"/>
          <a:lstStyle/>
          <a:p>
            <a:pPr marL="0" indent="0">
              <a:buNone/>
            </a:pPr>
            <a:r>
              <a:rPr lang="en-US" sz="1400" b="1" kern="0" spc="120" dirty="0">
                <a:solidFill>
                  <a:srgbClr val="A78BFA"/>
                </a:solidFill>
                <a:latin typeface="Calibri" pitchFamily="34" charset="0"/>
                <a:ea typeface="Calibri" pitchFamily="34" charset="-122"/>
                <a:cs typeface="Calibri" pitchFamily="34" charset="-120"/>
              </a:rPr>
              <a:t>CARACTERÍSTICAS</a:t>
            </a:r>
            <a:endParaRPr lang="en-US" sz="1400" dirty="0"/>
          </a:p>
        </p:txBody>
      </p:sp>
      <p:sp>
        <p:nvSpPr>
          <p:cNvPr id="27" name="Text 25"/>
          <p:cNvSpPr/>
          <p:nvPr/>
        </p:nvSpPr>
        <p:spPr>
          <a:xfrm>
            <a:off x="6437376" y="1307592"/>
            <a:ext cx="5696712" cy="1399032"/>
          </a:xfrm>
          <a:prstGeom prst="rect">
            <a:avLst/>
          </a:prstGeom>
          <a:noFill/>
          <a:ln/>
        </p:spPr>
        <p:txBody>
          <a:bodyPr wrap="square" lIns="0" tIns="0" rIns="0" bIns="0" rtlCol="0" anchor="t"/>
          <a:lstStyle/>
          <a:p>
            <a:pPr marL="0" indent="0">
              <a:lnSpc>
                <a:spcPct val="120000"/>
              </a:lnSpc>
              <a:buNone/>
            </a:pPr>
            <a:r>
              <a:rPr lang="en-US" sz="1400" b="1" dirty="0">
                <a:solidFill>
                  <a:srgbClr val="A78BFA"/>
                </a:solidFill>
                <a:latin typeface="Calibri" pitchFamily="34" charset="0"/>
                <a:ea typeface="Calibri" pitchFamily="34" charset="-122"/>
                <a:cs typeface="Calibri" pitchFamily="34" charset="-120"/>
              </a:rPr>
              <a:t>✦  </a:t>
            </a:r>
            <a:r>
              <a:rPr lang="en-US" sz="1400" b="1" dirty="0">
                <a:solidFill>
                  <a:srgbClr val="E2E8F0"/>
                </a:solidFill>
                <a:latin typeface="Calibri" pitchFamily="34" charset="0"/>
                <a:ea typeface="Calibri" pitchFamily="34" charset="-122"/>
                <a:cs typeface="Calibri" pitchFamily="34" charset="-120"/>
              </a:rPr>
              <a:t>TCCD (</a:t>
            </a:r>
            <a:r>
              <a:rPr lang="es-ES_tradnl" sz="1400" b="1" dirty="0">
                <a:solidFill>
                  <a:srgbClr val="E2E8F0"/>
                </a:solidFill>
                <a:latin typeface="Calibri" pitchFamily="34" charset="0"/>
                <a:ea typeface="Calibri" pitchFamily="34" charset="-122"/>
                <a:cs typeface="Calibri" pitchFamily="34" charset="-120"/>
              </a:rPr>
              <a:t>Tarjeta</a:t>
            </a:r>
            <a:r>
              <a:rPr lang="en-US" sz="1400" b="1" dirty="0">
                <a:solidFill>
                  <a:srgbClr val="E2E8F0"/>
                </a:solidFill>
                <a:latin typeface="Calibri" pitchFamily="34" charset="0"/>
                <a:ea typeface="Calibri" pitchFamily="34" charset="-122"/>
                <a:cs typeface="Calibri" pitchFamily="34" charset="-120"/>
              </a:rPr>
              <a:t> de </a:t>
            </a:r>
            <a:r>
              <a:rPr lang="en-US" sz="1400" b="1" dirty="0" err="1">
                <a:solidFill>
                  <a:srgbClr val="E2E8F0"/>
                </a:solidFill>
                <a:latin typeface="Calibri" pitchFamily="34" charset="0"/>
                <a:ea typeface="Calibri" pitchFamily="34" charset="-122"/>
                <a:cs typeface="Calibri" pitchFamily="34" charset="-120"/>
              </a:rPr>
              <a:t>Credito</a:t>
            </a:r>
            <a:r>
              <a:rPr lang="en-US" sz="1400" b="1" dirty="0">
                <a:solidFill>
                  <a:srgbClr val="E2E8F0"/>
                </a:solidFill>
                <a:latin typeface="Calibri" pitchFamily="34" charset="0"/>
                <a:ea typeface="Calibri" pitchFamily="34" charset="-122"/>
                <a:cs typeface="Calibri" pitchFamily="34" charset="-120"/>
              </a:rPr>
              <a:t> </a:t>
            </a:r>
            <a:r>
              <a:rPr lang="en-US" sz="1400" b="1" dirty="0" err="1">
                <a:solidFill>
                  <a:srgbClr val="E2E8F0"/>
                </a:solidFill>
                <a:latin typeface="Calibri" pitchFamily="34" charset="0"/>
                <a:ea typeface="Calibri" pitchFamily="34" charset="-122"/>
                <a:cs typeface="Calibri" pitchFamily="34" charset="-120"/>
              </a:rPr>
              <a:t>Corporativa</a:t>
            </a:r>
            <a:r>
              <a:rPr lang="en-US" sz="1400" b="1" dirty="0">
                <a:solidFill>
                  <a:srgbClr val="E2E8F0"/>
                </a:solidFill>
                <a:latin typeface="Calibri" pitchFamily="34" charset="0"/>
                <a:ea typeface="Calibri" pitchFamily="34" charset="-122"/>
                <a:cs typeface="Calibri" pitchFamily="34" charset="-120"/>
              </a:rPr>
              <a:t> Digital) con </a:t>
            </a:r>
            <a:r>
              <a:rPr lang="en-US" sz="1400" b="1" dirty="0" err="1">
                <a:solidFill>
                  <a:srgbClr val="E2E8F0"/>
                </a:solidFill>
                <a:latin typeface="Calibri" pitchFamily="34" charset="0"/>
                <a:ea typeface="Calibri" pitchFamily="34" charset="-122"/>
                <a:cs typeface="Calibri" pitchFamily="34" charset="-120"/>
              </a:rPr>
              <a:t>límites</a:t>
            </a:r>
            <a:r>
              <a:rPr lang="en-US" sz="1400" b="1" dirty="0">
                <a:solidFill>
                  <a:srgbClr val="E2E8F0"/>
                </a:solidFill>
                <a:latin typeface="Calibri" pitchFamily="34" charset="0"/>
                <a:ea typeface="Calibri" pitchFamily="34" charset="-122"/>
                <a:cs typeface="Calibri" pitchFamily="34" charset="-120"/>
              </a:rPr>
              <a:t> </a:t>
            </a:r>
            <a:r>
              <a:rPr lang="es-ES_tradnl" sz="1400" b="1" dirty="0">
                <a:solidFill>
                  <a:srgbClr val="E2E8F0"/>
                </a:solidFill>
                <a:latin typeface="Calibri" pitchFamily="34" charset="0"/>
                <a:ea typeface="Calibri" pitchFamily="34" charset="-122"/>
                <a:cs typeface="Calibri" pitchFamily="34" charset="-120"/>
              </a:rPr>
              <a:t>establecidos</a:t>
            </a:r>
            <a:r>
              <a:rPr lang="en-US" sz="1400" b="1" dirty="0">
                <a:solidFill>
                  <a:srgbClr val="E2E8F0"/>
                </a:solidFill>
                <a:latin typeface="Calibri" pitchFamily="34" charset="0"/>
                <a:ea typeface="Calibri" pitchFamily="34" charset="-122"/>
                <a:cs typeface="Calibri" pitchFamily="34" charset="-120"/>
              </a:rPr>
              <a:t> </a:t>
            </a:r>
            <a:r>
              <a:rPr lang="en-US" sz="1400" b="1" dirty="0" err="1">
                <a:solidFill>
                  <a:srgbClr val="E2E8F0"/>
                </a:solidFill>
                <a:latin typeface="Calibri" pitchFamily="34" charset="0"/>
                <a:ea typeface="Calibri" pitchFamily="34" charset="-122"/>
                <a:cs typeface="Calibri" pitchFamily="34" charset="-120"/>
              </a:rPr>
              <a:t>en</a:t>
            </a:r>
            <a:r>
              <a:rPr lang="en-US" sz="1400" b="1" dirty="0">
                <a:solidFill>
                  <a:srgbClr val="E2E8F0"/>
                </a:solidFill>
                <a:latin typeface="Calibri" pitchFamily="34" charset="0"/>
                <a:ea typeface="Calibri" pitchFamily="34" charset="-122"/>
                <a:cs typeface="Calibri" pitchFamily="34" charset="-120"/>
              </a:rPr>
              <a:t> la </a:t>
            </a:r>
            <a:r>
              <a:rPr lang="es-ES_tradnl" sz="1400" b="1" dirty="0">
                <a:solidFill>
                  <a:srgbClr val="E2E8F0"/>
                </a:solidFill>
                <a:latin typeface="Calibri" pitchFamily="34" charset="0"/>
                <a:ea typeface="Calibri" pitchFamily="34" charset="-122"/>
                <a:cs typeface="Calibri" pitchFamily="34" charset="-120"/>
              </a:rPr>
              <a:t>política</a:t>
            </a:r>
            <a:r>
              <a:rPr lang="en-US" sz="1400" b="1" dirty="0">
                <a:solidFill>
                  <a:srgbClr val="E2E8F0"/>
                </a:solidFill>
                <a:latin typeface="Calibri" pitchFamily="34" charset="0"/>
                <a:ea typeface="Calibri" pitchFamily="34" charset="-122"/>
                <a:cs typeface="Calibri" pitchFamily="34" charset="-120"/>
              </a:rPr>
              <a:t> de </a:t>
            </a:r>
            <a:r>
              <a:rPr lang="en-US" sz="1400" b="1" dirty="0" err="1">
                <a:solidFill>
                  <a:srgbClr val="E2E8F0"/>
                </a:solidFill>
                <a:latin typeface="Calibri" pitchFamily="34" charset="0"/>
                <a:ea typeface="Calibri" pitchFamily="34" charset="-122"/>
                <a:cs typeface="Calibri" pitchFamily="34" charset="-120"/>
              </a:rPr>
              <a:t>viaticos</a:t>
            </a:r>
            <a:r>
              <a:rPr lang="en-US" sz="1400" b="1" dirty="0">
                <a:solidFill>
                  <a:srgbClr val="E2E8F0"/>
                </a:solidFill>
                <a:latin typeface="Calibri" pitchFamily="34" charset="0"/>
                <a:ea typeface="Calibri" pitchFamily="34" charset="-122"/>
                <a:cs typeface="Calibri" pitchFamily="34" charset="-120"/>
              </a:rPr>
              <a:t> y </a:t>
            </a:r>
            <a:r>
              <a:rPr lang="en-US" sz="1400" b="1" dirty="0" err="1">
                <a:solidFill>
                  <a:srgbClr val="E2E8F0"/>
                </a:solidFill>
                <a:latin typeface="Calibri" pitchFamily="34" charset="0"/>
                <a:ea typeface="Calibri" pitchFamily="34" charset="-122"/>
                <a:cs typeface="Calibri" pitchFamily="34" charset="-120"/>
              </a:rPr>
              <a:t>gastos</a:t>
            </a:r>
            <a:r>
              <a:rPr lang="en-US" sz="1400" b="1" dirty="0">
                <a:solidFill>
                  <a:srgbClr val="E2E8F0"/>
                </a:solidFill>
                <a:latin typeface="Calibri" pitchFamily="34" charset="0"/>
                <a:ea typeface="Calibri" pitchFamily="34" charset="-122"/>
                <a:cs typeface="Calibri" pitchFamily="34" charset="-120"/>
              </a:rPr>
              <a:t>.
</a:t>
            </a:r>
            <a:r>
              <a:rPr lang="en-US" sz="1400" b="1" dirty="0">
                <a:solidFill>
                  <a:srgbClr val="A78BFA"/>
                </a:solidFill>
                <a:latin typeface="Calibri" pitchFamily="34" charset="0"/>
                <a:ea typeface="Calibri" pitchFamily="34" charset="-122"/>
                <a:cs typeface="Calibri" pitchFamily="34" charset="-120"/>
              </a:rPr>
              <a:t>✦  </a:t>
            </a:r>
            <a:r>
              <a:rPr lang="en-US" sz="1400" b="1" dirty="0">
                <a:solidFill>
                  <a:srgbClr val="E2E8F0"/>
                </a:solidFill>
                <a:latin typeface="Calibri" pitchFamily="34" charset="0"/>
                <a:ea typeface="Calibri" pitchFamily="34" charset="-122"/>
                <a:cs typeface="Calibri" pitchFamily="34" charset="-120"/>
              </a:rPr>
              <a:t>App móvil con OCR e IA para clasificación de boletas
</a:t>
            </a:r>
            <a:r>
              <a:rPr lang="en-US" sz="1400" b="1" dirty="0">
                <a:solidFill>
                  <a:srgbClr val="A78BFA"/>
                </a:solidFill>
                <a:latin typeface="Calibri" pitchFamily="34" charset="0"/>
                <a:ea typeface="Calibri" pitchFamily="34" charset="-122"/>
                <a:cs typeface="Calibri" pitchFamily="34" charset="-120"/>
              </a:rPr>
              <a:t>✦  </a:t>
            </a:r>
            <a:r>
              <a:rPr lang="en-US" sz="1400" b="1" dirty="0" err="1">
                <a:solidFill>
                  <a:srgbClr val="E2E8F0"/>
                </a:solidFill>
                <a:latin typeface="Calibri" pitchFamily="34" charset="0"/>
                <a:ea typeface="Calibri" pitchFamily="34" charset="-122"/>
                <a:cs typeface="Calibri" pitchFamily="34" charset="-120"/>
              </a:rPr>
              <a:t>Aprobaciones</a:t>
            </a:r>
            <a:r>
              <a:rPr lang="en-US" sz="1400" b="1" dirty="0">
                <a:solidFill>
                  <a:srgbClr val="E2E8F0"/>
                </a:solidFill>
                <a:latin typeface="Calibri" pitchFamily="34" charset="0"/>
                <a:ea typeface="Calibri" pitchFamily="34" charset="-122"/>
                <a:cs typeface="Calibri" pitchFamily="34" charset="-120"/>
              </a:rPr>
              <a:t> con thresholds y workflows </a:t>
            </a:r>
            <a:r>
              <a:rPr lang="en-US" sz="1400" b="1" dirty="0" err="1">
                <a:solidFill>
                  <a:srgbClr val="E2E8F0"/>
                </a:solidFill>
                <a:latin typeface="Calibri" pitchFamily="34" charset="0"/>
                <a:ea typeface="Calibri" pitchFamily="34" charset="-122"/>
                <a:cs typeface="Calibri" pitchFamily="34" charset="-120"/>
              </a:rPr>
              <a:t>automatizados</a:t>
            </a:r>
            <a:r>
              <a:rPr lang="en-US" sz="1400" b="1" dirty="0">
                <a:solidFill>
                  <a:srgbClr val="E2E8F0"/>
                </a:solidFill>
                <a:latin typeface="Calibri" pitchFamily="34" charset="0"/>
                <a:ea typeface="Calibri" pitchFamily="34" charset="-122"/>
                <a:cs typeface="Calibri" pitchFamily="34" charset="-120"/>
              </a:rPr>
              <a:t>
</a:t>
            </a:r>
            <a:r>
              <a:rPr lang="en-US" sz="1400" b="1" dirty="0">
                <a:solidFill>
                  <a:srgbClr val="A78BFA"/>
                </a:solidFill>
                <a:latin typeface="Calibri" pitchFamily="34" charset="0"/>
                <a:ea typeface="Calibri" pitchFamily="34" charset="-122"/>
                <a:cs typeface="Calibri" pitchFamily="34" charset="-120"/>
              </a:rPr>
              <a:t>✦  </a:t>
            </a:r>
            <a:r>
              <a:rPr lang="en-US" sz="1400" b="1" dirty="0">
                <a:solidFill>
                  <a:srgbClr val="E2E8F0"/>
                </a:solidFill>
                <a:latin typeface="Calibri" pitchFamily="34" charset="0"/>
                <a:ea typeface="Calibri" pitchFamily="34" charset="-122"/>
                <a:cs typeface="Calibri" pitchFamily="34" charset="-120"/>
              </a:rPr>
              <a:t>Registro offline + Dashboard de métricas y ROI</a:t>
            </a:r>
            <a:endParaRPr lang="en-US" sz="1400" b="1" dirty="0"/>
          </a:p>
        </p:txBody>
      </p:sp>
      <p:sp>
        <p:nvSpPr>
          <p:cNvPr id="28" name="Shape 26"/>
          <p:cNvSpPr/>
          <p:nvPr/>
        </p:nvSpPr>
        <p:spPr>
          <a:xfrm>
            <a:off x="6309360" y="2862072"/>
            <a:ext cx="5897880" cy="1764792"/>
          </a:xfrm>
          <a:prstGeom prst="rect">
            <a:avLst/>
          </a:prstGeom>
          <a:solidFill>
            <a:srgbClr val="0D1B3E"/>
          </a:solidFill>
          <a:ln w="12700">
            <a:solidFill>
              <a:srgbClr val="34D399"/>
            </a:solidFill>
            <a:prstDash val="solid"/>
          </a:ln>
        </p:spPr>
      </p:sp>
      <p:sp>
        <p:nvSpPr>
          <p:cNvPr id="29" name="Shape 27"/>
          <p:cNvSpPr/>
          <p:nvPr/>
        </p:nvSpPr>
        <p:spPr>
          <a:xfrm>
            <a:off x="6309360" y="2862072"/>
            <a:ext cx="54864" cy="1764792"/>
          </a:xfrm>
          <a:prstGeom prst="rect">
            <a:avLst/>
          </a:prstGeom>
          <a:solidFill>
            <a:srgbClr val="34D399"/>
          </a:solidFill>
          <a:ln w="12700">
            <a:solidFill>
              <a:srgbClr val="34D399"/>
            </a:solidFill>
            <a:prstDash val="solid"/>
          </a:ln>
        </p:spPr>
      </p:sp>
      <p:sp>
        <p:nvSpPr>
          <p:cNvPr id="30" name="Text 28"/>
          <p:cNvSpPr/>
          <p:nvPr/>
        </p:nvSpPr>
        <p:spPr>
          <a:xfrm>
            <a:off x="6437376" y="2926080"/>
            <a:ext cx="5696712" cy="201168"/>
          </a:xfrm>
          <a:prstGeom prst="rect">
            <a:avLst/>
          </a:prstGeom>
          <a:noFill/>
          <a:ln/>
        </p:spPr>
        <p:txBody>
          <a:bodyPr wrap="square" lIns="0" tIns="0" rIns="0" bIns="0" rtlCol="0" anchor="ctr"/>
          <a:lstStyle/>
          <a:p>
            <a:pPr marL="0" indent="0">
              <a:buNone/>
            </a:pPr>
            <a:r>
              <a:rPr lang="en-US" sz="1400" b="1" kern="0" spc="120" dirty="0">
                <a:solidFill>
                  <a:srgbClr val="34D399"/>
                </a:solidFill>
                <a:latin typeface="Calibri" pitchFamily="34" charset="0"/>
                <a:ea typeface="Calibri" pitchFamily="34" charset="-122"/>
                <a:cs typeface="Calibri" pitchFamily="34" charset="-120"/>
              </a:rPr>
              <a:t>BENEFICIOS</a:t>
            </a:r>
            <a:endParaRPr lang="en-US" sz="1400" dirty="0"/>
          </a:p>
        </p:txBody>
      </p:sp>
      <p:sp>
        <p:nvSpPr>
          <p:cNvPr id="31" name="Text 29"/>
          <p:cNvSpPr/>
          <p:nvPr/>
        </p:nvSpPr>
        <p:spPr>
          <a:xfrm>
            <a:off x="6437376" y="3163824"/>
            <a:ext cx="5696712" cy="1399032"/>
          </a:xfrm>
          <a:prstGeom prst="rect">
            <a:avLst/>
          </a:prstGeom>
          <a:noFill/>
          <a:ln/>
        </p:spPr>
        <p:txBody>
          <a:bodyPr wrap="square" lIns="0" tIns="0" rIns="0" bIns="0" rtlCol="0" anchor="t"/>
          <a:lstStyle/>
          <a:p>
            <a:pPr marL="0" indent="0">
              <a:lnSpc>
                <a:spcPct val="120000"/>
              </a:lnSpc>
              <a:buNone/>
            </a:pPr>
            <a:r>
              <a:rPr lang="en-US" sz="1600" dirty="0">
                <a:solidFill>
                  <a:srgbClr val="E2E8F0"/>
                </a:solidFill>
                <a:latin typeface="Calibri" pitchFamily="34" charset="0"/>
                <a:ea typeface="Calibri" pitchFamily="34" charset="-122"/>
                <a:cs typeface="Calibri" pitchFamily="34" charset="-120"/>
              </a:rPr>
              <a:t>Ahorro mensual neto $2.810.000  ·  Payback 14,2 meses  ·  ROI +68,6% a 24 meses  ·  Reducción errores y retrabajo  ·  Liberación de analistas  ·  Trazabilidad y auditabilidad completa.</a:t>
            </a:r>
            <a:endParaRPr lang="en-US" sz="1600" dirty="0"/>
          </a:p>
        </p:txBody>
      </p:sp>
      <p:sp>
        <p:nvSpPr>
          <p:cNvPr id="32" name="Shape 30"/>
          <p:cNvSpPr/>
          <p:nvPr/>
        </p:nvSpPr>
        <p:spPr>
          <a:xfrm>
            <a:off x="6309360" y="4718304"/>
            <a:ext cx="5897880" cy="1764792"/>
          </a:xfrm>
          <a:prstGeom prst="rect">
            <a:avLst/>
          </a:prstGeom>
          <a:solidFill>
            <a:srgbClr val="0D1B3E"/>
          </a:solidFill>
          <a:ln w="12700">
            <a:solidFill>
              <a:srgbClr val="FBBF24"/>
            </a:solidFill>
            <a:prstDash val="solid"/>
          </a:ln>
        </p:spPr>
      </p:sp>
      <p:sp>
        <p:nvSpPr>
          <p:cNvPr id="33" name="Shape 31"/>
          <p:cNvSpPr/>
          <p:nvPr/>
        </p:nvSpPr>
        <p:spPr>
          <a:xfrm>
            <a:off x="6309360" y="4718304"/>
            <a:ext cx="54864" cy="1764792"/>
          </a:xfrm>
          <a:prstGeom prst="rect">
            <a:avLst/>
          </a:prstGeom>
          <a:solidFill>
            <a:srgbClr val="FBBF24"/>
          </a:solidFill>
          <a:ln w="12700">
            <a:solidFill>
              <a:srgbClr val="FBBF24"/>
            </a:solidFill>
            <a:prstDash val="solid"/>
          </a:ln>
        </p:spPr>
      </p:sp>
      <p:sp>
        <p:nvSpPr>
          <p:cNvPr id="34" name="Text 32"/>
          <p:cNvSpPr/>
          <p:nvPr/>
        </p:nvSpPr>
        <p:spPr>
          <a:xfrm>
            <a:off x="6437376" y="4782312"/>
            <a:ext cx="5696712" cy="201168"/>
          </a:xfrm>
          <a:prstGeom prst="rect">
            <a:avLst/>
          </a:prstGeom>
          <a:noFill/>
          <a:ln/>
        </p:spPr>
        <p:txBody>
          <a:bodyPr wrap="square" lIns="0" tIns="0" rIns="0" bIns="0" rtlCol="0" anchor="ctr"/>
          <a:lstStyle/>
          <a:p>
            <a:pPr marL="0" indent="0">
              <a:buNone/>
            </a:pPr>
            <a:r>
              <a:rPr lang="en-US" sz="1400" b="1" kern="0" spc="120" dirty="0">
                <a:solidFill>
                  <a:srgbClr val="FBBF24"/>
                </a:solidFill>
                <a:latin typeface="Calibri" pitchFamily="34" charset="0"/>
                <a:ea typeface="Calibri" pitchFamily="34" charset="-122"/>
                <a:cs typeface="Calibri" pitchFamily="34" charset="-120"/>
              </a:rPr>
              <a:t>CRITERIOS DE ÉXITO</a:t>
            </a:r>
            <a:endParaRPr lang="en-US" sz="1400" dirty="0"/>
          </a:p>
        </p:txBody>
      </p:sp>
      <p:sp>
        <p:nvSpPr>
          <p:cNvPr id="35" name="Text 33"/>
          <p:cNvSpPr/>
          <p:nvPr/>
        </p:nvSpPr>
        <p:spPr>
          <a:xfrm>
            <a:off x="6437376" y="5020056"/>
            <a:ext cx="5696712" cy="1399032"/>
          </a:xfrm>
          <a:prstGeom prst="rect">
            <a:avLst/>
          </a:prstGeom>
          <a:noFill/>
          <a:ln/>
        </p:spPr>
        <p:txBody>
          <a:bodyPr wrap="square" lIns="0" tIns="0" rIns="0" bIns="0" rtlCol="0" anchor="t"/>
          <a:lstStyle/>
          <a:p>
            <a:pPr marL="0" indent="0">
              <a:lnSpc>
                <a:spcPct val="120000"/>
              </a:lnSpc>
              <a:buNone/>
            </a:pPr>
            <a:r>
              <a:rPr lang="en-US" sz="1600" b="1" dirty="0">
                <a:solidFill>
                  <a:srgbClr val="FBBF24"/>
                </a:solidFill>
                <a:latin typeface="Calibri" pitchFamily="34" charset="0"/>
                <a:ea typeface="Calibri" pitchFamily="34" charset="-122"/>
                <a:cs typeface="Calibri" pitchFamily="34" charset="-120"/>
              </a:rPr>
              <a:t>✔  </a:t>
            </a:r>
            <a:r>
              <a:rPr lang="en-US" sz="1600" dirty="0">
                <a:solidFill>
                  <a:srgbClr val="E2E8F0"/>
                </a:solidFill>
                <a:latin typeface="Calibri" pitchFamily="34" charset="0"/>
                <a:ea typeface="Calibri" pitchFamily="34" charset="-122"/>
                <a:cs typeface="Calibri" pitchFamily="34" charset="-120"/>
              </a:rPr>
              <a:t>Piloto exitoso con 10 choferes en Sprint 3  </a:t>
            </a:r>
            <a:r>
              <a:rPr lang="en-US" sz="1600" b="1" dirty="0">
                <a:solidFill>
                  <a:srgbClr val="FBBF24"/>
                </a:solidFill>
                <a:latin typeface="Calibri" pitchFamily="34" charset="0"/>
                <a:ea typeface="Calibri" pitchFamily="34" charset="-122"/>
                <a:cs typeface="Calibri" pitchFamily="34" charset="-120"/>
              </a:rPr>
              <a:t>✔  </a:t>
            </a:r>
            <a:r>
              <a:rPr lang="en-US" sz="1600" dirty="0">
                <a:solidFill>
                  <a:srgbClr val="E2E8F0"/>
                </a:solidFill>
                <a:latin typeface="Calibri" pitchFamily="34" charset="0"/>
                <a:ea typeface="Calibri" pitchFamily="34" charset="-122"/>
                <a:cs typeface="Calibri" pitchFamily="34" charset="-120"/>
              </a:rPr>
              <a:t>Go-live total en Sprint 6
</a:t>
            </a:r>
            <a:r>
              <a:rPr lang="en-US" sz="1600" b="1" dirty="0">
                <a:solidFill>
                  <a:srgbClr val="FBBF24"/>
                </a:solidFill>
                <a:latin typeface="Calibri" pitchFamily="34" charset="0"/>
                <a:ea typeface="Calibri" pitchFamily="34" charset="-122"/>
                <a:cs typeface="Calibri" pitchFamily="34" charset="-120"/>
              </a:rPr>
              <a:t>✔  </a:t>
            </a:r>
            <a:r>
              <a:rPr lang="en-US" sz="1600" dirty="0">
                <a:solidFill>
                  <a:srgbClr val="E2E8F0"/>
                </a:solidFill>
                <a:latin typeface="Calibri" pitchFamily="34" charset="0"/>
                <a:ea typeface="Calibri" pitchFamily="34" charset="-122"/>
                <a:cs typeface="Calibri" pitchFamily="34" charset="-120"/>
              </a:rPr>
              <a:t>0 incidentes críticos  </a:t>
            </a:r>
            <a:r>
              <a:rPr lang="en-US" sz="1600" b="1" dirty="0">
                <a:solidFill>
                  <a:srgbClr val="FBBF24"/>
                </a:solidFill>
                <a:latin typeface="Calibri" pitchFamily="34" charset="0"/>
                <a:ea typeface="Calibri" pitchFamily="34" charset="-122"/>
                <a:cs typeface="Calibri" pitchFamily="34" charset="-120"/>
              </a:rPr>
              <a:t>✔  </a:t>
            </a:r>
            <a:r>
              <a:rPr lang="en-US" sz="1600" dirty="0">
                <a:solidFill>
                  <a:srgbClr val="E2E8F0"/>
                </a:solidFill>
                <a:latin typeface="Calibri" pitchFamily="34" charset="0"/>
                <a:ea typeface="Calibri" pitchFamily="34" charset="-122"/>
                <a:cs typeface="Calibri" pitchFamily="34" charset="-120"/>
              </a:rPr>
              <a:t>ROI positivo a los 15 meses  </a:t>
            </a:r>
            <a:r>
              <a:rPr lang="en-US" sz="1600" b="1" dirty="0">
                <a:solidFill>
                  <a:srgbClr val="FBBF24"/>
                </a:solidFill>
                <a:latin typeface="Calibri" pitchFamily="34" charset="0"/>
                <a:ea typeface="Calibri" pitchFamily="34" charset="-122"/>
                <a:cs typeface="Calibri" pitchFamily="34" charset="-120"/>
              </a:rPr>
              <a:t>✔  </a:t>
            </a:r>
            <a:r>
              <a:rPr lang="en-US" sz="1600" dirty="0">
                <a:solidFill>
                  <a:srgbClr val="E2E8F0"/>
                </a:solidFill>
                <a:latin typeface="Calibri" pitchFamily="34" charset="0"/>
                <a:ea typeface="Calibri" pitchFamily="34" charset="-122"/>
                <a:cs typeface="Calibri" pitchFamily="34" charset="-120"/>
              </a:rPr>
              <a:t>Auditoría sin hallazgos en Q1</a:t>
            </a:r>
            <a:endParaRPr lang="en-US" sz="1600" dirty="0"/>
          </a:p>
        </p:txBody>
      </p:sp>
      <p:sp>
        <p:nvSpPr>
          <p:cNvPr id="37" name="CuadroTexto 36">
            <a:extLst>
              <a:ext uri="{FF2B5EF4-FFF2-40B4-BE49-F238E27FC236}">
                <a16:creationId xmlns:a16="http://schemas.microsoft.com/office/drawing/2014/main" id="{BE12C5AD-CE24-07CD-E3C4-81BAC86A4627}"/>
              </a:ext>
            </a:extLst>
          </p:cNvPr>
          <p:cNvSpPr txBox="1"/>
          <p:nvPr/>
        </p:nvSpPr>
        <p:spPr>
          <a:xfrm>
            <a:off x="196596" y="1379560"/>
            <a:ext cx="5701284" cy="954107"/>
          </a:xfrm>
          <a:prstGeom prst="rect">
            <a:avLst/>
          </a:prstGeom>
          <a:noFill/>
        </p:spPr>
        <p:txBody>
          <a:bodyPr wrap="square" rtlCol="0">
            <a:spAutoFit/>
          </a:bodyPr>
          <a:lstStyle/>
          <a:p>
            <a:pPr algn="ctr"/>
            <a:r>
              <a:rPr lang="es-CL" sz="1400" b="1" dirty="0">
                <a:solidFill>
                  <a:schemeClr val="bg1"/>
                </a:solidFill>
              </a:rPr>
              <a:t>“Transformar la gestión de viáticos en una experiencia digital simple y confiable que libere a los colaboradores de procesos administrativos, garantice reembolsos oportunos y entregue a la organización mayor visibilidad del gasto para una mejor gestión financiera.”</a:t>
            </a:r>
            <a:endParaRPr lang="es-ES_tradnl" sz="1400" b="1" dirty="0">
              <a:solidFill>
                <a:schemeClr val="bg1"/>
              </a:solidFill>
            </a:endParaRPr>
          </a:p>
        </p:txBody>
      </p:sp>
    </p:spTree>
    <p:extLst>
      <p:ext uri="{BB962C8B-B14F-4D97-AF65-F5344CB8AC3E}">
        <p14:creationId xmlns:p14="http://schemas.microsoft.com/office/powerpoint/2010/main" val="1432421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2 – ROADMAP 1</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Proyecto General – Entregas de Valor</a:t>
            </a:r>
            <a:endParaRPr lang="en-US" sz="2100"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000" i="1" dirty="0">
                <a:solidFill>
                  <a:srgbClr val="38BDF8"/>
                </a:solidFill>
                <a:latin typeface="Calibri" pitchFamily="34" charset="0"/>
                <a:ea typeface="Calibri" pitchFamily="34" charset="-122"/>
                <a:cs typeface="Calibri" pitchFamily="34" charset="-120"/>
              </a:rPr>
              <a:t>Control en Origen · App · Gobierno del Gasto · Métricas y ROI</a:t>
            </a:r>
            <a:endParaRPr lang="en-US" sz="10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Shape 7"/>
          <p:cNvSpPr/>
          <p:nvPr/>
        </p:nvSpPr>
        <p:spPr>
          <a:xfrm>
            <a:off x="0" y="6720840"/>
            <a:ext cx="12188952" cy="137160"/>
          </a:xfrm>
          <a:prstGeom prst="rect">
            <a:avLst/>
          </a:prstGeom>
          <a:solidFill>
            <a:srgbClr val="1246B3"/>
          </a:solidFill>
          <a:ln w="12700">
            <a:solidFill>
              <a:srgbClr val="1246B3"/>
            </a:solidFill>
            <a:prstDash val="solid"/>
          </a:ln>
        </p:spPr>
      </p:sp>
      <p:sp>
        <p:nvSpPr>
          <p:cNvPr id="10" name="Text 8"/>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7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700" dirty="0"/>
          </a:p>
        </p:txBody>
      </p:sp>
      <p:graphicFrame>
        <p:nvGraphicFramePr>
          <p:cNvPr id="11" name="Table 0"/>
          <p:cNvGraphicFramePr>
            <a:graphicFrameLocks noGrp="1"/>
          </p:cNvGraphicFramePr>
          <p:nvPr>
            <p:extLst>
              <p:ext uri="{D42A27DB-BD31-4B8C-83A1-F6EECF244321}">
                <p14:modId xmlns:p14="http://schemas.microsoft.com/office/powerpoint/2010/main" val="2258563060"/>
              </p:ext>
            </p:extLst>
          </p:nvPr>
        </p:nvGraphicFramePr>
        <p:xfrm>
          <a:off x="201166" y="1051560"/>
          <a:ext cx="11804906" cy="5257800"/>
        </p:xfrm>
        <a:graphic>
          <a:graphicData uri="http://schemas.openxmlformats.org/drawingml/2006/table">
            <a:tbl>
              <a:tblPr/>
              <a:tblGrid>
                <a:gridCol w="2318821">
                  <a:extLst>
                    <a:ext uri="{9D8B030D-6E8A-4147-A177-3AD203B41FA5}">
                      <a16:colId xmlns:a16="http://schemas.microsoft.com/office/drawing/2014/main" val="20000"/>
                    </a:ext>
                  </a:extLst>
                </a:gridCol>
                <a:gridCol w="1264811">
                  <a:extLst>
                    <a:ext uri="{9D8B030D-6E8A-4147-A177-3AD203B41FA5}">
                      <a16:colId xmlns:a16="http://schemas.microsoft.com/office/drawing/2014/main" val="20001"/>
                    </a:ext>
                  </a:extLst>
                </a:gridCol>
                <a:gridCol w="2635024">
                  <a:extLst>
                    <a:ext uri="{9D8B030D-6E8A-4147-A177-3AD203B41FA5}">
                      <a16:colId xmlns:a16="http://schemas.microsoft.com/office/drawing/2014/main" val="20002"/>
                    </a:ext>
                  </a:extLst>
                </a:gridCol>
                <a:gridCol w="2635024">
                  <a:extLst>
                    <a:ext uri="{9D8B030D-6E8A-4147-A177-3AD203B41FA5}">
                      <a16:colId xmlns:a16="http://schemas.microsoft.com/office/drawing/2014/main" val="20003"/>
                    </a:ext>
                  </a:extLst>
                </a:gridCol>
                <a:gridCol w="632405">
                  <a:extLst>
                    <a:ext uri="{9D8B030D-6E8A-4147-A177-3AD203B41FA5}">
                      <a16:colId xmlns:a16="http://schemas.microsoft.com/office/drawing/2014/main" val="20004"/>
                    </a:ext>
                  </a:extLst>
                </a:gridCol>
                <a:gridCol w="2318821">
                  <a:extLst>
                    <a:ext uri="{9D8B030D-6E8A-4147-A177-3AD203B41FA5}">
                      <a16:colId xmlns:a16="http://schemas.microsoft.com/office/drawing/2014/main" val="20005"/>
                    </a:ext>
                  </a:extLst>
                </a:gridCol>
              </a:tblGrid>
              <a:tr h="58420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Épicas</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Mes / Semana</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Lanzamiento / Iniciativa</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Resultado (Valor)</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Cap.</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Métrica de éxito</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extLst>
                  <a:ext uri="{0D108BD9-81ED-4DB2-BD59-A6C34878D82A}">
                    <a16:rowId xmlns:a16="http://schemas.microsoft.com/office/drawing/2014/main" val="10000"/>
                  </a:ext>
                </a:extLst>
              </a:tr>
              <a:tr h="584200">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Épica 1: Control en Origen</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S1-S2 / Mes 1</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Configuracion TCC Digital + limites por cargo</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Choferes gestionan gastos sin adelantar dinero</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10 TCC activas; 1 transaccion exitosa c/u</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extLst>
                  <a:ext uri="{0D108BD9-81ED-4DB2-BD59-A6C34878D82A}">
                    <a16:rowId xmlns:a16="http://schemas.microsoft.com/office/drawing/2014/main" val="10001"/>
                  </a:ext>
                </a:extLst>
              </a:tr>
              <a:tr h="584200">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Épica 1: Control en Origen</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S3-S4 / Mes 2</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Motor de reglas + flujo aprobacion excepciones</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Control automatico del gasto; aprobacion &lt;2 min</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Bloqueo automatico &gt;110%; escalacion 24h</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extLst>
                  <a:ext uri="{0D108BD9-81ED-4DB2-BD59-A6C34878D82A}">
                    <a16:rowId xmlns:a16="http://schemas.microsoft.com/office/drawing/2014/main" val="10002"/>
                  </a:ext>
                </a:extLst>
              </a:tr>
              <a:tr h="584200">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Épica 2: App y Rendicion</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S3-S4 / Mes 2</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MVP App movil + API OCR con IA</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Rendicion digital sin planillas ni correos</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M</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Clasificacion &lt;30 seg; precision OCR &gt;=85%</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extLst>
                  <a:ext uri="{0D108BD9-81ED-4DB2-BD59-A6C34878D82A}">
                    <a16:rowId xmlns:a16="http://schemas.microsoft.com/office/drawing/2014/main" val="10003"/>
                  </a:ext>
                </a:extLst>
              </a:tr>
              <a:tr h="584200">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Épica 2: App y Rendicion</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S5 / Mes 3</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Modulo offline + sincronizacion automatica</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Colaboradores sin senal no pierden comprobantes</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M</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Hasta 50 gastos offline; sync &lt;=2 min</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extLst>
                  <a:ext uri="{0D108BD9-81ED-4DB2-BD59-A6C34878D82A}">
                    <a16:rowId xmlns:a16="http://schemas.microsoft.com/office/drawing/2014/main" val="10004"/>
                  </a:ext>
                </a:extLst>
              </a:tr>
              <a:tr h="584200">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Épica 3: Gobierno del Gasto</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S5 / Mes 3</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Dashboard excepciones + reporteria cumplimiento</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Gerentes visualizan gasto en tiempo real</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M</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100% excepciones trazadas con timestamp</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extLst>
                  <a:ext uri="{0D108BD9-81ED-4DB2-BD59-A6C34878D82A}">
                    <a16:rowId xmlns:a16="http://schemas.microsoft.com/office/drawing/2014/main" val="10005"/>
                  </a:ext>
                </a:extLst>
              </a:tr>
              <a:tr h="584200">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Épica 3: Gobierno del Gasto</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S6 / Mes 3</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Piloto 10 choferes + ajustes post-piloto</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Validacion funcional en produccion controlada</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0 incidentes criticos; NPS colaborador &gt;70</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extLst>
                  <a:ext uri="{0D108BD9-81ED-4DB2-BD59-A6C34878D82A}">
                    <a16:rowId xmlns:a16="http://schemas.microsoft.com/office/drawing/2014/main" val="10006"/>
                  </a:ext>
                </a:extLst>
              </a:tr>
              <a:tr h="584200">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Épica 4: Metricas y ROI</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S6 / Mes 3</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Go-live total + monitoreo de ROI</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Plataforma en produccion; beneficios realizados</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Payback &lt;15 meses; ROI 24m &gt;68%</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extLst>
                  <a:ext uri="{0D108BD9-81ED-4DB2-BD59-A6C34878D82A}">
                    <a16:rowId xmlns:a16="http://schemas.microsoft.com/office/drawing/2014/main" val="10007"/>
                  </a:ext>
                </a:extLst>
              </a:tr>
              <a:tr h="584200">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Épica 4: Metricas y ROI</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Q2 / Mes 4-6</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Escalabilidad a otras areas de la empresa</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Replicacion del modelo a nuevas unidades</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 migracion nuevas areas; usuarios activos</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3A6B"/>
          </a:solidFill>
          <a:ln w="12700">
            <a:solidFill>
              <a:srgbClr val="1A3A6B"/>
            </a:solidFill>
            <a:prstDash val="solid"/>
          </a:ln>
        </p:spPr>
      </p:sp>
      <p:sp>
        <p:nvSpPr>
          <p:cNvPr id="3" name="Shape 1"/>
          <p:cNvSpPr/>
          <p:nvPr/>
        </p:nvSpPr>
        <p:spPr>
          <a:xfrm>
            <a:off x="201168" y="91440"/>
            <a:ext cx="1737360" cy="274320"/>
          </a:xfrm>
          <a:prstGeom prst="rect">
            <a:avLst/>
          </a:prstGeom>
          <a:solidFill>
            <a:srgbClr val="00B4D8"/>
          </a:solidFill>
          <a:ln w="12700">
            <a:solidFill>
              <a:srgbClr val="00B4D8"/>
            </a:solidFill>
            <a:prstDash val="solid"/>
          </a:ln>
        </p:spPr>
      </p:sp>
      <p:sp>
        <p:nvSpPr>
          <p:cNvPr id="4" name="Text 2"/>
          <p:cNvSpPr/>
          <p:nvPr/>
        </p:nvSpPr>
        <p:spPr>
          <a:xfrm>
            <a:off x="201168" y="91440"/>
            <a:ext cx="1737360" cy="274320"/>
          </a:xfrm>
          <a:prstGeom prst="rect">
            <a:avLst/>
          </a:prstGeom>
          <a:noFill/>
          <a:ln/>
        </p:spPr>
        <p:txBody>
          <a:bodyPr wrap="square" lIns="0" tIns="0" rIns="0" bIns="0" rtlCol="0" anchor="ctr"/>
          <a:lstStyle/>
          <a:p>
            <a:pPr marL="0" indent="0" algn="ctr">
              <a:buNone/>
            </a:pPr>
            <a:r>
              <a:rPr lang="en-US" sz="700" b="1" dirty="0">
                <a:solidFill>
                  <a:srgbClr val="0A1628"/>
                </a:solidFill>
              </a:rPr>
              <a:t>ENTREGABLE 2 – ROADMAP 1</a:t>
            </a:r>
            <a:endParaRPr lang="en-US" sz="700" dirty="0"/>
          </a:p>
        </p:txBody>
      </p:sp>
      <p:sp>
        <p:nvSpPr>
          <p:cNvPr id="5" name="Text 3"/>
          <p:cNvSpPr/>
          <p:nvPr/>
        </p:nvSpPr>
        <p:spPr>
          <a:xfrm>
            <a:off x="2057400" y="64008"/>
            <a:ext cx="5486400" cy="237744"/>
          </a:xfrm>
          <a:prstGeom prst="rect">
            <a:avLst/>
          </a:prstGeom>
          <a:noFill/>
          <a:ln/>
        </p:spPr>
        <p:txBody>
          <a:bodyPr wrap="square" lIns="0" tIns="0" rIns="0" bIns="0" rtlCol="0" anchor="ctr"/>
          <a:lstStyle/>
          <a:p>
            <a:pPr marL="0" indent="0">
              <a:buNone/>
            </a:pPr>
            <a:r>
              <a:rPr lang="en-US" sz="1600" b="1" dirty="0">
                <a:solidFill>
                  <a:srgbClr val="FFFFFF"/>
                </a:solidFill>
              </a:rPr>
              <a:t>Proyecto General – Entregas de Valor</a:t>
            </a:r>
            <a:endParaRPr lang="en-US" sz="1600" dirty="0"/>
          </a:p>
        </p:txBody>
      </p:sp>
      <p:sp>
        <p:nvSpPr>
          <p:cNvPr id="6" name="Text 4"/>
          <p:cNvSpPr/>
          <p:nvPr/>
        </p:nvSpPr>
        <p:spPr>
          <a:xfrm>
            <a:off x="2057400" y="310896"/>
            <a:ext cx="5486400" cy="146304"/>
          </a:xfrm>
          <a:prstGeom prst="rect">
            <a:avLst/>
          </a:prstGeom>
          <a:noFill/>
          <a:ln/>
        </p:spPr>
        <p:txBody>
          <a:bodyPr wrap="square" lIns="0" tIns="0" rIns="0" bIns="0" rtlCol="0" anchor="ctr"/>
          <a:lstStyle/>
          <a:p>
            <a:pPr marL="0" indent="0">
              <a:buNone/>
            </a:pPr>
            <a:r>
              <a:rPr lang="en-US" sz="800" i="1" dirty="0">
                <a:solidFill>
                  <a:srgbClr val="00B4D8"/>
                </a:solidFill>
              </a:rPr>
              <a:t>Roadmap Visual · Épicas · Feb–Sep 2026</a:t>
            </a:r>
            <a:endParaRPr lang="en-US" sz="800" dirty="0"/>
          </a:p>
        </p:txBody>
      </p:sp>
      <p:sp>
        <p:nvSpPr>
          <p:cNvPr id="7" name="Shape 5"/>
          <p:cNvSpPr/>
          <p:nvPr/>
        </p:nvSpPr>
        <p:spPr>
          <a:xfrm>
            <a:off x="320040" y="1051560"/>
            <a:ext cx="8503920" cy="54864"/>
          </a:xfrm>
          <a:prstGeom prst="rect">
            <a:avLst/>
          </a:prstGeom>
          <a:solidFill>
            <a:srgbClr val="1A3A6B"/>
          </a:solidFill>
          <a:ln w="12700">
            <a:solidFill>
              <a:srgbClr val="1A3A6B"/>
            </a:solidFill>
            <a:prstDash val="solid"/>
          </a:ln>
        </p:spPr>
      </p:sp>
      <p:sp>
        <p:nvSpPr>
          <p:cNvPr id="8" name="Shape 6"/>
          <p:cNvSpPr/>
          <p:nvPr/>
        </p:nvSpPr>
        <p:spPr>
          <a:xfrm>
            <a:off x="237744" y="996696"/>
            <a:ext cx="164592" cy="164592"/>
          </a:xfrm>
          <a:prstGeom prst="ellipse">
            <a:avLst/>
          </a:prstGeom>
          <a:solidFill>
            <a:srgbClr val="00B4D8"/>
          </a:solidFill>
          <a:ln w="19050">
            <a:solidFill>
              <a:srgbClr val="FFFFFF"/>
            </a:solidFill>
            <a:prstDash val="solid"/>
          </a:ln>
        </p:spPr>
      </p:sp>
      <p:sp>
        <p:nvSpPr>
          <p:cNvPr id="9" name="Shape 7"/>
          <p:cNvSpPr/>
          <p:nvPr/>
        </p:nvSpPr>
        <p:spPr>
          <a:xfrm>
            <a:off x="320040" y="1152144"/>
            <a:ext cx="0" cy="182880"/>
          </a:xfrm>
          <a:prstGeom prst="line">
            <a:avLst/>
          </a:prstGeom>
          <a:noFill/>
          <a:ln w="12700">
            <a:solidFill>
              <a:srgbClr val="00B4D8">
                <a:alpha val="60000"/>
              </a:srgbClr>
            </a:solidFill>
            <a:prstDash val="solid"/>
          </a:ln>
        </p:spPr>
      </p:sp>
      <p:sp>
        <p:nvSpPr>
          <p:cNvPr id="10" name="Text 8"/>
          <p:cNvSpPr/>
          <p:nvPr/>
        </p:nvSpPr>
        <p:spPr>
          <a:xfrm>
            <a:off x="-228600" y="1335024"/>
            <a:ext cx="1078992" cy="164592"/>
          </a:xfrm>
          <a:prstGeom prst="rect">
            <a:avLst/>
          </a:prstGeom>
          <a:noFill/>
          <a:ln/>
        </p:spPr>
        <p:txBody>
          <a:bodyPr wrap="square" lIns="0" tIns="0" rIns="0" bIns="0" rtlCol="0" anchor="ctr"/>
          <a:lstStyle/>
          <a:p>
            <a:pPr marL="0" indent="0" algn="ctr">
              <a:buNone/>
            </a:pPr>
            <a:r>
              <a:rPr lang="en-US" sz="800" b="1" dirty="0">
                <a:solidFill>
                  <a:srgbClr val="00B4D8"/>
                </a:solidFill>
              </a:rPr>
              <a:t>FEB 2026</a:t>
            </a:r>
            <a:endParaRPr lang="en-US" sz="800" dirty="0"/>
          </a:p>
        </p:txBody>
      </p:sp>
      <p:sp>
        <p:nvSpPr>
          <p:cNvPr id="11" name="Text 9"/>
          <p:cNvSpPr/>
          <p:nvPr/>
        </p:nvSpPr>
        <p:spPr>
          <a:xfrm>
            <a:off x="-228600" y="1481328"/>
            <a:ext cx="1078992" cy="128016"/>
          </a:xfrm>
          <a:prstGeom prst="rect">
            <a:avLst/>
          </a:prstGeom>
          <a:noFill/>
          <a:ln/>
        </p:spPr>
        <p:txBody>
          <a:bodyPr wrap="square" lIns="0" tIns="0" rIns="0" bIns="0" rtlCol="0" anchor="ctr"/>
          <a:lstStyle/>
          <a:p>
            <a:pPr marL="0" indent="0" algn="ctr">
              <a:buNone/>
            </a:pPr>
            <a:r>
              <a:rPr lang="en-US" sz="650" dirty="0">
                <a:solidFill>
                  <a:srgbClr val="8899AA"/>
                </a:solidFill>
              </a:rPr>
              <a:t>Sprint 0–1</a:t>
            </a:r>
            <a:endParaRPr lang="en-US" sz="650" dirty="0"/>
          </a:p>
        </p:txBody>
      </p:sp>
      <p:sp>
        <p:nvSpPr>
          <p:cNvPr id="12" name="Shape 10"/>
          <p:cNvSpPr/>
          <p:nvPr/>
        </p:nvSpPr>
        <p:spPr>
          <a:xfrm>
            <a:off x="2386584" y="996696"/>
            <a:ext cx="164592" cy="164592"/>
          </a:xfrm>
          <a:prstGeom prst="ellipse">
            <a:avLst/>
          </a:prstGeom>
          <a:solidFill>
            <a:srgbClr val="00B4D8"/>
          </a:solidFill>
          <a:ln w="19050">
            <a:solidFill>
              <a:srgbClr val="FFFFFF"/>
            </a:solidFill>
            <a:prstDash val="solid"/>
          </a:ln>
        </p:spPr>
      </p:sp>
      <p:sp>
        <p:nvSpPr>
          <p:cNvPr id="13" name="Shape 11"/>
          <p:cNvSpPr/>
          <p:nvPr/>
        </p:nvSpPr>
        <p:spPr>
          <a:xfrm>
            <a:off x="2468880" y="1152144"/>
            <a:ext cx="0" cy="182880"/>
          </a:xfrm>
          <a:prstGeom prst="line">
            <a:avLst/>
          </a:prstGeom>
          <a:noFill/>
          <a:ln w="12700">
            <a:solidFill>
              <a:srgbClr val="00B4D8">
                <a:alpha val="60000"/>
              </a:srgbClr>
            </a:solidFill>
            <a:prstDash val="solid"/>
          </a:ln>
        </p:spPr>
      </p:sp>
      <p:sp>
        <p:nvSpPr>
          <p:cNvPr id="14" name="Text 12"/>
          <p:cNvSpPr/>
          <p:nvPr/>
        </p:nvSpPr>
        <p:spPr>
          <a:xfrm>
            <a:off x="1920240" y="1335024"/>
            <a:ext cx="1078992" cy="164592"/>
          </a:xfrm>
          <a:prstGeom prst="rect">
            <a:avLst/>
          </a:prstGeom>
          <a:noFill/>
          <a:ln/>
        </p:spPr>
        <p:txBody>
          <a:bodyPr wrap="square" lIns="0" tIns="0" rIns="0" bIns="0" rtlCol="0" anchor="ctr"/>
          <a:lstStyle/>
          <a:p>
            <a:pPr marL="0" indent="0" algn="ctr">
              <a:buNone/>
            </a:pPr>
            <a:r>
              <a:rPr lang="en-US" sz="800" b="1" dirty="0">
                <a:solidFill>
                  <a:srgbClr val="00B4D8"/>
                </a:solidFill>
              </a:rPr>
              <a:t>MAR 2026</a:t>
            </a:r>
            <a:endParaRPr lang="en-US" sz="800" dirty="0"/>
          </a:p>
        </p:txBody>
      </p:sp>
      <p:sp>
        <p:nvSpPr>
          <p:cNvPr id="15" name="Text 13"/>
          <p:cNvSpPr/>
          <p:nvPr/>
        </p:nvSpPr>
        <p:spPr>
          <a:xfrm>
            <a:off x="1920240" y="1481328"/>
            <a:ext cx="1078992" cy="128016"/>
          </a:xfrm>
          <a:prstGeom prst="rect">
            <a:avLst/>
          </a:prstGeom>
          <a:noFill/>
          <a:ln/>
        </p:spPr>
        <p:txBody>
          <a:bodyPr wrap="square" lIns="0" tIns="0" rIns="0" bIns="0" rtlCol="0" anchor="ctr"/>
          <a:lstStyle/>
          <a:p>
            <a:pPr marL="0" indent="0" algn="ctr">
              <a:buNone/>
            </a:pPr>
            <a:r>
              <a:rPr lang="en-US" sz="650" dirty="0">
                <a:solidFill>
                  <a:srgbClr val="8899AA"/>
                </a:solidFill>
              </a:rPr>
              <a:t>Sprint 2–3</a:t>
            </a:r>
            <a:endParaRPr lang="en-US" sz="650" dirty="0"/>
          </a:p>
        </p:txBody>
      </p:sp>
      <p:sp>
        <p:nvSpPr>
          <p:cNvPr id="16" name="Shape 14"/>
          <p:cNvSpPr/>
          <p:nvPr/>
        </p:nvSpPr>
        <p:spPr>
          <a:xfrm>
            <a:off x="4535424" y="996696"/>
            <a:ext cx="164592" cy="164592"/>
          </a:xfrm>
          <a:prstGeom prst="ellipse">
            <a:avLst/>
          </a:prstGeom>
          <a:solidFill>
            <a:srgbClr val="00B4D8"/>
          </a:solidFill>
          <a:ln w="19050">
            <a:solidFill>
              <a:srgbClr val="FFFFFF"/>
            </a:solidFill>
            <a:prstDash val="solid"/>
          </a:ln>
        </p:spPr>
      </p:sp>
      <p:sp>
        <p:nvSpPr>
          <p:cNvPr id="17" name="Shape 15"/>
          <p:cNvSpPr/>
          <p:nvPr/>
        </p:nvSpPr>
        <p:spPr>
          <a:xfrm>
            <a:off x="4617720" y="1152144"/>
            <a:ext cx="0" cy="182880"/>
          </a:xfrm>
          <a:prstGeom prst="line">
            <a:avLst/>
          </a:prstGeom>
          <a:noFill/>
          <a:ln w="12700">
            <a:solidFill>
              <a:srgbClr val="00B4D8">
                <a:alpha val="60000"/>
              </a:srgbClr>
            </a:solidFill>
            <a:prstDash val="solid"/>
          </a:ln>
        </p:spPr>
      </p:sp>
      <p:sp>
        <p:nvSpPr>
          <p:cNvPr id="18" name="Text 16"/>
          <p:cNvSpPr/>
          <p:nvPr/>
        </p:nvSpPr>
        <p:spPr>
          <a:xfrm>
            <a:off x="4069080" y="1335024"/>
            <a:ext cx="1078992" cy="164592"/>
          </a:xfrm>
          <a:prstGeom prst="rect">
            <a:avLst/>
          </a:prstGeom>
          <a:noFill/>
          <a:ln/>
        </p:spPr>
        <p:txBody>
          <a:bodyPr wrap="square" lIns="0" tIns="0" rIns="0" bIns="0" rtlCol="0" anchor="ctr"/>
          <a:lstStyle/>
          <a:p>
            <a:pPr marL="0" indent="0" algn="ctr">
              <a:buNone/>
            </a:pPr>
            <a:r>
              <a:rPr lang="en-US" sz="800" b="1" dirty="0">
                <a:solidFill>
                  <a:srgbClr val="00B4D8"/>
                </a:solidFill>
              </a:rPr>
              <a:t>ABR 2026</a:t>
            </a:r>
            <a:endParaRPr lang="en-US" sz="800" dirty="0"/>
          </a:p>
        </p:txBody>
      </p:sp>
      <p:sp>
        <p:nvSpPr>
          <p:cNvPr id="19" name="Text 17"/>
          <p:cNvSpPr/>
          <p:nvPr/>
        </p:nvSpPr>
        <p:spPr>
          <a:xfrm>
            <a:off x="4069080" y="1481328"/>
            <a:ext cx="1078992" cy="128016"/>
          </a:xfrm>
          <a:prstGeom prst="rect">
            <a:avLst/>
          </a:prstGeom>
          <a:noFill/>
          <a:ln/>
        </p:spPr>
        <p:txBody>
          <a:bodyPr wrap="square" lIns="0" tIns="0" rIns="0" bIns="0" rtlCol="0" anchor="ctr"/>
          <a:lstStyle/>
          <a:p>
            <a:pPr marL="0" indent="0" algn="ctr">
              <a:buNone/>
            </a:pPr>
            <a:r>
              <a:rPr lang="en-US" sz="650" dirty="0">
                <a:solidFill>
                  <a:srgbClr val="8899AA"/>
                </a:solidFill>
              </a:rPr>
              <a:t>Sprint 4–5</a:t>
            </a:r>
            <a:endParaRPr lang="en-US" sz="650" dirty="0"/>
          </a:p>
        </p:txBody>
      </p:sp>
      <p:sp>
        <p:nvSpPr>
          <p:cNvPr id="20" name="Shape 18"/>
          <p:cNvSpPr/>
          <p:nvPr/>
        </p:nvSpPr>
        <p:spPr>
          <a:xfrm>
            <a:off x="6684264" y="996696"/>
            <a:ext cx="164592" cy="164592"/>
          </a:xfrm>
          <a:prstGeom prst="ellipse">
            <a:avLst/>
          </a:prstGeom>
          <a:solidFill>
            <a:srgbClr val="00B4D8"/>
          </a:solidFill>
          <a:ln w="19050">
            <a:solidFill>
              <a:srgbClr val="FFFFFF"/>
            </a:solidFill>
            <a:prstDash val="solid"/>
          </a:ln>
        </p:spPr>
      </p:sp>
      <p:sp>
        <p:nvSpPr>
          <p:cNvPr id="21" name="Shape 19"/>
          <p:cNvSpPr/>
          <p:nvPr/>
        </p:nvSpPr>
        <p:spPr>
          <a:xfrm>
            <a:off x="6766560" y="1152144"/>
            <a:ext cx="0" cy="182880"/>
          </a:xfrm>
          <a:prstGeom prst="line">
            <a:avLst/>
          </a:prstGeom>
          <a:noFill/>
          <a:ln w="12700">
            <a:solidFill>
              <a:srgbClr val="00B4D8">
                <a:alpha val="60000"/>
              </a:srgbClr>
            </a:solidFill>
            <a:prstDash val="solid"/>
          </a:ln>
        </p:spPr>
      </p:sp>
      <p:sp>
        <p:nvSpPr>
          <p:cNvPr id="22" name="Text 20"/>
          <p:cNvSpPr/>
          <p:nvPr/>
        </p:nvSpPr>
        <p:spPr>
          <a:xfrm>
            <a:off x="6217920" y="1335024"/>
            <a:ext cx="1078992" cy="164592"/>
          </a:xfrm>
          <a:prstGeom prst="rect">
            <a:avLst/>
          </a:prstGeom>
          <a:noFill/>
          <a:ln/>
        </p:spPr>
        <p:txBody>
          <a:bodyPr wrap="square" lIns="0" tIns="0" rIns="0" bIns="0" rtlCol="0" anchor="ctr"/>
          <a:lstStyle/>
          <a:p>
            <a:pPr marL="0" indent="0" algn="ctr">
              <a:buNone/>
            </a:pPr>
            <a:r>
              <a:rPr lang="en-US" sz="800" b="1" dirty="0">
                <a:solidFill>
                  <a:srgbClr val="00B4D8"/>
                </a:solidFill>
              </a:rPr>
              <a:t>MAY 2026</a:t>
            </a:r>
            <a:endParaRPr lang="en-US" sz="800" dirty="0"/>
          </a:p>
        </p:txBody>
      </p:sp>
      <p:sp>
        <p:nvSpPr>
          <p:cNvPr id="23" name="Text 21"/>
          <p:cNvSpPr/>
          <p:nvPr/>
        </p:nvSpPr>
        <p:spPr>
          <a:xfrm>
            <a:off x="6217920" y="1481328"/>
            <a:ext cx="1078992" cy="128016"/>
          </a:xfrm>
          <a:prstGeom prst="rect">
            <a:avLst/>
          </a:prstGeom>
          <a:noFill/>
          <a:ln/>
        </p:spPr>
        <p:txBody>
          <a:bodyPr wrap="square" lIns="0" tIns="0" rIns="0" bIns="0" rtlCol="0" anchor="ctr"/>
          <a:lstStyle/>
          <a:p>
            <a:pPr marL="0" indent="0" algn="ctr">
              <a:buNone/>
            </a:pPr>
            <a:r>
              <a:rPr lang="en-US" sz="650" dirty="0">
                <a:solidFill>
                  <a:srgbClr val="8899AA"/>
                </a:solidFill>
              </a:rPr>
              <a:t>Sprint 6</a:t>
            </a:r>
            <a:endParaRPr lang="en-US" sz="650" dirty="0"/>
          </a:p>
        </p:txBody>
      </p:sp>
      <p:sp>
        <p:nvSpPr>
          <p:cNvPr id="24" name="Shape 22"/>
          <p:cNvSpPr/>
          <p:nvPr/>
        </p:nvSpPr>
        <p:spPr>
          <a:xfrm>
            <a:off x="8055864" y="996696"/>
            <a:ext cx="164592" cy="164592"/>
          </a:xfrm>
          <a:prstGeom prst="ellipse">
            <a:avLst/>
          </a:prstGeom>
          <a:solidFill>
            <a:srgbClr val="00B4D8"/>
          </a:solidFill>
          <a:ln w="19050">
            <a:solidFill>
              <a:srgbClr val="FFFFFF"/>
            </a:solidFill>
            <a:prstDash val="solid"/>
          </a:ln>
        </p:spPr>
      </p:sp>
      <p:sp>
        <p:nvSpPr>
          <p:cNvPr id="25" name="Shape 23"/>
          <p:cNvSpPr/>
          <p:nvPr/>
        </p:nvSpPr>
        <p:spPr>
          <a:xfrm>
            <a:off x="8138160" y="1152144"/>
            <a:ext cx="0" cy="182880"/>
          </a:xfrm>
          <a:prstGeom prst="line">
            <a:avLst/>
          </a:prstGeom>
          <a:noFill/>
          <a:ln w="12700">
            <a:solidFill>
              <a:srgbClr val="00B4D8">
                <a:alpha val="60000"/>
              </a:srgbClr>
            </a:solidFill>
            <a:prstDash val="solid"/>
          </a:ln>
        </p:spPr>
      </p:sp>
      <p:sp>
        <p:nvSpPr>
          <p:cNvPr id="26" name="Text 24"/>
          <p:cNvSpPr/>
          <p:nvPr/>
        </p:nvSpPr>
        <p:spPr>
          <a:xfrm>
            <a:off x="7589520" y="1335024"/>
            <a:ext cx="1078992" cy="164592"/>
          </a:xfrm>
          <a:prstGeom prst="rect">
            <a:avLst/>
          </a:prstGeom>
          <a:noFill/>
          <a:ln/>
        </p:spPr>
        <p:txBody>
          <a:bodyPr wrap="square" lIns="0" tIns="0" rIns="0" bIns="0" rtlCol="0" anchor="ctr"/>
          <a:lstStyle/>
          <a:p>
            <a:pPr marL="0" indent="0" algn="ctr">
              <a:buNone/>
            </a:pPr>
            <a:r>
              <a:rPr lang="en-US" sz="800" b="1" dirty="0">
                <a:solidFill>
                  <a:srgbClr val="00B4D8"/>
                </a:solidFill>
              </a:rPr>
              <a:t>Q3–Q4</a:t>
            </a:r>
            <a:endParaRPr lang="en-US" sz="800" dirty="0"/>
          </a:p>
        </p:txBody>
      </p:sp>
      <p:sp>
        <p:nvSpPr>
          <p:cNvPr id="27" name="Text 25"/>
          <p:cNvSpPr/>
          <p:nvPr/>
        </p:nvSpPr>
        <p:spPr>
          <a:xfrm>
            <a:off x="7589520" y="1481328"/>
            <a:ext cx="1078992" cy="128016"/>
          </a:xfrm>
          <a:prstGeom prst="rect">
            <a:avLst/>
          </a:prstGeom>
          <a:noFill/>
          <a:ln/>
        </p:spPr>
        <p:txBody>
          <a:bodyPr wrap="square" lIns="0" tIns="0" rIns="0" bIns="0" rtlCol="0" anchor="ctr"/>
          <a:lstStyle/>
          <a:p>
            <a:pPr marL="0" indent="0" algn="ctr">
              <a:buNone/>
            </a:pPr>
            <a:r>
              <a:rPr lang="en-US" sz="650" dirty="0">
                <a:solidFill>
                  <a:srgbClr val="8899AA"/>
                </a:solidFill>
              </a:rPr>
              <a:t>Escalabilidad</a:t>
            </a:r>
            <a:endParaRPr lang="en-US" sz="650" dirty="0"/>
          </a:p>
        </p:txBody>
      </p:sp>
      <p:sp>
        <p:nvSpPr>
          <p:cNvPr id="28" name="Shape 26"/>
          <p:cNvSpPr/>
          <p:nvPr/>
        </p:nvSpPr>
        <p:spPr>
          <a:xfrm>
            <a:off x="320040" y="1920240"/>
            <a:ext cx="4114800" cy="566928"/>
          </a:xfrm>
          <a:prstGeom prst="rect">
            <a:avLst/>
          </a:prstGeom>
          <a:solidFill>
            <a:srgbClr val="0D2144"/>
          </a:solidFill>
          <a:ln w="19050">
            <a:solidFill>
              <a:srgbClr val="00B4D8"/>
            </a:solidFill>
            <a:prstDash val="solid"/>
          </a:ln>
          <a:effectLst>
            <a:outerShdw blurRad="127000" dist="38100" dir="8100000" algn="bl" rotWithShape="0">
              <a:srgbClr val="000000">
                <a:alpha val="25000"/>
              </a:srgbClr>
            </a:outerShdw>
          </a:effectLst>
        </p:spPr>
      </p:sp>
      <p:sp>
        <p:nvSpPr>
          <p:cNvPr id="29" name="Shape 27"/>
          <p:cNvSpPr/>
          <p:nvPr/>
        </p:nvSpPr>
        <p:spPr>
          <a:xfrm>
            <a:off x="320040" y="1920240"/>
            <a:ext cx="64008" cy="566928"/>
          </a:xfrm>
          <a:prstGeom prst="rect">
            <a:avLst/>
          </a:prstGeom>
          <a:solidFill>
            <a:srgbClr val="00B4D8"/>
          </a:solidFill>
          <a:ln w="12700">
            <a:solidFill>
              <a:srgbClr val="00B4D8"/>
            </a:solidFill>
            <a:prstDash val="solid"/>
          </a:ln>
        </p:spPr>
      </p:sp>
      <p:sp>
        <p:nvSpPr>
          <p:cNvPr id="30" name="Shape 28"/>
          <p:cNvSpPr/>
          <p:nvPr/>
        </p:nvSpPr>
        <p:spPr>
          <a:xfrm>
            <a:off x="429768" y="1984248"/>
            <a:ext cx="594360" cy="182880"/>
          </a:xfrm>
          <a:prstGeom prst="rect">
            <a:avLst/>
          </a:prstGeom>
          <a:solidFill>
            <a:srgbClr val="00B4D8"/>
          </a:solidFill>
          <a:ln w="12700">
            <a:solidFill>
              <a:srgbClr val="00B4D8"/>
            </a:solidFill>
            <a:prstDash val="solid"/>
          </a:ln>
        </p:spPr>
      </p:sp>
      <p:sp>
        <p:nvSpPr>
          <p:cNvPr id="31" name="Text 29"/>
          <p:cNvSpPr/>
          <p:nvPr/>
        </p:nvSpPr>
        <p:spPr>
          <a:xfrm>
            <a:off x="429768" y="1984248"/>
            <a:ext cx="594360" cy="182880"/>
          </a:xfrm>
          <a:prstGeom prst="rect">
            <a:avLst/>
          </a:prstGeom>
          <a:noFill/>
          <a:ln/>
        </p:spPr>
        <p:txBody>
          <a:bodyPr wrap="square" lIns="0" tIns="0" rIns="0" bIns="0" rtlCol="0" anchor="ctr"/>
          <a:lstStyle/>
          <a:p>
            <a:pPr marL="0" indent="0" algn="ctr">
              <a:buNone/>
            </a:pPr>
            <a:r>
              <a:rPr lang="en-US" sz="650" b="1" dirty="0">
                <a:solidFill>
                  <a:srgbClr val="0A1628"/>
                </a:solidFill>
              </a:rPr>
              <a:t>ÉPICA 1</a:t>
            </a:r>
            <a:endParaRPr lang="en-US" sz="650" dirty="0"/>
          </a:p>
        </p:txBody>
      </p:sp>
      <p:sp>
        <p:nvSpPr>
          <p:cNvPr id="32" name="Text 30"/>
          <p:cNvSpPr/>
          <p:nvPr/>
        </p:nvSpPr>
        <p:spPr>
          <a:xfrm>
            <a:off x="1069848" y="1984248"/>
            <a:ext cx="3246120" cy="182880"/>
          </a:xfrm>
          <a:prstGeom prst="rect">
            <a:avLst/>
          </a:prstGeom>
          <a:noFill/>
          <a:ln/>
        </p:spPr>
        <p:txBody>
          <a:bodyPr wrap="square" lIns="0" tIns="0" rIns="0" bIns="0" rtlCol="0" anchor="ctr"/>
          <a:lstStyle/>
          <a:p>
            <a:pPr marL="0" indent="0">
              <a:buNone/>
            </a:pPr>
            <a:r>
              <a:rPr lang="en-US" sz="900" b="1" dirty="0">
                <a:solidFill>
                  <a:srgbClr val="FFFFFF"/>
                </a:solidFill>
              </a:rPr>
              <a:t>Control en Origen</a:t>
            </a:r>
            <a:endParaRPr lang="en-US" sz="900" dirty="0"/>
          </a:p>
        </p:txBody>
      </p:sp>
      <p:sp>
        <p:nvSpPr>
          <p:cNvPr id="33" name="Shape 31"/>
          <p:cNvSpPr/>
          <p:nvPr/>
        </p:nvSpPr>
        <p:spPr>
          <a:xfrm>
            <a:off x="448056" y="2212848"/>
            <a:ext cx="64008" cy="64008"/>
          </a:xfrm>
          <a:prstGeom prst="ellipse">
            <a:avLst/>
          </a:prstGeom>
          <a:solidFill>
            <a:srgbClr val="00B4D8"/>
          </a:solidFill>
          <a:ln w="12700">
            <a:solidFill>
              <a:srgbClr val="00B4D8"/>
            </a:solidFill>
            <a:prstDash val="solid"/>
          </a:ln>
        </p:spPr>
      </p:sp>
      <p:sp>
        <p:nvSpPr>
          <p:cNvPr id="34" name="Text 32"/>
          <p:cNvSpPr/>
          <p:nvPr/>
        </p:nvSpPr>
        <p:spPr>
          <a:xfrm>
            <a:off x="557784" y="2194560"/>
            <a:ext cx="3767328" cy="146304"/>
          </a:xfrm>
          <a:prstGeom prst="rect">
            <a:avLst/>
          </a:prstGeom>
          <a:noFill/>
          <a:ln/>
        </p:spPr>
        <p:txBody>
          <a:bodyPr wrap="square" lIns="0" tIns="0" rIns="0" bIns="0" rtlCol="0" anchor="ctr"/>
          <a:lstStyle/>
          <a:p>
            <a:pPr marL="0" indent="0">
              <a:buNone/>
            </a:pPr>
            <a:r>
              <a:rPr lang="en-US" sz="750" dirty="0">
                <a:solidFill>
                  <a:srgbClr val="C8D8E8"/>
                </a:solidFill>
              </a:rPr>
              <a:t>TCC Digital + límites por cargo</a:t>
            </a:r>
            <a:endParaRPr lang="en-US" sz="750" dirty="0"/>
          </a:p>
        </p:txBody>
      </p:sp>
      <p:sp>
        <p:nvSpPr>
          <p:cNvPr id="35" name="Shape 33"/>
          <p:cNvSpPr/>
          <p:nvPr/>
        </p:nvSpPr>
        <p:spPr>
          <a:xfrm>
            <a:off x="448056" y="2359152"/>
            <a:ext cx="64008" cy="64008"/>
          </a:xfrm>
          <a:prstGeom prst="ellipse">
            <a:avLst/>
          </a:prstGeom>
          <a:solidFill>
            <a:srgbClr val="00B4D8"/>
          </a:solidFill>
          <a:ln w="12700">
            <a:solidFill>
              <a:srgbClr val="00B4D8"/>
            </a:solidFill>
            <a:prstDash val="solid"/>
          </a:ln>
        </p:spPr>
      </p:sp>
      <p:sp>
        <p:nvSpPr>
          <p:cNvPr id="36" name="Text 34"/>
          <p:cNvSpPr/>
          <p:nvPr/>
        </p:nvSpPr>
        <p:spPr>
          <a:xfrm>
            <a:off x="557784" y="2340864"/>
            <a:ext cx="3767328" cy="146304"/>
          </a:xfrm>
          <a:prstGeom prst="rect">
            <a:avLst/>
          </a:prstGeom>
          <a:noFill/>
          <a:ln/>
        </p:spPr>
        <p:txBody>
          <a:bodyPr wrap="square" lIns="0" tIns="0" rIns="0" bIns="0" rtlCol="0" anchor="ctr"/>
          <a:lstStyle/>
          <a:p>
            <a:pPr marL="0" indent="0">
              <a:buNone/>
            </a:pPr>
            <a:r>
              <a:rPr lang="en-US" sz="750" dirty="0">
                <a:solidFill>
                  <a:srgbClr val="C8D8E8"/>
                </a:solidFill>
              </a:rPr>
              <a:t>Motor de reglas + flujo aprobación excepciones</a:t>
            </a:r>
            <a:endParaRPr lang="en-US" sz="750" dirty="0"/>
          </a:p>
        </p:txBody>
      </p:sp>
      <p:sp>
        <p:nvSpPr>
          <p:cNvPr id="37" name="Shape 35"/>
          <p:cNvSpPr/>
          <p:nvPr/>
        </p:nvSpPr>
        <p:spPr>
          <a:xfrm>
            <a:off x="4434840" y="2203704"/>
            <a:ext cx="0" cy="91440"/>
          </a:xfrm>
          <a:prstGeom prst="line">
            <a:avLst/>
          </a:prstGeom>
          <a:noFill/>
          <a:ln w="12700">
            <a:solidFill>
              <a:srgbClr val="00B4D8">
                <a:alpha val="60000"/>
              </a:srgbClr>
            </a:solidFill>
            <a:prstDash val="dash"/>
          </a:ln>
        </p:spPr>
      </p:sp>
      <p:sp>
        <p:nvSpPr>
          <p:cNvPr id="38" name="Shape 36"/>
          <p:cNvSpPr/>
          <p:nvPr/>
        </p:nvSpPr>
        <p:spPr>
          <a:xfrm>
            <a:off x="2468880" y="2578608"/>
            <a:ext cx="4114800" cy="566928"/>
          </a:xfrm>
          <a:prstGeom prst="rect">
            <a:avLst/>
          </a:prstGeom>
          <a:solidFill>
            <a:srgbClr val="0D2144"/>
          </a:solidFill>
          <a:ln w="19050">
            <a:solidFill>
              <a:srgbClr val="F5A623"/>
            </a:solidFill>
            <a:prstDash val="solid"/>
          </a:ln>
          <a:effectLst>
            <a:outerShdw blurRad="127000" dist="38100" dir="8100000" algn="bl" rotWithShape="0">
              <a:srgbClr val="000000">
                <a:alpha val="25000"/>
              </a:srgbClr>
            </a:outerShdw>
          </a:effectLst>
        </p:spPr>
      </p:sp>
      <p:sp>
        <p:nvSpPr>
          <p:cNvPr id="39" name="Shape 37"/>
          <p:cNvSpPr/>
          <p:nvPr/>
        </p:nvSpPr>
        <p:spPr>
          <a:xfrm>
            <a:off x="2468880" y="2578608"/>
            <a:ext cx="64008" cy="566928"/>
          </a:xfrm>
          <a:prstGeom prst="rect">
            <a:avLst/>
          </a:prstGeom>
          <a:solidFill>
            <a:srgbClr val="F5A623"/>
          </a:solidFill>
          <a:ln w="12700">
            <a:solidFill>
              <a:srgbClr val="F5A623"/>
            </a:solidFill>
            <a:prstDash val="solid"/>
          </a:ln>
        </p:spPr>
      </p:sp>
      <p:sp>
        <p:nvSpPr>
          <p:cNvPr id="40" name="Shape 38"/>
          <p:cNvSpPr/>
          <p:nvPr/>
        </p:nvSpPr>
        <p:spPr>
          <a:xfrm>
            <a:off x="2578608" y="2642616"/>
            <a:ext cx="594360" cy="182880"/>
          </a:xfrm>
          <a:prstGeom prst="rect">
            <a:avLst/>
          </a:prstGeom>
          <a:solidFill>
            <a:srgbClr val="F5A623"/>
          </a:solidFill>
          <a:ln w="12700">
            <a:solidFill>
              <a:srgbClr val="F5A623"/>
            </a:solidFill>
            <a:prstDash val="solid"/>
          </a:ln>
        </p:spPr>
      </p:sp>
      <p:sp>
        <p:nvSpPr>
          <p:cNvPr id="41" name="Text 39"/>
          <p:cNvSpPr/>
          <p:nvPr/>
        </p:nvSpPr>
        <p:spPr>
          <a:xfrm>
            <a:off x="2578608" y="2642616"/>
            <a:ext cx="594360" cy="182880"/>
          </a:xfrm>
          <a:prstGeom prst="rect">
            <a:avLst/>
          </a:prstGeom>
          <a:noFill/>
          <a:ln/>
        </p:spPr>
        <p:txBody>
          <a:bodyPr wrap="square" lIns="0" tIns="0" rIns="0" bIns="0" rtlCol="0" anchor="ctr"/>
          <a:lstStyle/>
          <a:p>
            <a:pPr marL="0" indent="0" algn="ctr">
              <a:buNone/>
            </a:pPr>
            <a:r>
              <a:rPr lang="en-US" sz="650" b="1" dirty="0">
                <a:solidFill>
                  <a:srgbClr val="0A1628"/>
                </a:solidFill>
              </a:rPr>
              <a:t>ÉPICA 2</a:t>
            </a:r>
            <a:endParaRPr lang="en-US" sz="650" dirty="0"/>
          </a:p>
        </p:txBody>
      </p:sp>
      <p:sp>
        <p:nvSpPr>
          <p:cNvPr id="42" name="Text 40"/>
          <p:cNvSpPr/>
          <p:nvPr/>
        </p:nvSpPr>
        <p:spPr>
          <a:xfrm>
            <a:off x="3218688" y="2642616"/>
            <a:ext cx="3246120" cy="182880"/>
          </a:xfrm>
          <a:prstGeom prst="rect">
            <a:avLst/>
          </a:prstGeom>
          <a:noFill/>
          <a:ln/>
        </p:spPr>
        <p:txBody>
          <a:bodyPr wrap="square" lIns="0" tIns="0" rIns="0" bIns="0" rtlCol="0" anchor="ctr"/>
          <a:lstStyle/>
          <a:p>
            <a:pPr marL="0" indent="0">
              <a:buNone/>
            </a:pPr>
            <a:r>
              <a:rPr lang="en-US" sz="900" b="1" dirty="0">
                <a:solidFill>
                  <a:srgbClr val="FFFFFF"/>
                </a:solidFill>
              </a:rPr>
              <a:t>App y Rendición Digital</a:t>
            </a:r>
            <a:endParaRPr lang="en-US" sz="900" dirty="0"/>
          </a:p>
        </p:txBody>
      </p:sp>
      <p:sp>
        <p:nvSpPr>
          <p:cNvPr id="43" name="Shape 41"/>
          <p:cNvSpPr/>
          <p:nvPr/>
        </p:nvSpPr>
        <p:spPr>
          <a:xfrm>
            <a:off x="2596896" y="2871216"/>
            <a:ext cx="64008" cy="64008"/>
          </a:xfrm>
          <a:prstGeom prst="ellipse">
            <a:avLst/>
          </a:prstGeom>
          <a:solidFill>
            <a:srgbClr val="F5A623"/>
          </a:solidFill>
          <a:ln w="12700">
            <a:solidFill>
              <a:srgbClr val="F5A623"/>
            </a:solidFill>
            <a:prstDash val="solid"/>
          </a:ln>
        </p:spPr>
      </p:sp>
      <p:sp>
        <p:nvSpPr>
          <p:cNvPr id="44" name="Text 42"/>
          <p:cNvSpPr/>
          <p:nvPr/>
        </p:nvSpPr>
        <p:spPr>
          <a:xfrm>
            <a:off x="2706624" y="2852928"/>
            <a:ext cx="3767328" cy="146304"/>
          </a:xfrm>
          <a:prstGeom prst="rect">
            <a:avLst/>
          </a:prstGeom>
          <a:noFill/>
          <a:ln/>
        </p:spPr>
        <p:txBody>
          <a:bodyPr wrap="square" lIns="0" tIns="0" rIns="0" bIns="0" rtlCol="0" anchor="ctr"/>
          <a:lstStyle/>
          <a:p>
            <a:pPr marL="0" indent="0">
              <a:buNone/>
            </a:pPr>
            <a:r>
              <a:rPr lang="en-US" sz="750" dirty="0">
                <a:solidFill>
                  <a:srgbClr val="C8D8E8"/>
                </a:solidFill>
              </a:rPr>
              <a:t>MVP App móvil + API OCR con IA</a:t>
            </a:r>
            <a:endParaRPr lang="en-US" sz="750" dirty="0"/>
          </a:p>
        </p:txBody>
      </p:sp>
      <p:sp>
        <p:nvSpPr>
          <p:cNvPr id="45" name="Shape 43"/>
          <p:cNvSpPr/>
          <p:nvPr/>
        </p:nvSpPr>
        <p:spPr>
          <a:xfrm>
            <a:off x="2596896" y="3017520"/>
            <a:ext cx="64008" cy="64008"/>
          </a:xfrm>
          <a:prstGeom prst="ellipse">
            <a:avLst/>
          </a:prstGeom>
          <a:solidFill>
            <a:srgbClr val="F5A623"/>
          </a:solidFill>
          <a:ln w="12700">
            <a:solidFill>
              <a:srgbClr val="F5A623"/>
            </a:solidFill>
            <a:prstDash val="solid"/>
          </a:ln>
        </p:spPr>
      </p:sp>
      <p:sp>
        <p:nvSpPr>
          <p:cNvPr id="46" name="Text 44"/>
          <p:cNvSpPr/>
          <p:nvPr/>
        </p:nvSpPr>
        <p:spPr>
          <a:xfrm>
            <a:off x="2706624" y="2999232"/>
            <a:ext cx="3767328" cy="146304"/>
          </a:xfrm>
          <a:prstGeom prst="rect">
            <a:avLst/>
          </a:prstGeom>
          <a:noFill/>
          <a:ln/>
        </p:spPr>
        <p:txBody>
          <a:bodyPr wrap="square" lIns="0" tIns="0" rIns="0" bIns="0" rtlCol="0" anchor="ctr"/>
          <a:lstStyle/>
          <a:p>
            <a:pPr marL="0" indent="0">
              <a:buNone/>
            </a:pPr>
            <a:r>
              <a:rPr lang="en-US" sz="750" dirty="0">
                <a:solidFill>
                  <a:srgbClr val="C8D8E8"/>
                </a:solidFill>
              </a:rPr>
              <a:t>Módulo offline + sincronización automática</a:t>
            </a:r>
            <a:endParaRPr lang="en-US" sz="750" dirty="0"/>
          </a:p>
        </p:txBody>
      </p:sp>
      <p:sp>
        <p:nvSpPr>
          <p:cNvPr id="47" name="Shape 45"/>
          <p:cNvSpPr/>
          <p:nvPr/>
        </p:nvSpPr>
        <p:spPr>
          <a:xfrm>
            <a:off x="6583680" y="2862072"/>
            <a:ext cx="0" cy="91440"/>
          </a:xfrm>
          <a:prstGeom prst="line">
            <a:avLst/>
          </a:prstGeom>
          <a:noFill/>
          <a:ln w="12700">
            <a:solidFill>
              <a:srgbClr val="F5A623">
                <a:alpha val="60000"/>
              </a:srgbClr>
            </a:solidFill>
            <a:prstDash val="dash"/>
          </a:ln>
        </p:spPr>
      </p:sp>
      <p:sp>
        <p:nvSpPr>
          <p:cNvPr id="48" name="Shape 46"/>
          <p:cNvSpPr/>
          <p:nvPr/>
        </p:nvSpPr>
        <p:spPr>
          <a:xfrm>
            <a:off x="4617720" y="3236976"/>
            <a:ext cx="2377440" cy="566928"/>
          </a:xfrm>
          <a:prstGeom prst="rect">
            <a:avLst/>
          </a:prstGeom>
          <a:solidFill>
            <a:srgbClr val="0D2144"/>
          </a:solidFill>
          <a:ln w="19050">
            <a:solidFill>
              <a:srgbClr val="27AE60"/>
            </a:solidFill>
            <a:prstDash val="solid"/>
          </a:ln>
          <a:effectLst>
            <a:outerShdw blurRad="127000" dist="38100" dir="8100000" algn="bl" rotWithShape="0">
              <a:srgbClr val="000000">
                <a:alpha val="25000"/>
              </a:srgbClr>
            </a:outerShdw>
          </a:effectLst>
        </p:spPr>
      </p:sp>
      <p:sp>
        <p:nvSpPr>
          <p:cNvPr id="49" name="Shape 47"/>
          <p:cNvSpPr/>
          <p:nvPr/>
        </p:nvSpPr>
        <p:spPr>
          <a:xfrm>
            <a:off x="4617720" y="3236976"/>
            <a:ext cx="64008" cy="566928"/>
          </a:xfrm>
          <a:prstGeom prst="rect">
            <a:avLst/>
          </a:prstGeom>
          <a:solidFill>
            <a:srgbClr val="27AE60"/>
          </a:solidFill>
          <a:ln w="12700">
            <a:solidFill>
              <a:srgbClr val="27AE60"/>
            </a:solidFill>
            <a:prstDash val="solid"/>
          </a:ln>
        </p:spPr>
      </p:sp>
      <p:sp>
        <p:nvSpPr>
          <p:cNvPr id="50" name="Shape 48"/>
          <p:cNvSpPr/>
          <p:nvPr/>
        </p:nvSpPr>
        <p:spPr>
          <a:xfrm>
            <a:off x="4727448" y="3300984"/>
            <a:ext cx="594360" cy="182880"/>
          </a:xfrm>
          <a:prstGeom prst="rect">
            <a:avLst/>
          </a:prstGeom>
          <a:solidFill>
            <a:srgbClr val="27AE60"/>
          </a:solidFill>
          <a:ln w="12700">
            <a:solidFill>
              <a:srgbClr val="27AE60"/>
            </a:solidFill>
            <a:prstDash val="solid"/>
          </a:ln>
        </p:spPr>
      </p:sp>
      <p:sp>
        <p:nvSpPr>
          <p:cNvPr id="51" name="Text 49"/>
          <p:cNvSpPr/>
          <p:nvPr/>
        </p:nvSpPr>
        <p:spPr>
          <a:xfrm>
            <a:off x="4727448" y="3300984"/>
            <a:ext cx="594360" cy="182880"/>
          </a:xfrm>
          <a:prstGeom prst="rect">
            <a:avLst/>
          </a:prstGeom>
          <a:noFill/>
          <a:ln/>
        </p:spPr>
        <p:txBody>
          <a:bodyPr wrap="square" lIns="0" tIns="0" rIns="0" bIns="0" rtlCol="0" anchor="ctr"/>
          <a:lstStyle/>
          <a:p>
            <a:pPr marL="0" indent="0" algn="ctr">
              <a:buNone/>
            </a:pPr>
            <a:r>
              <a:rPr lang="en-US" sz="650" b="1" dirty="0">
                <a:solidFill>
                  <a:srgbClr val="0A1628"/>
                </a:solidFill>
              </a:rPr>
              <a:t>ÉPICA 3</a:t>
            </a:r>
            <a:endParaRPr lang="en-US" sz="650" dirty="0"/>
          </a:p>
        </p:txBody>
      </p:sp>
      <p:sp>
        <p:nvSpPr>
          <p:cNvPr id="52" name="Text 50"/>
          <p:cNvSpPr/>
          <p:nvPr/>
        </p:nvSpPr>
        <p:spPr>
          <a:xfrm>
            <a:off x="5367528" y="3300984"/>
            <a:ext cx="1508760" cy="182880"/>
          </a:xfrm>
          <a:prstGeom prst="rect">
            <a:avLst/>
          </a:prstGeom>
          <a:noFill/>
          <a:ln/>
        </p:spPr>
        <p:txBody>
          <a:bodyPr wrap="square" lIns="0" tIns="0" rIns="0" bIns="0" rtlCol="0" anchor="ctr"/>
          <a:lstStyle/>
          <a:p>
            <a:pPr marL="0" indent="0">
              <a:buNone/>
            </a:pPr>
            <a:r>
              <a:rPr lang="en-US" sz="900" b="1" dirty="0">
                <a:solidFill>
                  <a:srgbClr val="FFFFFF"/>
                </a:solidFill>
              </a:rPr>
              <a:t>Gobierno del Gasto</a:t>
            </a:r>
            <a:endParaRPr lang="en-US" sz="900" dirty="0"/>
          </a:p>
        </p:txBody>
      </p:sp>
      <p:sp>
        <p:nvSpPr>
          <p:cNvPr id="53" name="Shape 51"/>
          <p:cNvSpPr/>
          <p:nvPr/>
        </p:nvSpPr>
        <p:spPr>
          <a:xfrm>
            <a:off x="4745736" y="3529584"/>
            <a:ext cx="64008" cy="64008"/>
          </a:xfrm>
          <a:prstGeom prst="ellipse">
            <a:avLst/>
          </a:prstGeom>
          <a:solidFill>
            <a:srgbClr val="27AE60"/>
          </a:solidFill>
          <a:ln w="12700">
            <a:solidFill>
              <a:srgbClr val="27AE60"/>
            </a:solidFill>
            <a:prstDash val="solid"/>
          </a:ln>
        </p:spPr>
      </p:sp>
      <p:sp>
        <p:nvSpPr>
          <p:cNvPr id="54" name="Text 52"/>
          <p:cNvSpPr/>
          <p:nvPr/>
        </p:nvSpPr>
        <p:spPr>
          <a:xfrm>
            <a:off x="4855464" y="3511296"/>
            <a:ext cx="2029968" cy="146304"/>
          </a:xfrm>
          <a:prstGeom prst="rect">
            <a:avLst/>
          </a:prstGeom>
          <a:noFill/>
          <a:ln/>
        </p:spPr>
        <p:txBody>
          <a:bodyPr wrap="square" lIns="0" tIns="0" rIns="0" bIns="0" rtlCol="0" anchor="ctr"/>
          <a:lstStyle/>
          <a:p>
            <a:pPr marL="0" indent="0">
              <a:buNone/>
            </a:pPr>
            <a:r>
              <a:rPr lang="en-US" sz="750" dirty="0">
                <a:solidFill>
                  <a:srgbClr val="C8D8E8"/>
                </a:solidFill>
              </a:rPr>
              <a:t>Dashboard excepciones + reportería</a:t>
            </a:r>
            <a:endParaRPr lang="en-US" sz="750" dirty="0"/>
          </a:p>
        </p:txBody>
      </p:sp>
      <p:sp>
        <p:nvSpPr>
          <p:cNvPr id="55" name="Shape 53"/>
          <p:cNvSpPr/>
          <p:nvPr/>
        </p:nvSpPr>
        <p:spPr>
          <a:xfrm>
            <a:off x="4745736" y="3675888"/>
            <a:ext cx="64008" cy="64008"/>
          </a:xfrm>
          <a:prstGeom prst="ellipse">
            <a:avLst/>
          </a:prstGeom>
          <a:solidFill>
            <a:srgbClr val="27AE60"/>
          </a:solidFill>
          <a:ln w="12700">
            <a:solidFill>
              <a:srgbClr val="27AE60"/>
            </a:solidFill>
            <a:prstDash val="solid"/>
          </a:ln>
        </p:spPr>
      </p:sp>
      <p:sp>
        <p:nvSpPr>
          <p:cNvPr id="56" name="Text 54"/>
          <p:cNvSpPr/>
          <p:nvPr/>
        </p:nvSpPr>
        <p:spPr>
          <a:xfrm>
            <a:off x="4855464" y="3657600"/>
            <a:ext cx="2029968" cy="146304"/>
          </a:xfrm>
          <a:prstGeom prst="rect">
            <a:avLst/>
          </a:prstGeom>
          <a:noFill/>
          <a:ln/>
        </p:spPr>
        <p:txBody>
          <a:bodyPr wrap="square" lIns="0" tIns="0" rIns="0" bIns="0" rtlCol="0" anchor="ctr"/>
          <a:lstStyle/>
          <a:p>
            <a:pPr marL="0" indent="0">
              <a:buNone/>
            </a:pPr>
            <a:r>
              <a:rPr lang="en-US" sz="750" dirty="0">
                <a:solidFill>
                  <a:srgbClr val="C8D8E8"/>
                </a:solidFill>
              </a:rPr>
              <a:t>Piloto 10 choferes + ajustes post-piloto</a:t>
            </a:r>
            <a:endParaRPr lang="en-US" sz="750" dirty="0"/>
          </a:p>
        </p:txBody>
      </p:sp>
      <p:sp>
        <p:nvSpPr>
          <p:cNvPr id="57" name="Shape 55"/>
          <p:cNvSpPr/>
          <p:nvPr/>
        </p:nvSpPr>
        <p:spPr>
          <a:xfrm>
            <a:off x="6995160" y="3520440"/>
            <a:ext cx="0" cy="91440"/>
          </a:xfrm>
          <a:prstGeom prst="line">
            <a:avLst/>
          </a:prstGeom>
          <a:noFill/>
          <a:ln w="12700">
            <a:solidFill>
              <a:srgbClr val="27AE60">
                <a:alpha val="60000"/>
              </a:srgbClr>
            </a:solidFill>
            <a:prstDash val="dash"/>
          </a:ln>
        </p:spPr>
      </p:sp>
      <p:sp>
        <p:nvSpPr>
          <p:cNvPr id="58" name="Shape 56"/>
          <p:cNvSpPr/>
          <p:nvPr/>
        </p:nvSpPr>
        <p:spPr>
          <a:xfrm>
            <a:off x="6400800" y="3895344"/>
            <a:ext cx="2423160" cy="566928"/>
          </a:xfrm>
          <a:prstGeom prst="rect">
            <a:avLst/>
          </a:prstGeom>
          <a:solidFill>
            <a:srgbClr val="0D2144"/>
          </a:solidFill>
          <a:ln w="19050">
            <a:solidFill>
              <a:srgbClr val="7B2FBE"/>
            </a:solidFill>
            <a:prstDash val="solid"/>
          </a:ln>
          <a:effectLst>
            <a:outerShdw blurRad="127000" dist="38100" dir="8100000" algn="bl" rotWithShape="0">
              <a:srgbClr val="000000">
                <a:alpha val="25000"/>
              </a:srgbClr>
            </a:outerShdw>
          </a:effectLst>
        </p:spPr>
      </p:sp>
      <p:sp>
        <p:nvSpPr>
          <p:cNvPr id="59" name="Shape 57"/>
          <p:cNvSpPr/>
          <p:nvPr/>
        </p:nvSpPr>
        <p:spPr>
          <a:xfrm>
            <a:off x="6400800" y="3895344"/>
            <a:ext cx="64008" cy="566928"/>
          </a:xfrm>
          <a:prstGeom prst="rect">
            <a:avLst/>
          </a:prstGeom>
          <a:solidFill>
            <a:srgbClr val="7B2FBE"/>
          </a:solidFill>
          <a:ln w="12700">
            <a:solidFill>
              <a:srgbClr val="7B2FBE"/>
            </a:solidFill>
            <a:prstDash val="solid"/>
          </a:ln>
        </p:spPr>
      </p:sp>
      <p:sp>
        <p:nvSpPr>
          <p:cNvPr id="60" name="Shape 58"/>
          <p:cNvSpPr/>
          <p:nvPr/>
        </p:nvSpPr>
        <p:spPr>
          <a:xfrm>
            <a:off x="6510528" y="3959352"/>
            <a:ext cx="594360" cy="182880"/>
          </a:xfrm>
          <a:prstGeom prst="rect">
            <a:avLst/>
          </a:prstGeom>
          <a:solidFill>
            <a:srgbClr val="7B2FBE"/>
          </a:solidFill>
          <a:ln w="12700">
            <a:solidFill>
              <a:srgbClr val="7B2FBE"/>
            </a:solidFill>
            <a:prstDash val="solid"/>
          </a:ln>
        </p:spPr>
      </p:sp>
      <p:sp>
        <p:nvSpPr>
          <p:cNvPr id="61" name="Text 59"/>
          <p:cNvSpPr/>
          <p:nvPr/>
        </p:nvSpPr>
        <p:spPr>
          <a:xfrm>
            <a:off x="6510528" y="3959352"/>
            <a:ext cx="594360" cy="182880"/>
          </a:xfrm>
          <a:prstGeom prst="rect">
            <a:avLst/>
          </a:prstGeom>
          <a:noFill/>
          <a:ln/>
        </p:spPr>
        <p:txBody>
          <a:bodyPr wrap="square" lIns="0" tIns="0" rIns="0" bIns="0" rtlCol="0" anchor="ctr"/>
          <a:lstStyle/>
          <a:p>
            <a:pPr marL="0" indent="0" algn="ctr">
              <a:buNone/>
            </a:pPr>
            <a:r>
              <a:rPr lang="en-US" sz="650" b="1" dirty="0">
                <a:solidFill>
                  <a:srgbClr val="0A1628"/>
                </a:solidFill>
              </a:rPr>
              <a:t>ÉPICA 4</a:t>
            </a:r>
            <a:endParaRPr lang="en-US" sz="650" dirty="0"/>
          </a:p>
        </p:txBody>
      </p:sp>
      <p:sp>
        <p:nvSpPr>
          <p:cNvPr id="62" name="Text 60"/>
          <p:cNvSpPr/>
          <p:nvPr/>
        </p:nvSpPr>
        <p:spPr>
          <a:xfrm>
            <a:off x="7150608" y="3959352"/>
            <a:ext cx="1554480" cy="182880"/>
          </a:xfrm>
          <a:prstGeom prst="rect">
            <a:avLst/>
          </a:prstGeom>
          <a:noFill/>
          <a:ln/>
        </p:spPr>
        <p:txBody>
          <a:bodyPr wrap="square" lIns="0" tIns="0" rIns="0" bIns="0" rtlCol="0" anchor="ctr"/>
          <a:lstStyle/>
          <a:p>
            <a:pPr marL="0" indent="0">
              <a:buNone/>
            </a:pPr>
            <a:r>
              <a:rPr lang="en-US" sz="900" b="1" dirty="0">
                <a:solidFill>
                  <a:srgbClr val="FFFFFF"/>
                </a:solidFill>
              </a:rPr>
              <a:t>Métricas y ROI</a:t>
            </a:r>
            <a:endParaRPr lang="en-US" sz="900" dirty="0"/>
          </a:p>
        </p:txBody>
      </p:sp>
      <p:sp>
        <p:nvSpPr>
          <p:cNvPr id="63" name="Shape 61"/>
          <p:cNvSpPr/>
          <p:nvPr/>
        </p:nvSpPr>
        <p:spPr>
          <a:xfrm>
            <a:off x="6528816" y="4187952"/>
            <a:ext cx="64008" cy="64008"/>
          </a:xfrm>
          <a:prstGeom prst="ellipse">
            <a:avLst/>
          </a:prstGeom>
          <a:solidFill>
            <a:srgbClr val="7B2FBE"/>
          </a:solidFill>
          <a:ln w="12700">
            <a:solidFill>
              <a:srgbClr val="7B2FBE"/>
            </a:solidFill>
            <a:prstDash val="solid"/>
          </a:ln>
        </p:spPr>
      </p:sp>
      <p:sp>
        <p:nvSpPr>
          <p:cNvPr id="64" name="Text 62"/>
          <p:cNvSpPr/>
          <p:nvPr/>
        </p:nvSpPr>
        <p:spPr>
          <a:xfrm>
            <a:off x="6638544" y="4169664"/>
            <a:ext cx="2075688" cy="146304"/>
          </a:xfrm>
          <a:prstGeom prst="rect">
            <a:avLst/>
          </a:prstGeom>
          <a:noFill/>
          <a:ln/>
        </p:spPr>
        <p:txBody>
          <a:bodyPr wrap="square" lIns="0" tIns="0" rIns="0" bIns="0" rtlCol="0" anchor="ctr"/>
          <a:lstStyle/>
          <a:p>
            <a:pPr marL="0" indent="0">
              <a:buNone/>
            </a:pPr>
            <a:r>
              <a:rPr lang="en-US" sz="750" dirty="0">
                <a:solidFill>
                  <a:srgbClr val="C8D8E8"/>
                </a:solidFill>
              </a:rPr>
              <a:t>Go-live total + monitoreo ROI</a:t>
            </a:r>
            <a:endParaRPr lang="en-US" sz="750" dirty="0"/>
          </a:p>
        </p:txBody>
      </p:sp>
      <p:sp>
        <p:nvSpPr>
          <p:cNvPr id="65" name="Shape 63"/>
          <p:cNvSpPr/>
          <p:nvPr/>
        </p:nvSpPr>
        <p:spPr>
          <a:xfrm>
            <a:off x="6528816" y="4334256"/>
            <a:ext cx="64008" cy="64008"/>
          </a:xfrm>
          <a:prstGeom prst="ellipse">
            <a:avLst/>
          </a:prstGeom>
          <a:solidFill>
            <a:srgbClr val="7B2FBE"/>
          </a:solidFill>
          <a:ln w="12700">
            <a:solidFill>
              <a:srgbClr val="7B2FBE"/>
            </a:solidFill>
            <a:prstDash val="solid"/>
          </a:ln>
        </p:spPr>
      </p:sp>
      <p:sp>
        <p:nvSpPr>
          <p:cNvPr id="66" name="Text 64"/>
          <p:cNvSpPr/>
          <p:nvPr/>
        </p:nvSpPr>
        <p:spPr>
          <a:xfrm>
            <a:off x="6638544" y="4315968"/>
            <a:ext cx="2075688" cy="146304"/>
          </a:xfrm>
          <a:prstGeom prst="rect">
            <a:avLst/>
          </a:prstGeom>
          <a:noFill/>
          <a:ln/>
        </p:spPr>
        <p:txBody>
          <a:bodyPr wrap="square" lIns="0" tIns="0" rIns="0" bIns="0" rtlCol="0" anchor="ctr"/>
          <a:lstStyle/>
          <a:p>
            <a:pPr marL="0" indent="0">
              <a:buNone/>
            </a:pPr>
            <a:r>
              <a:rPr lang="en-US" sz="750" dirty="0">
                <a:solidFill>
                  <a:srgbClr val="C8D8E8"/>
                </a:solidFill>
              </a:rPr>
              <a:t>Escalabilidad a otras áreas</a:t>
            </a:r>
            <a:endParaRPr lang="en-US" sz="750" dirty="0"/>
          </a:p>
        </p:txBody>
      </p:sp>
      <p:sp>
        <p:nvSpPr>
          <p:cNvPr id="67" name="Shape 65"/>
          <p:cNvSpPr/>
          <p:nvPr/>
        </p:nvSpPr>
        <p:spPr>
          <a:xfrm>
            <a:off x="6766560" y="1508760"/>
            <a:ext cx="1371600" cy="320040"/>
          </a:xfrm>
          <a:prstGeom prst="rect">
            <a:avLst/>
          </a:prstGeom>
          <a:solidFill>
            <a:srgbClr val="27AE60"/>
          </a:solidFill>
          <a:ln w="12700">
            <a:solidFill>
              <a:srgbClr val="27AE60"/>
            </a:solidFill>
            <a:prstDash val="solid"/>
          </a:ln>
          <a:effectLst>
            <a:outerShdw blurRad="127000" dist="38100" dir="8100000" algn="bl" rotWithShape="0">
              <a:srgbClr val="000000">
                <a:alpha val="25000"/>
              </a:srgbClr>
            </a:outerShdw>
          </a:effectLst>
        </p:spPr>
      </p:sp>
      <p:sp>
        <p:nvSpPr>
          <p:cNvPr id="68" name="Text 66"/>
          <p:cNvSpPr/>
          <p:nvPr/>
        </p:nvSpPr>
        <p:spPr>
          <a:xfrm>
            <a:off x="6766560" y="1508760"/>
            <a:ext cx="1371600" cy="320040"/>
          </a:xfrm>
          <a:prstGeom prst="rect">
            <a:avLst/>
          </a:prstGeom>
          <a:noFill/>
          <a:ln/>
        </p:spPr>
        <p:txBody>
          <a:bodyPr wrap="square" lIns="0" tIns="0" rIns="0" bIns="0" rtlCol="0" anchor="ctr"/>
          <a:lstStyle/>
          <a:p>
            <a:pPr marL="0" indent="0" algn="ctr">
              <a:buNone/>
            </a:pPr>
            <a:r>
              <a:rPr lang="en-US" sz="800" b="1" dirty="0">
                <a:solidFill>
                  <a:srgbClr val="FFFFFF"/>
                </a:solidFill>
              </a:rPr>
              <a:t>🚀  GO-LIVE  May 2026</a:t>
            </a:r>
            <a:endParaRPr lang="en-US" sz="800" dirty="0"/>
          </a:p>
        </p:txBody>
      </p:sp>
      <p:sp>
        <p:nvSpPr>
          <p:cNvPr id="69" name="Shape 67"/>
          <p:cNvSpPr/>
          <p:nvPr/>
        </p:nvSpPr>
        <p:spPr>
          <a:xfrm>
            <a:off x="228600" y="4590288"/>
            <a:ext cx="8686800" cy="256032"/>
          </a:xfrm>
          <a:prstGeom prst="rect">
            <a:avLst/>
          </a:prstGeom>
          <a:solidFill>
            <a:srgbClr val="0D2144"/>
          </a:solidFill>
          <a:ln w="6350">
            <a:solidFill>
              <a:srgbClr val="1A3A6B"/>
            </a:solidFill>
            <a:prstDash val="solid"/>
          </a:ln>
        </p:spPr>
      </p:sp>
      <p:sp>
        <p:nvSpPr>
          <p:cNvPr id="70" name="Shape 68"/>
          <p:cNvSpPr/>
          <p:nvPr/>
        </p:nvSpPr>
        <p:spPr>
          <a:xfrm>
            <a:off x="457200" y="4654296"/>
            <a:ext cx="128016" cy="128016"/>
          </a:xfrm>
          <a:prstGeom prst="rect">
            <a:avLst/>
          </a:prstGeom>
          <a:solidFill>
            <a:srgbClr val="00B4D8"/>
          </a:solidFill>
          <a:ln w="12700">
            <a:solidFill>
              <a:srgbClr val="00B4D8"/>
            </a:solidFill>
            <a:prstDash val="solid"/>
          </a:ln>
        </p:spPr>
      </p:sp>
      <p:sp>
        <p:nvSpPr>
          <p:cNvPr id="71" name="Text 69"/>
          <p:cNvSpPr/>
          <p:nvPr/>
        </p:nvSpPr>
        <p:spPr>
          <a:xfrm>
            <a:off x="630936" y="4645152"/>
            <a:ext cx="1920240" cy="146304"/>
          </a:xfrm>
          <a:prstGeom prst="rect">
            <a:avLst/>
          </a:prstGeom>
          <a:noFill/>
          <a:ln/>
        </p:spPr>
        <p:txBody>
          <a:bodyPr wrap="square" lIns="0" tIns="0" rIns="0" bIns="0" rtlCol="0" anchor="ctr"/>
          <a:lstStyle/>
          <a:p>
            <a:pPr marL="0" indent="0">
              <a:buNone/>
            </a:pPr>
            <a:r>
              <a:rPr lang="en-US" sz="750" dirty="0">
                <a:solidFill>
                  <a:srgbClr val="C8D8E8"/>
                </a:solidFill>
              </a:rPr>
              <a:t>Control en Origen</a:t>
            </a:r>
            <a:endParaRPr lang="en-US" sz="750" dirty="0"/>
          </a:p>
        </p:txBody>
      </p:sp>
      <p:sp>
        <p:nvSpPr>
          <p:cNvPr id="72" name="Shape 70"/>
          <p:cNvSpPr/>
          <p:nvPr/>
        </p:nvSpPr>
        <p:spPr>
          <a:xfrm>
            <a:off x="2633472" y="4654296"/>
            <a:ext cx="128016" cy="128016"/>
          </a:xfrm>
          <a:prstGeom prst="rect">
            <a:avLst/>
          </a:prstGeom>
          <a:solidFill>
            <a:srgbClr val="F5A623"/>
          </a:solidFill>
          <a:ln w="12700">
            <a:solidFill>
              <a:srgbClr val="F5A623"/>
            </a:solidFill>
            <a:prstDash val="solid"/>
          </a:ln>
        </p:spPr>
      </p:sp>
      <p:sp>
        <p:nvSpPr>
          <p:cNvPr id="73" name="Text 71"/>
          <p:cNvSpPr/>
          <p:nvPr/>
        </p:nvSpPr>
        <p:spPr>
          <a:xfrm>
            <a:off x="2807208" y="4645152"/>
            <a:ext cx="1920240" cy="146304"/>
          </a:xfrm>
          <a:prstGeom prst="rect">
            <a:avLst/>
          </a:prstGeom>
          <a:noFill/>
          <a:ln/>
        </p:spPr>
        <p:txBody>
          <a:bodyPr wrap="square" lIns="0" tIns="0" rIns="0" bIns="0" rtlCol="0" anchor="ctr"/>
          <a:lstStyle/>
          <a:p>
            <a:pPr marL="0" indent="0">
              <a:buNone/>
            </a:pPr>
            <a:r>
              <a:rPr lang="en-US" sz="750" dirty="0">
                <a:solidFill>
                  <a:srgbClr val="C8D8E8"/>
                </a:solidFill>
              </a:rPr>
              <a:t>App y Rendición</a:t>
            </a:r>
            <a:endParaRPr lang="en-US" sz="750" dirty="0"/>
          </a:p>
        </p:txBody>
      </p:sp>
      <p:sp>
        <p:nvSpPr>
          <p:cNvPr id="74" name="Shape 72"/>
          <p:cNvSpPr/>
          <p:nvPr/>
        </p:nvSpPr>
        <p:spPr>
          <a:xfrm>
            <a:off x="4809744" y="4654296"/>
            <a:ext cx="128016" cy="128016"/>
          </a:xfrm>
          <a:prstGeom prst="rect">
            <a:avLst/>
          </a:prstGeom>
          <a:solidFill>
            <a:srgbClr val="27AE60"/>
          </a:solidFill>
          <a:ln w="12700">
            <a:solidFill>
              <a:srgbClr val="27AE60"/>
            </a:solidFill>
            <a:prstDash val="solid"/>
          </a:ln>
        </p:spPr>
      </p:sp>
      <p:sp>
        <p:nvSpPr>
          <p:cNvPr id="75" name="Text 73"/>
          <p:cNvSpPr/>
          <p:nvPr/>
        </p:nvSpPr>
        <p:spPr>
          <a:xfrm>
            <a:off x="4983480" y="4645152"/>
            <a:ext cx="1920240" cy="146304"/>
          </a:xfrm>
          <a:prstGeom prst="rect">
            <a:avLst/>
          </a:prstGeom>
          <a:noFill/>
          <a:ln/>
        </p:spPr>
        <p:txBody>
          <a:bodyPr wrap="square" lIns="0" tIns="0" rIns="0" bIns="0" rtlCol="0" anchor="ctr"/>
          <a:lstStyle/>
          <a:p>
            <a:pPr marL="0" indent="0">
              <a:buNone/>
            </a:pPr>
            <a:r>
              <a:rPr lang="en-US" sz="750" dirty="0">
                <a:solidFill>
                  <a:srgbClr val="C8D8E8"/>
                </a:solidFill>
              </a:rPr>
              <a:t>Gobierno del Gasto</a:t>
            </a:r>
            <a:endParaRPr lang="en-US" sz="750" dirty="0"/>
          </a:p>
        </p:txBody>
      </p:sp>
      <p:sp>
        <p:nvSpPr>
          <p:cNvPr id="76" name="Shape 74"/>
          <p:cNvSpPr/>
          <p:nvPr/>
        </p:nvSpPr>
        <p:spPr>
          <a:xfrm>
            <a:off x="6986016" y="4654296"/>
            <a:ext cx="128016" cy="128016"/>
          </a:xfrm>
          <a:prstGeom prst="rect">
            <a:avLst/>
          </a:prstGeom>
          <a:solidFill>
            <a:srgbClr val="7B2FBE"/>
          </a:solidFill>
          <a:ln w="12700">
            <a:solidFill>
              <a:srgbClr val="7B2FBE"/>
            </a:solidFill>
            <a:prstDash val="solid"/>
          </a:ln>
        </p:spPr>
      </p:sp>
      <p:sp>
        <p:nvSpPr>
          <p:cNvPr id="77" name="Text 75"/>
          <p:cNvSpPr/>
          <p:nvPr/>
        </p:nvSpPr>
        <p:spPr>
          <a:xfrm>
            <a:off x="7159752" y="4645152"/>
            <a:ext cx="1920240" cy="146304"/>
          </a:xfrm>
          <a:prstGeom prst="rect">
            <a:avLst/>
          </a:prstGeom>
          <a:noFill/>
          <a:ln/>
        </p:spPr>
        <p:txBody>
          <a:bodyPr wrap="square" lIns="0" tIns="0" rIns="0" bIns="0" rtlCol="0" anchor="ctr"/>
          <a:lstStyle/>
          <a:p>
            <a:pPr marL="0" indent="0">
              <a:buNone/>
            </a:pPr>
            <a:r>
              <a:rPr lang="en-US" sz="750" dirty="0">
                <a:solidFill>
                  <a:srgbClr val="C8D8E8"/>
                </a:solidFill>
              </a:rPr>
              <a:t>Métricas y ROI</a:t>
            </a:r>
            <a:endParaRPr lang="en-US" sz="750" dirty="0"/>
          </a:p>
        </p:txBody>
      </p:sp>
      <p:sp>
        <p:nvSpPr>
          <p:cNvPr id="78" name="Shape 76"/>
          <p:cNvSpPr/>
          <p:nvPr/>
        </p:nvSpPr>
        <p:spPr>
          <a:xfrm>
            <a:off x="0" y="4882896"/>
            <a:ext cx="9144000" cy="265176"/>
          </a:xfrm>
          <a:prstGeom prst="rect">
            <a:avLst/>
          </a:prstGeom>
          <a:solidFill>
            <a:srgbClr val="1A3A6B"/>
          </a:solidFill>
          <a:ln w="12700">
            <a:solidFill>
              <a:srgbClr val="1A3A6B"/>
            </a:solidFill>
            <a:prstDash val="solid"/>
          </a:ln>
        </p:spPr>
      </p:sp>
      <p:sp>
        <p:nvSpPr>
          <p:cNvPr id="79" name="Text 77"/>
          <p:cNvSpPr/>
          <p:nvPr/>
        </p:nvSpPr>
        <p:spPr>
          <a:xfrm>
            <a:off x="228600" y="4882896"/>
            <a:ext cx="8686800" cy="265176"/>
          </a:xfrm>
          <a:prstGeom prst="rect">
            <a:avLst/>
          </a:prstGeom>
          <a:noFill/>
          <a:ln/>
        </p:spPr>
        <p:txBody>
          <a:bodyPr wrap="square" lIns="0" tIns="0" rIns="0" bIns="0" rtlCol="0" anchor="ctr"/>
          <a:lstStyle/>
          <a:p>
            <a:pPr marL="0" indent="0" algn="ctr">
              <a:buNone/>
            </a:pPr>
            <a:r>
              <a:rPr lang="en-US" sz="650" i="1" dirty="0">
                <a:solidFill>
                  <a:srgbClr val="8899AA"/>
                </a:solidFill>
              </a:rPr>
              <a:t>Gabriel Sandoval G.  ·  Product Owner  ·  Proyecto ABP Módulo 5  ·  Rediseño del Flujo de Viáticos  ·  2026</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2 – ROADMAP 1</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Métricas – Proyecto General</a:t>
            </a:r>
            <a:endParaRPr lang="en-US" sz="2100"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000" i="1" dirty="0">
                <a:solidFill>
                  <a:srgbClr val="38BDF8"/>
                </a:solidFill>
                <a:latin typeface="Calibri" pitchFamily="34" charset="0"/>
                <a:ea typeface="Calibri" pitchFamily="34" charset="-122"/>
                <a:cs typeface="Calibri" pitchFamily="34" charset="-120"/>
              </a:rPr>
              <a:t>Supuestos y bases de medición</a:t>
            </a:r>
            <a:endParaRPr lang="en-US" sz="10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Shape 7"/>
          <p:cNvSpPr/>
          <p:nvPr/>
        </p:nvSpPr>
        <p:spPr>
          <a:xfrm>
            <a:off x="0" y="6720840"/>
            <a:ext cx="12188952" cy="137160"/>
          </a:xfrm>
          <a:prstGeom prst="rect">
            <a:avLst/>
          </a:prstGeom>
          <a:solidFill>
            <a:srgbClr val="1246B3"/>
          </a:solidFill>
          <a:ln w="12700">
            <a:solidFill>
              <a:srgbClr val="1246B3"/>
            </a:solidFill>
            <a:prstDash val="solid"/>
          </a:ln>
        </p:spPr>
      </p:sp>
      <p:sp>
        <p:nvSpPr>
          <p:cNvPr id="10" name="Text 8"/>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7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700" dirty="0"/>
          </a:p>
        </p:txBody>
      </p:sp>
      <p:sp>
        <p:nvSpPr>
          <p:cNvPr id="11" name="Shape 9"/>
          <p:cNvSpPr/>
          <p:nvPr/>
        </p:nvSpPr>
        <p:spPr>
          <a:xfrm>
            <a:off x="201168" y="1051560"/>
            <a:ext cx="5760720" cy="2651760"/>
          </a:xfrm>
          <a:prstGeom prst="rect">
            <a:avLst/>
          </a:prstGeom>
          <a:solidFill>
            <a:srgbClr val="0D1B3E"/>
          </a:solidFill>
          <a:ln w="12700">
            <a:solidFill>
              <a:srgbClr val="38BDF8"/>
            </a:solidFill>
            <a:prstDash val="solid"/>
          </a:ln>
        </p:spPr>
      </p:sp>
      <p:sp>
        <p:nvSpPr>
          <p:cNvPr id="12" name="Shape 10"/>
          <p:cNvSpPr/>
          <p:nvPr/>
        </p:nvSpPr>
        <p:spPr>
          <a:xfrm>
            <a:off x="201168" y="1051560"/>
            <a:ext cx="5760720" cy="36576"/>
          </a:xfrm>
          <a:prstGeom prst="rect">
            <a:avLst/>
          </a:prstGeom>
          <a:solidFill>
            <a:srgbClr val="38BDF8"/>
          </a:solidFill>
          <a:ln w="12700">
            <a:solidFill>
              <a:srgbClr val="38BDF8"/>
            </a:solidFill>
            <a:prstDash val="solid"/>
          </a:ln>
        </p:spPr>
      </p:sp>
      <p:sp>
        <p:nvSpPr>
          <p:cNvPr id="13" name="Text 11"/>
          <p:cNvSpPr/>
          <p:nvPr/>
        </p:nvSpPr>
        <p:spPr>
          <a:xfrm>
            <a:off x="338328" y="1143000"/>
            <a:ext cx="5486400" cy="256032"/>
          </a:xfrm>
          <a:prstGeom prst="rect">
            <a:avLst/>
          </a:prstGeom>
          <a:noFill/>
          <a:ln/>
        </p:spPr>
        <p:txBody>
          <a:bodyPr wrap="square" lIns="0" tIns="0" rIns="0" bIns="0" rtlCol="0" anchor="ctr"/>
          <a:lstStyle/>
          <a:p>
            <a:pPr marL="0" indent="0">
              <a:buNone/>
            </a:pPr>
            <a:r>
              <a:rPr lang="en-US" sz="1400" b="1" kern="0" spc="120" dirty="0">
                <a:solidFill>
                  <a:srgbClr val="38BDF8"/>
                </a:solidFill>
                <a:latin typeface="Calibri" pitchFamily="34" charset="0"/>
                <a:ea typeface="Calibri" pitchFamily="34" charset="-122"/>
                <a:cs typeface="Calibri" pitchFamily="34" charset="-120"/>
              </a:rPr>
              <a:t>DE RESULTADO</a:t>
            </a:r>
            <a:endParaRPr lang="en-US" sz="1400" dirty="0"/>
          </a:p>
        </p:txBody>
      </p:sp>
      <p:sp>
        <p:nvSpPr>
          <p:cNvPr id="14" name="Text 12"/>
          <p:cNvSpPr/>
          <p:nvPr/>
        </p:nvSpPr>
        <p:spPr>
          <a:xfrm>
            <a:off x="338328" y="1463040"/>
            <a:ext cx="5486400" cy="2148840"/>
          </a:xfrm>
          <a:prstGeom prst="rect">
            <a:avLst/>
          </a:prstGeom>
          <a:noFill/>
          <a:ln/>
        </p:spPr>
        <p:txBody>
          <a:bodyPr wrap="square" lIns="0" tIns="0" rIns="0" bIns="0" rtlCol="0" anchor="t"/>
          <a:lstStyle/>
          <a:p>
            <a:pPr marL="0" indent="0">
              <a:lnSpc>
                <a:spcPct val="130000"/>
              </a:lnSpc>
              <a:buNone/>
            </a:pPr>
            <a:r>
              <a:rPr lang="en-US" sz="1400" b="1" dirty="0">
                <a:solidFill>
                  <a:srgbClr val="38BDF8"/>
                </a:solidFill>
                <a:latin typeface="Calibri" pitchFamily="34" charset="0"/>
                <a:ea typeface="Calibri" pitchFamily="34" charset="-122"/>
                <a:cs typeface="Calibri" pitchFamily="34" charset="-120"/>
              </a:rPr>
              <a:t>Tasa de error / Retrabajo:</a:t>
            </a:r>
            <a:r>
              <a:rPr lang="en-US" sz="1400" dirty="0">
                <a:solidFill>
                  <a:srgbClr val="E2E8F0"/>
                </a:solidFill>
                <a:latin typeface="Calibri" pitchFamily="34" charset="0"/>
                <a:ea typeface="Calibri" pitchFamily="34" charset="-122"/>
                <a:cs typeface="Calibri" pitchFamily="34" charset="-120"/>
              </a:rPr>
              <a:t> Base 35% → Meta &lt;5% en 6 meses post go-live. Medición: rendiciones rechazadas / total × 100.
</a:t>
            </a:r>
            <a:endParaRPr lang="en-US" sz="1400" dirty="0"/>
          </a:p>
          <a:p>
            <a:pPr marL="0" indent="0">
              <a:lnSpc>
                <a:spcPct val="130000"/>
              </a:lnSpc>
              <a:buNone/>
            </a:pPr>
            <a:r>
              <a:rPr lang="en-US" sz="1400" b="1" dirty="0">
                <a:solidFill>
                  <a:srgbClr val="38BDF8"/>
                </a:solidFill>
                <a:latin typeface="Calibri" pitchFamily="34" charset="0"/>
                <a:ea typeface="Calibri" pitchFamily="34" charset="-122"/>
                <a:cs typeface="Calibri" pitchFamily="34" charset="-120"/>
              </a:rPr>
              <a:t>Excepciones fuera de política:</a:t>
            </a:r>
            <a:r>
              <a:rPr lang="en-US" sz="1400" dirty="0">
                <a:solidFill>
                  <a:srgbClr val="E2E8F0"/>
                </a:solidFill>
                <a:latin typeface="Calibri" pitchFamily="34" charset="0"/>
                <a:ea typeface="Calibri" pitchFamily="34" charset="-122"/>
                <a:cs typeface="Calibri" pitchFamily="34" charset="-120"/>
              </a:rPr>
              <a:t> Base 28% → Meta &lt;8% al cierre Q2. Medición: excepciones manuales / total transacciones × 100.</a:t>
            </a:r>
            <a:endParaRPr lang="en-US" sz="1400" dirty="0"/>
          </a:p>
        </p:txBody>
      </p:sp>
      <p:sp>
        <p:nvSpPr>
          <p:cNvPr id="15" name="Shape 13"/>
          <p:cNvSpPr/>
          <p:nvPr/>
        </p:nvSpPr>
        <p:spPr>
          <a:xfrm>
            <a:off x="6099048" y="1051560"/>
            <a:ext cx="5760720" cy="2651760"/>
          </a:xfrm>
          <a:prstGeom prst="rect">
            <a:avLst/>
          </a:prstGeom>
          <a:solidFill>
            <a:srgbClr val="0D1B3E"/>
          </a:solidFill>
          <a:ln w="12700">
            <a:solidFill>
              <a:srgbClr val="34D399"/>
            </a:solidFill>
            <a:prstDash val="solid"/>
          </a:ln>
        </p:spPr>
      </p:sp>
      <p:sp>
        <p:nvSpPr>
          <p:cNvPr id="16" name="Shape 14"/>
          <p:cNvSpPr/>
          <p:nvPr/>
        </p:nvSpPr>
        <p:spPr>
          <a:xfrm>
            <a:off x="6099048" y="1051560"/>
            <a:ext cx="5760720" cy="36576"/>
          </a:xfrm>
          <a:prstGeom prst="rect">
            <a:avLst/>
          </a:prstGeom>
          <a:solidFill>
            <a:srgbClr val="34D399"/>
          </a:solidFill>
          <a:ln w="12700">
            <a:solidFill>
              <a:srgbClr val="34D399"/>
            </a:solidFill>
            <a:prstDash val="solid"/>
          </a:ln>
        </p:spPr>
      </p:sp>
      <p:sp>
        <p:nvSpPr>
          <p:cNvPr id="17" name="Text 15"/>
          <p:cNvSpPr/>
          <p:nvPr/>
        </p:nvSpPr>
        <p:spPr>
          <a:xfrm>
            <a:off x="6236208" y="1143000"/>
            <a:ext cx="5486400" cy="256032"/>
          </a:xfrm>
          <a:prstGeom prst="rect">
            <a:avLst/>
          </a:prstGeom>
          <a:noFill/>
          <a:ln/>
        </p:spPr>
        <p:txBody>
          <a:bodyPr wrap="square" lIns="0" tIns="0" rIns="0" bIns="0" rtlCol="0" anchor="ctr"/>
          <a:lstStyle/>
          <a:p>
            <a:pPr marL="0" indent="0">
              <a:buNone/>
            </a:pPr>
            <a:r>
              <a:rPr lang="en-US" sz="1400" b="1" kern="0" spc="120" dirty="0">
                <a:solidFill>
                  <a:srgbClr val="34D399"/>
                </a:solidFill>
                <a:latin typeface="Calibri" pitchFamily="34" charset="0"/>
                <a:ea typeface="Calibri" pitchFamily="34" charset="-122"/>
                <a:cs typeface="Calibri" pitchFamily="34" charset="-120"/>
              </a:rPr>
              <a:t>DE ADOPCIÓN</a:t>
            </a:r>
            <a:endParaRPr lang="en-US" sz="1400" dirty="0"/>
          </a:p>
        </p:txBody>
      </p:sp>
      <p:sp>
        <p:nvSpPr>
          <p:cNvPr id="18" name="Text 16"/>
          <p:cNvSpPr/>
          <p:nvPr/>
        </p:nvSpPr>
        <p:spPr>
          <a:xfrm>
            <a:off x="6236208" y="1463040"/>
            <a:ext cx="5486400" cy="2148840"/>
          </a:xfrm>
          <a:prstGeom prst="rect">
            <a:avLst/>
          </a:prstGeom>
          <a:noFill/>
          <a:ln/>
        </p:spPr>
        <p:txBody>
          <a:bodyPr wrap="square" lIns="0" tIns="0" rIns="0" bIns="0" rtlCol="0" anchor="t"/>
          <a:lstStyle/>
          <a:p>
            <a:pPr marL="0" indent="0">
              <a:lnSpc>
                <a:spcPct val="130000"/>
              </a:lnSpc>
              <a:buNone/>
            </a:pPr>
            <a:r>
              <a:rPr lang="en-US" sz="1400" b="1" dirty="0">
                <a:solidFill>
                  <a:srgbClr val="34D399"/>
                </a:solidFill>
                <a:latin typeface="Calibri" pitchFamily="34" charset="0"/>
                <a:ea typeface="Calibri" pitchFamily="34" charset="-122"/>
                <a:cs typeface="Calibri" pitchFamily="34" charset="-120"/>
              </a:rPr>
              <a:t>% casos migrados al nuevo flujo:</a:t>
            </a:r>
            <a:r>
              <a:rPr lang="en-US" sz="1400" dirty="0">
                <a:solidFill>
                  <a:srgbClr val="E2E8F0"/>
                </a:solidFill>
                <a:latin typeface="Calibri" pitchFamily="34" charset="0"/>
                <a:ea typeface="Calibri" pitchFamily="34" charset="-122"/>
                <a:cs typeface="Calibri" pitchFamily="34" charset="-120"/>
              </a:rPr>
              <a:t> Base 0% → Meta 100% en Sprint 6. Medición: usuarios activos en app / universo objetivo × 100.
</a:t>
            </a:r>
            <a:endParaRPr lang="en-US" sz="1400" dirty="0"/>
          </a:p>
          <a:p>
            <a:pPr marL="0" indent="0">
              <a:lnSpc>
                <a:spcPct val="130000"/>
              </a:lnSpc>
              <a:buNone/>
            </a:pPr>
            <a:r>
              <a:rPr lang="en-US" sz="1400" b="1" dirty="0">
                <a:solidFill>
                  <a:srgbClr val="34D399"/>
                </a:solidFill>
                <a:latin typeface="Calibri" pitchFamily="34" charset="0"/>
                <a:ea typeface="Calibri" pitchFamily="34" charset="-122"/>
                <a:cs typeface="Calibri" pitchFamily="34" charset="-120"/>
              </a:rPr>
              <a:t>% completitud inicio a fin:</a:t>
            </a:r>
            <a:r>
              <a:rPr lang="en-US" sz="1400" dirty="0">
                <a:solidFill>
                  <a:srgbClr val="E2E8F0"/>
                </a:solidFill>
                <a:latin typeface="Calibri" pitchFamily="34" charset="0"/>
                <a:ea typeface="Calibri" pitchFamily="34" charset="-122"/>
                <a:cs typeface="Calibri" pitchFamily="34" charset="-120"/>
              </a:rPr>
              <a:t> Base 40% → Meta &gt;90% sin intervención manual. Medición: flujos completados / iniciados × 100.</a:t>
            </a:r>
            <a:endParaRPr lang="en-US" sz="1400" dirty="0"/>
          </a:p>
        </p:txBody>
      </p:sp>
      <p:sp>
        <p:nvSpPr>
          <p:cNvPr id="19" name="Shape 17"/>
          <p:cNvSpPr/>
          <p:nvPr/>
        </p:nvSpPr>
        <p:spPr>
          <a:xfrm>
            <a:off x="201168" y="3429000"/>
            <a:ext cx="5760720" cy="2651760"/>
          </a:xfrm>
          <a:prstGeom prst="rect">
            <a:avLst/>
          </a:prstGeom>
          <a:solidFill>
            <a:srgbClr val="0D1B3E"/>
          </a:solidFill>
          <a:ln w="12700">
            <a:solidFill>
              <a:srgbClr val="FBBF24"/>
            </a:solidFill>
            <a:prstDash val="solid"/>
          </a:ln>
        </p:spPr>
      </p:sp>
      <p:sp>
        <p:nvSpPr>
          <p:cNvPr id="20" name="Shape 18"/>
          <p:cNvSpPr/>
          <p:nvPr/>
        </p:nvSpPr>
        <p:spPr>
          <a:xfrm>
            <a:off x="201168" y="3429000"/>
            <a:ext cx="5760720" cy="36576"/>
          </a:xfrm>
          <a:prstGeom prst="rect">
            <a:avLst/>
          </a:prstGeom>
          <a:solidFill>
            <a:srgbClr val="FBBF24"/>
          </a:solidFill>
          <a:ln w="12700">
            <a:solidFill>
              <a:srgbClr val="FBBF24"/>
            </a:solidFill>
            <a:prstDash val="solid"/>
          </a:ln>
        </p:spPr>
      </p:sp>
      <p:sp>
        <p:nvSpPr>
          <p:cNvPr id="21" name="Text 19"/>
          <p:cNvSpPr/>
          <p:nvPr/>
        </p:nvSpPr>
        <p:spPr>
          <a:xfrm>
            <a:off x="338328" y="3520440"/>
            <a:ext cx="5486400" cy="256032"/>
          </a:xfrm>
          <a:prstGeom prst="rect">
            <a:avLst/>
          </a:prstGeom>
          <a:noFill/>
          <a:ln/>
        </p:spPr>
        <p:txBody>
          <a:bodyPr wrap="square" lIns="0" tIns="0" rIns="0" bIns="0" rtlCol="0" anchor="ctr"/>
          <a:lstStyle/>
          <a:p>
            <a:pPr marL="0" indent="0">
              <a:buNone/>
            </a:pPr>
            <a:r>
              <a:rPr lang="en-US" sz="1400" b="1" kern="0" spc="120" dirty="0">
                <a:solidFill>
                  <a:srgbClr val="FBBF24"/>
                </a:solidFill>
                <a:latin typeface="Calibri" pitchFamily="34" charset="0"/>
                <a:ea typeface="Calibri" pitchFamily="34" charset="-122"/>
                <a:cs typeface="Calibri" pitchFamily="34" charset="-120"/>
              </a:rPr>
              <a:t>DE EXPERIENCIA</a:t>
            </a:r>
            <a:endParaRPr lang="en-US" sz="1400" dirty="0"/>
          </a:p>
        </p:txBody>
      </p:sp>
      <p:sp>
        <p:nvSpPr>
          <p:cNvPr id="22" name="Text 20"/>
          <p:cNvSpPr/>
          <p:nvPr/>
        </p:nvSpPr>
        <p:spPr>
          <a:xfrm>
            <a:off x="338328" y="3840480"/>
            <a:ext cx="5486400" cy="2148840"/>
          </a:xfrm>
          <a:prstGeom prst="rect">
            <a:avLst/>
          </a:prstGeom>
          <a:noFill/>
          <a:ln/>
        </p:spPr>
        <p:txBody>
          <a:bodyPr wrap="square" lIns="0" tIns="0" rIns="0" bIns="0" rtlCol="0" anchor="t"/>
          <a:lstStyle/>
          <a:p>
            <a:pPr marL="0" indent="0">
              <a:lnSpc>
                <a:spcPct val="130000"/>
              </a:lnSpc>
              <a:buNone/>
            </a:pPr>
            <a:r>
              <a:rPr lang="en-US" sz="1400" b="1" dirty="0">
                <a:solidFill>
                  <a:srgbClr val="FBBF24"/>
                </a:solidFill>
                <a:latin typeface="Calibri" pitchFamily="34" charset="0"/>
                <a:ea typeface="Calibri" pitchFamily="34" charset="-122"/>
                <a:cs typeface="Calibri" pitchFamily="34" charset="-120"/>
              </a:rPr>
              <a:t>SUS (System Usability Scale):</a:t>
            </a:r>
            <a:r>
              <a:rPr lang="en-US" sz="1400" dirty="0">
                <a:solidFill>
                  <a:srgbClr val="E2E8F0"/>
                </a:solidFill>
                <a:latin typeface="Calibri" pitchFamily="34" charset="0"/>
                <a:ea typeface="Calibri" pitchFamily="34" charset="-122"/>
                <a:cs typeface="Calibri" pitchFamily="34" charset="-120"/>
              </a:rPr>
              <a:t> N/A base → Meta ≥75 (Good). Encuesta SUS 10 ítems a colaboradores en Sprint 6.
</a:t>
            </a:r>
            <a:endParaRPr lang="en-US" sz="1400" dirty="0"/>
          </a:p>
          <a:p>
            <a:pPr marL="0" indent="0">
              <a:lnSpc>
                <a:spcPct val="130000"/>
              </a:lnSpc>
              <a:buNone/>
            </a:pPr>
            <a:r>
              <a:rPr lang="en-US" sz="1400" b="1" dirty="0">
                <a:solidFill>
                  <a:srgbClr val="FBBF24"/>
                </a:solidFill>
                <a:latin typeface="Calibri" pitchFamily="34" charset="0"/>
                <a:ea typeface="Calibri" pitchFamily="34" charset="-122"/>
                <a:cs typeface="Calibri" pitchFamily="34" charset="-120"/>
              </a:rPr>
              <a:t>CSAT / NPS:</a:t>
            </a:r>
            <a:r>
              <a:rPr lang="en-US" sz="1400" dirty="0">
                <a:solidFill>
                  <a:srgbClr val="E2E8F0"/>
                </a:solidFill>
                <a:latin typeface="Calibri" pitchFamily="34" charset="0"/>
                <a:ea typeface="Calibri" pitchFamily="34" charset="-122"/>
                <a:cs typeface="Calibri" pitchFamily="34" charset="-120"/>
              </a:rPr>
              <a:t> NPS base -10 → Meta NPS &gt;70 y CSAT &gt;85% a 60 días post go-live. Encuesta mensual vía app.</a:t>
            </a:r>
            <a:endParaRPr lang="en-US" sz="1400" dirty="0"/>
          </a:p>
        </p:txBody>
      </p:sp>
      <p:sp>
        <p:nvSpPr>
          <p:cNvPr id="23" name="Shape 21"/>
          <p:cNvSpPr/>
          <p:nvPr/>
        </p:nvSpPr>
        <p:spPr>
          <a:xfrm>
            <a:off x="6099048" y="3429000"/>
            <a:ext cx="5760720" cy="2651760"/>
          </a:xfrm>
          <a:prstGeom prst="rect">
            <a:avLst/>
          </a:prstGeom>
          <a:solidFill>
            <a:srgbClr val="0D1B3E"/>
          </a:solidFill>
          <a:ln w="12700">
            <a:solidFill>
              <a:srgbClr val="FB7185"/>
            </a:solidFill>
            <a:prstDash val="solid"/>
          </a:ln>
        </p:spPr>
      </p:sp>
      <p:sp>
        <p:nvSpPr>
          <p:cNvPr id="24" name="Shape 22"/>
          <p:cNvSpPr/>
          <p:nvPr/>
        </p:nvSpPr>
        <p:spPr>
          <a:xfrm>
            <a:off x="6099048" y="3429000"/>
            <a:ext cx="5760720" cy="36576"/>
          </a:xfrm>
          <a:prstGeom prst="rect">
            <a:avLst/>
          </a:prstGeom>
          <a:solidFill>
            <a:srgbClr val="FB7185"/>
          </a:solidFill>
          <a:ln w="12700">
            <a:solidFill>
              <a:srgbClr val="FB7185"/>
            </a:solidFill>
            <a:prstDash val="solid"/>
          </a:ln>
        </p:spPr>
      </p:sp>
      <p:sp>
        <p:nvSpPr>
          <p:cNvPr id="25" name="Text 23"/>
          <p:cNvSpPr/>
          <p:nvPr/>
        </p:nvSpPr>
        <p:spPr>
          <a:xfrm>
            <a:off x="6236208" y="3520440"/>
            <a:ext cx="5486400" cy="256032"/>
          </a:xfrm>
          <a:prstGeom prst="rect">
            <a:avLst/>
          </a:prstGeom>
          <a:noFill/>
          <a:ln/>
        </p:spPr>
        <p:txBody>
          <a:bodyPr wrap="square" lIns="0" tIns="0" rIns="0" bIns="0" rtlCol="0" anchor="ctr"/>
          <a:lstStyle/>
          <a:p>
            <a:pPr marL="0" indent="0">
              <a:buNone/>
            </a:pPr>
            <a:r>
              <a:rPr lang="en-US" sz="1400" b="1" kern="0" spc="120" dirty="0">
                <a:solidFill>
                  <a:srgbClr val="FB7185"/>
                </a:solidFill>
                <a:latin typeface="Calibri" pitchFamily="34" charset="0"/>
                <a:ea typeface="Calibri" pitchFamily="34" charset="-122"/>
                <a:cs typeface="Calibri" pitchFamily="34" charset="-120"/>
              </a:rPr>
              <a:t>DE CALIDAD</a:t>
            </a:r>
            <a:endParaRPr lang="en-US" sz="1400" dirty="0"/>
          </a:p>
        </p:txBody>
      </p:sp>
      <p:sp>
        <p:nvSpPr>
          <p:cNvPr id="26" name="Text 24"/>
          <p:cNvSpPr/>
          <p:nvPr/>
        </p:nvSpPr>
        <p:spPr>
          <a:xfrm>
            <a:off x="6236208" y="3840480"/>
            <a:ext cx="5486400" cy="2148840"/>
          </a:xfrm>
          <a:prstGeom prst="rect">
            <a:avLst/>
          </a:prstGeom>
          <a:noFill/>
          <a:ln/>
        </p:spPr>
        <p:txBody>
          <a:bodyPr wrap="square" lIns="0" tIns="0" rIns="0" bIns="0" rtlCol="0" anchor="t"/>
          <a:lstStyle/>
          <a:p>
            <a:pPr marL="0" indent="0">
              <a:lnSpc>
                <a:spcPct val="130000"/>
              </a:lnSpc>
              <a:buNone/>
            </a:pPr>
            <a:r>
              <a:rPr lang="en-US" sz="1400" b="1" dirty="0">
                <a:solidFill>
                  <a:srgbClr val="FB7185"/>
                </a:solidFill>
                <a:latin typeface="Calibri" pitchFamily="34" charset="0"/>
                <a:ea typeface="Calibri" pitchFamily="34" charset="-122"/>
                <a:cs typeface="Calibri" pitchFamily="34" charset="-120"/>
              </a:rPr>
              <a:t>Defectos post lanzamiento:</a:t>
            </a:r>
            <a:r>
              <a:rPr lang="en-US" sz="1400" dirty="0">
                <a:solidFill>
                  <a:srgbClr val="E2E8F0"/>
                </a:solidFill>
                <a:latin typeface="Calibri" pitchFamily="34" charset="0"/>
                <a:ea typeface="Calibri" pitchFamily="34" charset="-122"/>
                <a:cs typeface="Calibri" pitchFamily="34" charset="-120"/>
              </a:rPr>
              <a:t> 0 bugs P1 en primeras 2 semanas; &lt;3 bugs P2 en primer mes. Tickets Jira clasificados por severidad.
</a:t>
            </a:r>
            <a:endParaRPr lang="en-US" sz="1400" dirty="0"/>
          </a:p>
          <a:p>
            <a:pPr marL="0" indent="0">
              <a:lnSpc>
                <a:spcPct val="130000"/>
              </a:lnSpc>
              <a:buNone/>
            </a:pPr>
            <a:r>
              <a:rPr lang="en-US" sz="1400" b="1" dirty="0">
                <a:solidFill>
                  <a:srgbClr val="FB7185"/>
                </a:solidFill>
                <a:latin typeface="Calibri" pitchFamily="34" charset="0"/>
                <a:ea typeface="Calibri" pitchFamily="34" charset="-122"/>
                <a:cs typeface="Calibri" pitchFamily="34" charset="-120"/>
              </a:rPr>
              <a:t>Incidentes:</a:t>
            </a:r>
            <a:r>
              <a:rPr lang="en-US" sz="1400" dirty="0">
                <a:solidFill>
                  <a:srgbClr val="E2E8F0"/>
                </a:solidFill>
                <a:latin typeface="Calibri" pitchFamily="34" charset="0"/>
                <a:ea typeface="Calibri" pitchFamily="34" charset="-122"/>
                <a:cs typeface="Calibri" pitchFamily="34" charset="-120"/>
              </a:rPr>
              <a:t> MTTR &lt;4h para incidentes críticos. Disponibilidad ≥99.5%. Monitoreo dashboard cloud + alertas automáticas.</a:t>
            </a:r>
            <a:endParaRPr lang="en-US" sz="1400"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2 – ROADMAP 2</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Desarrollo y Ejecución – Scrum / Kanban</a:t>
            </a:r>
            <a:endParaRPr lang="en-US" sz="2100"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000" i="1" dirty="0">
                <a:solidFill>
                  <a:srgbClr val="38BDF8"/>
                </a:solidFill>
                <a:latin typeface="Calibri" pitchFamily="34" charset="0"/>
                <a:ea typeface="Calibri" pitchFamily="34" charset="-122"/>
                <a:cs typeface="Calibri" pitchFamily="34" charset="-120"/>
              </a:rPr>
              <a:t>Sprint 0 al Sprint 6 · Criterios de Aceptación · Definición de Terminado</a:t>
            </a:r>
            <a:endParaRPr lang="en-US" sz="1000" dirty="0"/>
          </a:p>
        </p:txBody>
      </p:sp>
      <p:sp>
        <p:nvSpPr>
          <p:cNvPr id="8" name="Shape 6"/>
          <p:cNvSpPr/>
          <p:nvPr/>
        </p:nvSpPr>
        <p:spPr>
          <a:xfrm>
            <a:off x="82296" y="914399"/>
            <a:ext cx="12691600" cy="45719"/>
          </a:xfrm>
          <a:prstGeom prst="rect">
            <a:avLst/>
          </a:prstGeom>
          <a:solidFill>
            <a:srgbClr val="38BDF8"/>
          </a:solidFill>
          <a:ln w="12700">
            <a:solidFill>
              <a:srgbClr val="38BDF8"/>
            </a:solidFill>
            <a:prstDash val="solid"/>
          </a:ln>
        </p:spPr>
      </p:sp>
      <p:sp>
        <p:nvSpPr>
          <p:cNvPr id="9" name="Shape 7"/>
          <p:cNvSpPr/>
          <p:nvPr/>
        </p:nvSpPr>
        <p:spPr>
          <a:xfrm>
            <a:off x="0" y="6720840"/>
            <a:ext cx="12777872" cy="137876"/>
          </a:xfrm>
          <a:prstGeom prst="rect">
            <a:avLst/>
          </a:prstGeom>
          <a:solidFill>
            <a:srgbClr val="1246B3"/>
          </a:solidFill>
          <a:ln w="12700">
            <a:solidFill>
              <a:srgbClr val="1246B3"/>
            </a:solidFill>
            <a:prstDash val="solid"/>
          </a:ln>
        </p:spPr>
      </p:sp>
      <p:sp>
        <p:nvSpPr>
          <p:cNvPr id="10" name="Text 8"/>
          <p:cNvSpPr/>
          <p:nvPr/>
        </p:nvSpPr>
        <p:spPr>
          <a:xfrm>
            <a:off x="182880" y="6611112"/>
            <a:ext cx="12394440" cy="128684"/>
          </a:xfrm>
          <a:prstGeom prst="rect">
            <a:avLst/>
          </a:prstGeom>
          <a:noFill/>
          <a:ln/>
        </p:spPr>
        <p:txBody>
          <a:bodyPr wrap="square" lIns="0" tIns="0" rIns="0" bIns="0" rtlCol="0" anchor="ctr"/>
          <a:lstStyle/>
          <a:p>
            <a:pPr marL="0" indent="0" algn="l">
              <a:buNone/>
            </a:pPr>
            <a:r>
              <a:rPr lang="en-US" sz="12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2564019941"/>
              </p:ext>
            </p:extLst>
          </p:nvPr>
        </p:nvGraphicFramePr>
        <p:xfrm>
          <a:off x="201167" y="1051560"/>
          <a:ext cx="11790534" cy="5497830"/>
        </p:xfrm>
        <a:graphic>
          <a:graphicData uri="http://schemas.openxmlformats.org/drawingml/2006/table">
            <a:tbl>
              <a:tblPr/>
              <a:tblGrid>
                <a:gridCol w="1533728">
                  <a:extLst>
                    <a:ext uri="{9D8B030D-6E8A-4147-A177-3AD203B41FA5}">
                      <a16:colId xmlns:a16="http://schemas.microsoft.com/office/drawing/2014/main" val="20000"/>
                    </a:ext>
                  </a:extLst>
                </a:gridCol>
                <a:gridCol w="2108876">
                  <a:extLst>
                    <a:ext uri="{9D8B030D-6E8A-4147-A177-3AD203B41FA5}">
                      <a16:colId xmlns:a16="http://schemas.microsoft.com/office/drawing/2014/main" val="20001"/>
                    </a:ext>
                  </a:extLst>
                </a:gridCol>
                <a:gridCol w="2108876">
                  <a:extLst>
                    <a:ext uri="{9D8B030D-6E8A-4147-A177-3AD203B41FA5}">
                      <a16:colId xmlns:a16="http://schemas.microsoft.com/office/drawing/2014/main" val="20002"/>
                    </a:ext>
                  </a:extLst>
                </a:gridCol>
                <a:gridCol w="2013018">
                  <a:extLst>
                    <a:ext uri="{9D8B030D-6E8A-4147-A177-3AD203B41FA5}">
                      <a16:colId xmlns:a16="http://schemas.microsoft.com/office/drawing/2014/main" val="20003"/>
                    </a:ext>
                  </a:extLst>
                </a:gridCol>
                <a:gridCol w="2108876">
                  <a:extLst>
                    <a:ext uri="{9D8B030D-6E8A-4147-A177-3AD203B41FA5}">
                      <a16:colId xmlns:a16="http://schemas.microsoft.com/office/drawing/2014/main" val="20004"/>
                    </a:ext>
                  </a:extLst>
                </a:gridCol>
                <a:gridCol w="1917160">
                  <a:extLst>
                    <a:ext uri="{9D8B030D-6E8A-4147-A177-3AD203B41FA5}">
                      <a16:colId xmlns:a16="http://schemas.microsoft.com/office/drawing/2014/main" val="20005"/>
                    </a:ext>
                  </a:extLst>
                </a:gridCol>
              </a:tblGrid>
              <a:tr h="660654">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Sprint</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Meta Sprint</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Criterio de Aceptación</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Definición de Terminado</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Entregable (Incremento)</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Riesgos</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extLst>
                  <a:ext uri="{0D108BD9-81ED-4DB2-BD59-A6C34878D82A}">
                    <a16:rowId xmlns:a16="http://schemas.microsoft.com/office/drawing/2014/main" val="10000"/>
                  </a:ext>
                </a:extLst>
              </a:tr>
              <a:tr h="660654">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Sprint 0 (Sem 1-2)</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Infraestructura cloud lista; entornos dev/qa/prod</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Entornos accesibles; pipelines CI/CD operativos</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Codigo en repo; pipelines validados; equipo onboarded</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Infraestructura cloud + entorno dev</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Retrasos cloud; accesos no otorgados</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extLst>
                  <a:ext uri="{0D108BD9-81ED-4DB2-BD59-A6C34878D82A}">
                    <a16:rowId xmlns:a16="http://schemas.microsoft.com/office/drawing/2014/main" val="10001"/>
                  </a:ext>
                </a:extLst>
              </a:tr>
              <a:tr h="660654">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Sprint 1 (Sem 3-4)</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MVP App movil con login, carga de boleta</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Login funcional; boleta cargada y clasificada</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Funcionalidades testeadas; sin bugs criticos</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MVP App movil v1.0</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API bancaria no disponible; UX rechazado</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extLst>
                  <a:ext uri="{0D108BD9-81ED-4DB2-BD59-A6C34878D82A}">
                    <a16:rowId xmlns:a16="http://schemas.microsoft.com/office/drawing/2014/main" val="10002"/>
                  </a:ext>
                </a:extLst>
              </a:tr>
              <a:tr h="660654">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Sprint 2 (Sem 5-6)</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API TCC integrada; limites por cargo activos</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TCC emite tarjeta; gasto aprobado &lt;=5 seg</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Pruebas integracion; 4 perfiles activos</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TCC Digital + motor de limites</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Demora homologacion; latencia &gt;5 seg</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extLst>
                  <a:ext uri="{0D108BD9-81ED-4DB2-BD59-A6C34878D82A}">
                    <a16:rowId xmlns:a16="http://schemas.microsoft.com/office/drawing/2014/main" val="10003"/>
                  </a:ext>
                </a:extLst>
              </a:tr>
              <a:tr h="660654">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Sprint 3 (Sem 7-8)</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OCR + IA &gt;=85% y &gt;=80% precision</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Clasificacion &lt;30 seg; reintento si ilegible</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Dataset validado; pruebas OK</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Motor OCR + IA en produccion</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Dataset insuficiente; precision bajo umbral</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extLst>
                  <a:ext uri="{0D108BD9-81ED-4DB2-BD59-A6C34878D82A}">
                    <a16:rowId xmlns:a16="http://schemas.microsoft.com/office/drawing/2014/main" val="10004"/>
                  </a:ext>
                </a:extLst>
              </a:tr>
              <a:tr h="660654">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Sprint 4 (Sem 9-10)</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Motor excepciones activo; flujo jerarquico</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Bloqueo &gt;110%; notificacion &lt;=2 min</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Flujo e2e testeado; registro auditado</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Workflow excepciones + trazabilidad</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Reglas negocio mal definidas</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extLst>
                  <a:ext uri="{0D108BD9-81ED-4DB2-BD59-A6C34878D82A}">
                    <a16:rowId xmlns:a16="http://schemas.microsoft.com/office/drawing/2014/main" val="10005"/>
                  </a:ext>
                </a:extLst>
              </a:tr>
              <a:tr h="660654">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Sprint 5 (Sem 11-12)</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Piloto 10 choferes; modulo offline validado</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50 gastos offline; sync &lt;=2 min; sin duplicados</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Sin incidentes criticos; go/no-go aprobado</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Piloto productivo + offline</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Baja adopcion; fallas sincronizacion</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extLst>
                  <a:ext uri="{0D108BD9-81ED-4DB2-BD59-A6C34878D82A}">
                    <a16:rowId xmlns:a16="http://schemas.microsoft.com/office/drawing/2014/main" val="10006"/>
                  </a:ext>
                </a:extLst>
              </a:tr>
              <a:tr h="660654">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Sprint 6 (Sem 13-14)</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Go-live total; dashboard metricas y ROI</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100% colaboradores con acceso; KPIs activos</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Documentacion entregada; soporte nivel 1</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Plataforma produccion + ROI</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l">
                        <a:buNone/>
                      </a:pPr>
                      <a:r>
                        <a:rPr lang="en-US" sz="1400" dirty="0">
                          <a:solidFill>
                            <a:srgbClr val="E2E8F0"/>
                          </a:solidFill>
                          <a:latin typeface="Calibri" pitchFamily="34" charset="0"/>
                          <a:ea typeface="Calibri" pitchFamily="34" charset="-122"/>
                          <a:cs typeface="Calibri" pitchFamily="34" charset="-120"/>
                        </a:rPr>
                        <a:t>Resistencia al cambio; ROI no alcanzado</a:t>
                      </a:r>
                      <a:endParaRPr lang="en-US" sz="14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3A6B"/>
          </a:solidFill>
          <a:ln w="12700">
            <a:solidFill>
              <a:srgbClr val="1A3A6B"/>
            </a:solidFill>
            <a:prstDash val="solid"/>
          </a:ln>
        </p:spPr>
      </p:sp>
      <p:sp>
        <p:nvSpPr>
          <p:cNvPr id="3" name="Shape 1"/>
          <p:cNvSpPr/>
          <p:nvPr/>
        </p:nvSpPr>
        <p:spPr>
          <a:xfrm>
            <a:off x="201168" y="91440"/>
            <a:ext cx="1737360" cy="274320"/>
          </a:xfrm>
          <a:prstGeom prst="rect">
            <a:avLst/>
          </a:prstGeom>
          <a:solidFill>
            <a:srgbClr val="00B4D8"/>
          </a:solidFill>
          <a:ln w="12700">
            <a:solidFill>
              <a:srgbClr val="00B4D8"/>
            </a:solidFill>
            <a:prstDash val="solid"/>
          </a:ln>
        </p:spPr>
      </p:sp>
      <p:sp>
        <p:nvSpPr>
          <p:cNvPr id="4" name="Text 2"/>
          <p:cNvSpPr/>
          <p:nvPr/>
        </p:nvSpPr>
        <p:spPr>
          <a:xfrm>
            <a:off x="201168" y="91440"/>
            <a:ext cx="1737360" cy="274320"/>
          </a:xfrm>
          <a:prstGeom prst="rect">
            <a:avLst/>
          </a:prstGeom>
          <a:noFill/>
          <a:ln/>
        </p:spPr>
        <p:txBody>
          <a:bodyPr wrap="square" lIns="0" tIns="0" rIns="0" bIns="0" rtlCol="0" anchor="ctr"/>
          <a:lstStyle/>
          <a:p>
            <a:pPr marL="0" indent="0" algn="ctr">
              <a:buNone/>
            </a:pPr>
            <a:r>
              <a:rPr lang="en-US" sz="700" b="1" dirty="0">
                <a:solidFill>
                  <a:srgbClr val="0A1628"/>
                </a:solidFill>
              </a:rPr>
              <a:t>ENTREGABLE 2 – ROADMAP 2</a:t>
            </a:r>
            <a:endParaRPr lang="en-US" sz="700" dirty="0"/>
          </a:p>
        </p:txBody>
      </p:sp>
      <p:sp>
        <p:nvSpPr>
          <p:cNvPr id="5" name="Text 3"/>
          <p:cNvSpPr/>
          <p:nvPr/>
        </p:nvSpPr>
        <p:spPr>
          <a:xfrm>
            <a:off x="2057400" y="64008"/>
            <a:ext cx="5943600" cy="237744"/>
          </a:xfrm>
          <a:prstGeom prst="rect">
            <a:avLst/>
          </a:prstGeom>
          <a:noFill/>
          <a:ln/>
        </p:spPr>
        <p:txBody>
          <a:bodyPr wrap="square" lIns="0" tIns="0" rIns="0" bIns="0" rtlCol="0" anchor="ctr"/>
          <a:lstStyle/>
          <a:p>
            <a:pPr marL="0" indent="0">
              <a:buNone/>
            </a:pPr>
            <a:r>
              <a:rPr lang="en-US" sz="1600" b="1" dirty="0">
                <a:solidFill>
                  <a:srgbClr val="FFFFFF"/>
                </a:solidFill>
              </a:rPr>
              <a:t>Desarrollo y Ejecución – Scrum / Kanban</a:t>
            </a:r>
            <a:endParaRPr lang="en-US" sz="1600" dirty="0"/>
          </a:p>
        </p:txBody>
      </p:sp>
      <p:sp>
        <p:nvSpPr>
          <p:cNvPr id="6" name="Text 4"/>
          <p:cNvSpPr/>
          <p:nvPr/>
        </p:nvSpPr>
        <p:spPr>
          <a:xfrm>
            <a:off x="2057400" y="310896"/>
            <a:ext cx="5943600" cy="146304"/>
          </a:xfrm>
          <a:prstGeom prst="rect">
            <a:avLst/>
          </a:prstGeom>
          <a:noFill/>
          <a:ln/>
        </p:spPr>
        <p:txBody>
          <a:bodyPr wrap="square" lIns="0" tIns="0" rIns="0" bIns="0" rtlCol="0" anchor="ctr"/>
          <a:lstStyle/>
          <a:p>
            <a:pPr marL="0" indent="0">
              <a:buNone/>
            </a:pPr>
            <a:r>
              <a:rPr lang="en-US" sz="800" i="1" dirty="0">
                <a:solidFill>
                  <a:srgbClr val="00B4D8"/>
                </a:solidFill>
              </a:rPr>
              <a:t>Camino Sprint 0 → Sprint 6  ·  Feb – May 2026  ·  14 semanas</a:t>
            </a:r>
            <a:endParaRPr lang="en-US" sz="800" dirty="0"/>
          </a:p>
        </p:txBody>
      </p:sp>
      <p:sp>
        <p:nvSpPr>
          <p:cNvPr id="7" name="Shape 5"/>
          <p:cNvSpPr/>
          <p:nvPr/>
        </p:nvSpPr>
        <p:spPr>
          <a:xfrm>
            <a:off x="1952244" y="2057400"/>
            <a:ext cx="0" cy="182880"/>
          </a:xfrm>
          <a:prstGeom prst="line">
            <a:avLst/>
          </a:prstGeom>
          <a:noFill/>
          <a:ln w="25400">
            <a:solidFill>
              <a:srgbClr val="00B4D8">
                <a:alpha val="70000"/>
              </a:srgbClr>
            </a:solidFill>
            <a:prstDash val="sysDash"/>
          </a:ln>
        </p:spPr>
      </p:sp>
      <p:sp>
        <p:nvSpPr>
          <p:cNvPr id="8" name="Shape 6"/>
          <p:cNvSpPr/>
          <p:nvPr/>
        </p:nvSpPr>
        <p:spPr>
          <a:xfrm>
            <a:off x="1897380" y="2185416"/>
            <a:ext cx="109728" cy="109728"/>
          </a:xfrm>
          <a:prstGeom prst="ellipse">
            <a:avLst/>
          </a:prstGeom>
          <a:solidFill>
            <a:srgbClr val="00B4D8"/>
          </a:solidFill>
          <a:ln w="12700">
            <a:solidFill>
              <a:srgbClr val="00B4D8"/>
            </a:solidFill>
            <a:prstDash val="solid"/>
          </a:ln>
        </p:spPr>
      </p:sp>
      <p:sp>
        <p:nvSpPr>
          <p:cNvPr id="9" name="Shape 7"/>
          <p:cNvSpPr/>
          <p:nvPr/>
        </p:nvSpPr>
        <p:spPr>
          <a:xfrm>
            <a:off x="3122676" y="2057400"/>
            <a:ext cx="0" cy="182880"/>
          </a:xfrm>
          <a:prstGeom prst="line">
            <a:avLst/>
          </a:prstGeom>
          <a:noFill/>
          <a:ln w="25400">
            <a:solidFill>
              <a:srgbClr val="48CAE4">
                <a:alpha val="70000"/>
              </a:srgbClr>
            </a:solidFill>
            <a:prstDash val="sysDash"/>
          </a:ln>
        </p:spPr>
      </p:sp>
      <p:sp>
        <p:nvSpPr>
          <p:cNvPr id="10" name="Shape 8"/>
          <p:cNvSpPr/>
          <p:nvPr/>
        </p:nvSpPr>
        <p:spPr>
          <a:xfrm>
            <a:off x="3067812" y="2185416"/>
            <a:ext cx="109728" cy="109728"/>
          </a:xfrm>
          <a:prstGeom prst="ellipse">
            <a:avLst/>
          </a:prstGeom>
          <a:solidFill>
            <a:srgbClr val="48CAE4"/>
          </a:solidFill>
          <a:ln w="12700">
            <a:solidFill>
              <a:srgbClr val="48CAE4"/>
            </a:solidFill>
            <a:prstDash val="solid"/>
          </a:ln>
        </p:spPr>
      </p:sp>
      <p:sp>
        <p:nvSpPr>
          <p:cNvPr id="11" name="Shape 9"/>
          <p:cNvSpPr/>
          <p:nvPr/>
        </p:nvSpPr>
        <p:spPr>
          <a:xfrm>
            <a:off x="4293108" y="2057400"/>
            <a:ext cx="0" cy="182880"/>
          </a:xfrm>
          <a:prstGeom prst="line">
            <a:avLst/>
          </a:prstGeom>
          <a:noFill/>
          <a:ln w="25400">
            <a:solidFill>
              <a:srgbClr val="F5A623">
                <a:alpha val="70000"/>
              </a:srgbClr>
            </a:solidFill>
            <a:prstDash val="sysDash"/>
          </a:ln>
        </p:spPr>
      </p:sp>
      <p:sp>
        <p:nvSpPr>
          <p:cNvPr id="12" name="Shape 10"/>
          <p:cNvSpPr/>
          <p:nvPr/>
        </p:nvSpPr>
        <p:spPr>
          <a:xfrm>
            <a:off x="4238244" y="2185416"/>
            <a:ext cx="109728" cy="109728"/>
          </a:xfrm>
          <a:prstGeom prst="ellipse">
            <a:avLst/>
          </a:prstGeom>
          <a:solidFill>
            <a:srgbClr val="F5A623"/>
          </a:solidFill>
          <a:ln w="12700">
            <a:solidFill>
              <a:srgbClr val="F5A623"/>
            </a:solidFill>
            <a:prstDash val="solid"/>
          </a:ln>
        </p:spPr>
      </p:sp>
      <p:sp>
        <p:nvSpPr>
          <p:cNvPr id="13" name="Shape 11"/>
          <p:cNvSpPr/>
          <p:nvPr/>
        </p:nvSpPr>
        <p:spPr>
          <a:xfrm>
            <a:off x="5463540" y="2057400"/>
            <a:ext cx="0" cy="182880"/>
          </a:xfrm>
          <a:prstGeom prst="line">
            <a:avLst/>
          </a:prstGeom>
          <a:noFill/>
          <a:ln w="25400">
            <a:solidFill>
              <a:srgbClr val="F5A623">
                <a:alpha val="70000"/>
              </a:srgbClr>
            </a:solidFill>
            <a:prstDash val="sysDash"/>
          </a:ln>
        </p:spPr>
      </p:sp>
      <p:sp>
        <p:nvSpPr>
          <p:cNvPr id="14" name="Shape 12"/>
          <p:cNvSpPr/>
          <p:nvPr/>
        </p:nvSpPr>
        <p:spPr>
          <a:xfrm>
            <a:off x="5408676" y="2185416"/>
            <a:ext cx="109728" cy="109728"/>
          </a:xfrm>
          <a:prstGeom prst="ellipse">
            <a:avLst/>
          </a:prstGeom>
          <a:solidFill>
            <a:srgbClr val="F5A623"/>
          </a:solidFill>
          <a:ln w="12700">
            <a:solidFill>
              <a:srgbClr val="F5A623"/>
            </a:solidFill>
            <a:prstDash val="solid"/>
          </a:ln>
        </p:spPr>
      </p:sp>
      <p:sp>
        <p:nvSpPr>
          <p:cNvPr id="15" name="Shape 13"/>
          <p:cNvSpPr/>
          <p:nvPr/>
        </p:nvSpPr>
        <p:spPr>
          <a:xfrm>
            <a:off x="6633972" y="2057400"/>
            <a:ext cx="0" cy="182880"/>
          </a:xfrm>
          <a:prstGeom prst="line">
            <a:avLst/>
          </a:prstGeom>
          <a:noFill/>
          <a:ln w="25400">
            <a:solidFill>
              <a:srgbClr val="27AE60">
                <a:alpha val="70000"/>
              </a:srgbClr>
            </a:solidFill>
            <a:prstDash val="sysDash"/>
          </a:ln>
        </p:spPr>
      </p:sp>
      <p:sp>
        <p:nvSpPr>
          <p:cNvPr id="16" name="Shape 14"/>
          <p:cNvSpPr/>
          <p:nvPr/>
        </p:nvSpPr>
        <p:spPr>
          <a:xfrm>
            <a:off x="6579108" y="2185416"/>
            <a:ext cx="109728" cy="109728"/>
          </a:xfrm>
          <a:prstGeom prst="ellipse">
            <a:avLst/>
          </a:prstGeom>
          <a:solidFill>
            <a:srgbClr val="27AE60"/>
          </a:solidFill>
          <a:ln w="12700">
            <a:solidFill>
              <a:srgbClr val="27AE60"/>
            </a:solidFill>
            <a:prstDash val="solid"/>
          </a:ln>
        </p:spPr>
      </p:sp>
      <p:sp>
        <p:nvSpPr>
          <p:cNvPr id="17" name="Shape 15"/>
          <p:cNvSpPr/>
          <p:nvPr/>
        </p:nvSpPr>
        <p:spPr>
          <a:xfrm>
            <a:off x="7804404" y="2057400"/>
            <a:ext cx="0" cy="182880"/>
          </a:xfrm>
          <a:prstGeom prst="line">
            <a:avLst/>
          </a:prstGeom>
          <a:noFill/>
          <a:ln w="25400">
            <a:solidFill>
              <a:srgbClr val="27AE60">
                <a:alpha val="70000"/>
              </a:srgbClr>
            </a:solidFill>
            <a:prstDash val="sysDash"/>
          </a:ln>
        </p:spPr>
      </p:sp>
      <p:sp>
        <p:nvSpPr>
          <p:cNvPr id="18" name="Shape 16"/>
          <p:cNvSpPr/>
          <p:nvPr/>
        </p:nvSpPr>
        <p:spPr>
          <a:xfrm>
            <a:off x="7749540" y="2185416"/>
            <a:ext cx="109728" cy="109728"/>
          </a:xfrm>
          <a:prstGeom prst="ellipse">
            <a:avLst/>
          </a:prstGeom>
          <a:solidFill>
            <a:srgbClr val="27AE60"/>
          </a:solidFill>
          <a:ln w="12700">
            <a:solidFill>
              <a:srgbClr val="27AE60"/>
            </a:solidFill>
            <a:prstDash val="solid"/>
          </a:ln>
        </p:spPr>
      </p:sp>
      <p:sp>
        <p:nvSpPr>
          <p:cNvPr id="19" name="Shape 17"/>
          <p:cNvSpPr/>
          <p:nvPr/>
        </p:nvSpPr>
        <p:spPr>
          <a:xfrm>
            <a:off x="525780" y="813816"/>
            <a:ext cx="512064" cy="512064"/>
          </a:xfrm>
          <a:prstGeom prst="ellipse">
            <a:avLst/>
          </a:prstGeom>
          <a:solidFill>
            <a:srgbClr val="00B4D8"/>
          </a:solidFill>
          <a:ln w="19050">
            <a:solidFill>
              <a:srgbClr val="FFFFFF"/>
            </a:solidFill>
            <a:prstDash val="solid"/>
          </a:ln>
          <a:effectLst>
            <a:outerShdw blurRad="127000" dist="38100" dir="8100000" algn="bl" rotWithShape="0">
              <a:srgbClr val="000000">
                <a:alpha val="25000"/>
              </a:srgbClr>
            </a:outerShdw>
          </a:effectLst>
        </p:spPr>
      </p:sp>
      <p:sp>
        <p:nvSpPr>
          <p:cNvPr id="20" name="Text 18"/>
          <p:cNvSpPr/>
          <p:nvPr/>
        </p:nvSpPr>
        <p:spPr>
          <a:xfrm>
            <a:off x="525780" y="813816"/>
            <a:ext cx="512064" cy="512064"/>
          </a:xfrm>
          <a:prstGeom prst="rect">
            <a:avLst/>
          </a:prstGeom>
          <a:noFill/>
          <a:ln/>
        </p:spPr>
        <p:txBody>
          <a:bodyPr wrap="square" lIns="0" tIns="0" rIns="0" bIns="0" rtlCol="0" anchor="ctr"/>
          <a:lstStyle/>
          <a:p>
            <a:pPr marL="0" indent="0" algn="ctr">
              <a:buNone/>
            </a:pPr>
            <a:r>
              <a:rPr lang="en-US" sz="950" b="1" dirty="0">
                <a:solidFill>
                  <a:srgbClr val="0A1628"/>
                </a:solidFill>
              </a:rPr>
              <a:t>S0</a:t>
            </a:r>
            <a:endParaRPr lang="en-US" sz="950" dirty="0"/>
          </a:p>
        </p:txBody>
      </p:sp>
      <p:sp>
        <p:nvSpPr>
          <p:cNvPr id="21" name="Shape 19"/>
          <p:cNvSpPr/>
          <p:nvPr/>
        </p:nvSpPr>
        <p:spPr>
          <a:xfrm>
            <a:off x="256032" y="1380744"/>
            <a:ext cx="1051560" cy="594360"/>
          </a:xfrm>
          <a:prstGeom prst="rect">
            <a:avLst/>
          </a:prstGeom>
          <a:solidFill>
            <a:srgbClr val="0D2144"/>
          </a:solidFill>
          <a:ln w="12700">
            <a:solidFill>
              <a:srgbClr val="00B4D8"/>
            </a:solidFill>
            <a:prstDash val="solid"/>
          </a:ln>
          <a:effectLst>
            <a:outerShdw blurRad="127000" dist="38100" dir="8100000" algn="bl" rotWithShape="0">
              <a:srgbClr val="000000">
                <a:alpha val="25000"/>
              </a:srgbClr>
            </a:outerShdw>
          </a:effectLst>
        </p:spPr>
      </p:sp>
      <p:sp>
        <p:nvSpPr>
          <p:cNvPr id="22" name="Shape 20"/>
          <p:cNvSpPr/>
          <p:nvPr/>
        </p:nvSpPr>
        <p:spPr>
          <a:xfrm>
            <a:off x="256032" y="1380744"/>
            <a:ext cx="1051560" cy="45720"/>
          </a:xfrm>
          <a:prstGeom prst="rect">
            <a:avLst/>
          </a:prstGeom>
          <a:solidFill>
            <a:srgbClr val="00B4D8"/>
          </a:solidFill>
          <a:ln w="12700">
            <a:solidFill>
              <a:srgbClr val="00B4D8"/>
            </a:solidFill>
            <a:prstDash val="solid"/>
          </a:ln>
        </p:spPr>
      </p:sp>
      <p:sp>
        <p:nvSpPr>
          <p:cNvPr id="23" name="Text 21"/>
          <p:cNvSpPr/>
          <p:nvPr/>
        </p:nvSpPr>
        <p:spPr>
          <a:xfrm>
            <a:off x="256032" y="1444752"/>
            <a:ext cx="1051560" cy="146304"/>
          </a:xfrm>
          <a:prstGeom prst="rect">
            <a:avLst/>
          </a:prstGeom>
          <a:noFill/>
          <a:ln/>
        </p:spPr>
        <p:txBody>
          <a:bodyPr wrap="square" lIns="0" tIns="0" rIns="0" bIns="0" rtlCol="0" anchor="ctr"/>
          <a:lstStyle/>
          <a:p>
            <a:pPr marL="0" indent="0" algn="ctr">
              <a:buNone/>
            </a:pPr>
            <a:r>
              <a:rPr lang="en-US" sz="800" b="1" dirty="0">
                <a:solidFill>
                  <a:srgbClr val="FFFFFF"/>
                </a:solidFill>
              </a:rPr>
              <a:t>Sprint 0</a:t>
            </a:r>
            <a:endParaRPr lang="en-US" sz="800" dirty="0"/>
          </a:p>
        </p:txBody>
      </p:sp>
      <p:sp>
        <p:nvSpPr>
          <p:cNvPr id="24" name="Text 22"/>
          <p:cNvSpPr/>
          <p:nvPr/>
        </p:nvSpPr>
        <p:spPr>
          <a:xfrm>
            <a:off x="256032" y="1581912"/>
            <a:ext cx="1051560" cy="128016"/>
          </a:xfrm>
          <a:prstGeom prst="rect">
            <a:avLst/>
          </a:prstGeom>
          <a:noFill/>
          <a:ln/>
        </p:spPr>
        <p:txBody>
          <a:bodyPr wrap="square" lIns="0" tIns="0" rIns="0" bIns="0" rtlCol="0" anchor="ctr"/>
          <a:lstStyle/>
          <a:p>
            <a:pPr marL="0" indent="0" algn="ctr">
              <a:buNone/>
            </a:pPr>
            <a:r>
              <a:rPr lang="en-US" sz="650" dirty="0">
                <a:solidFill>
                  <a:srgbClr val="00B4D8"/>
                </a:solidFill>
              </a:rPr>
              <a:t>01–14 Feb</a:t>
            </a:r>
            <a:endParaRPr lang="en-US" sz="650" dirty="0"/>
          </a:p>
        </p:txBody>
      </p:sp>
      <p:sp>
        <p:nvSpPr>
          <p:cNvPr id="25" name="Shape 23"/>
          <p:cNvSpPr/>
          <p:nvPr/>
        </p:nvSpPr>
        <p:spPr>
          <a:xfrm>
            <a:off x="347472" y="1719072"/>
            <a:ext cx="868680" cy="0"/>
          </a:xfrm>
          <a:prstGeom prst="line">
            <a:avLst/>
          </a:prstGeom>
          <a:noFill/>
          <a:ln w="6350">
            <a:solidFill>
              <a:srgbClr val="00B4D8">
                <a:alpha val="40000"/>
              </a:srgbClr>
            </a:solidFill>
            <a:prstDash val="solid"/>
          </a:ln>
        </p:spPr>
      </p:sp>
      <p:sp>
        <p:nvSpPr>
          <p:cNvPr id="26" name="Text 24"/>
          <p:cNvSpPr/>
          <p:nvPr/>
        </p:nvSpPr>
        <p:spPr>
          <a:xfrm>
            <a:off x="256032" y="1746504"/>
            <a:ext cx="1051560" cy="182880"/>
          </a:xfrm>
          <a:prstGeom prst="rect">
            <a:avLst/>
          </a:prstGeom>
          <a:noFill/>
          <a:ln/>
        </p:spPr>
        <p:txBody>
          <a:bodyPr wrap="square" lIns="0" tIns="0" rIns="0" bIns="0" rtlCol="0" anchor="ctr"/>
          <a:lstStyle/>
          <a:p>
            <a:pPr marL="0" indent="0" algn="ctr">
              <a:buNone/>
            </a:pPr>
            <a:r>
              <a:rPr lang="en-US" sz="650" dirty="0">
                <a:solidFill>
                  <a:srgbClr val="C8D8E8"/>
                </a:solidFill>
              </a:rPr>
              <a:t>Cloud + CI/CD</a:t>
            </a:r>
            <a:endParaRPr lang="en-US" sz="650" dirty="0"/>
          </a:p>
        </p:txBody>
      </p:sp>
      <p:sp>
        <p:nvSpPr>
          <p:cNvPr id="27" name="Shape 25"/>
          <p:cNvSpPr/>
          <p:nvPr/>
        </p:nvSpPr>
        <p:spPr>
          <a:xfrm>
            <a:off x="1696212" y="2276856"/>
            <a:ext cx="512064" cy="512064"/>
          </a:xfrm>
          <a:prstGeom prst="ellipse">
            <a:avLst/>
          </a:prstGeom>
          <a:solidFill>
            <a:srgbClr val="48CAE4"/>
          </a:solidFill>
          <a:ln w="19050">
            <a:solidFill>
              <a:srgbClr val="FFFFFF"/>
            </a:solidFill>
            <a:prstDash val="solid"/>
          </a:ln>
          <a:effectLst>
            <a:outerShdw blurRad="127000" dist="38100" dir="8100000" algn="bl" rotWithShape="0">
              <a:srgbClr val="000000">
                <a:alpha val="25000"/>
              </a:srgbClr>
            </a:outerShdw>
          </a:effectLst>
        </p:spPr>
      </p:sp>
      <p:sp>
        <p:nvSpPr>
          <p:cNvPr id="28" name="Text 26"/>
          <p:cNvSpPr/>
          <p:nvPr/>
        </p:nvSpPr>
        <p:spPr>
          <a:xfrm>
            <a:off x="1696212" y="2276856"/>
            <a:ext cx="512064" cy="512064"/>
          </a:xfrm>
          <a:prstGeom prst="rect">
            <a:avLst/>
          </a:prstGeom>
          <a:noFill/>
          <a:ln/>
        </p:spPr>
        <p:txBody>
          <a:bodyPr wrap="square" lIns="0" tIns="0" rIns="0" bIns="0" rtlCol="0" anchor="ctr"/>
          <a:lstStyle/>
          <a:p>
            <a:pPr marL="0" indent="0" algn="ctr">
              <a:buNone/>
            </a:pPr>
            <a:r>
              <a:rPr lang="en-US" sz="1050" b="1" dirty="0">
                <a:solidFill>
                  <a:srgbClr val="0A1628"/>
                </a:solidFill>
              </a:rPr>
              <a:t>S1</a:t>
            </a:r>
            <a:endParaRPr lang="en-US" sz="1050" dirty="0"/>
          </a:p>
        </p:txBody>
      </p:sp>
      <p:sp>
        <p:nvSpPr>
          <p:cNvPr id="29" name="Shape 27"/>
          <p:cNvSpPr/>
          <p:nvPr/>
        </p:nvSpPr>
        <p:spPr>
          <a:xfrm>
            <a:off x="1426464" y="1581912"/>
            <a:ext cx="1051560" cy="594360"/>
          </a:xfrm>
          <a:prstGeom prst="rect">
            <a:avLst/>
          </a:prstGeom>
          <a:solidFill>
            <a:srgbClr val="0D2144"/>
          </a:solidFill>
          <a:ln w="12700">
            <a:solidFill>
              <a:srgbClr val="48CAE4"/>
            </a:solidFill>
            <a:prstDash val="solid"/>
          </a:ln>
          <a:effectLst>
            <a:outerShdw blurRad="127000" dist="38100" dir="8100000" algn="bl" rotWithShape="0">
              <a:srgbClr val="000000">
                <a:alpha val="25000"/>
              </a:srgbClr>
            </a:outerShdw>
          </a:effectLst>
        </p:spPr>
      </p:sp>
      <p:sp>
        <p:nvSpPr>
          <p:cNvPr id="30" name="Shape 28"/>
          <p:cNvSpPr/>
          <p:nvPr/>
        </p:nvSpPr>
        <p:spPr>
          <a:xfrm>
            <a:off x="1426464" y="1581912"/>
            <a:ext cx="1051560" cy="45720"/>
          </a:xfrm>
          <a:prstGeom prst="rect">
            <a:avLst/>
          </a:prstGeom>
          <a:solidFill>
            <a:srgbClr val="48CAE4"/>
          </a:solidFill>
          <a:ln w="12700">
            <a:solidFill>
              <a:srgbClr val="48CAE4"/>
            </a:solidFill>
            <a:prstDash val="solid"/>
          </a:ln>
        </p:spPr>
      </p:sp>
      <p:sp>
        <p:nvSpPr>
          <p:cNvPr id="31" name="Text 29"/>
          <p:cNvSpPr/>
          <p:nvPr/>
        </p:nvSpPr>
        <p:spPr>
          <a:xfrm>
            <a:off x="1426464" y="1645920"/>
            <a:ext cx="1051560" cy="146304"/>
          </a:xfrm>
          <a:prstGeom prst="rect">
            <a:avLst/>
          </a:prstGeom>
          <a:noFill/>
          <a:ln/>
        </p:spPr>
        <p:txBody>
          <a:bodyPr wrap="square" lIns="0" tIns="0" rIns="0" bIns="0" rtlCol="0" anchor="ctr"/>
          <a:lstStyle/>
          <a:p>
            <a:pPr marL="0" indent="0" algn="ctr">
              <a:buNone/>
            </a:pPr>
            <a:r>
              <a:rPr lang="en-US" sz="800" b="1" dirty="0">
                <a:solidFill>
                  <a:srgbClr val="FFFFFF"/>
                </a:solidFill>
              </a:rPr>
              <a:t>Sprint 1</a:t>
            </a:r>
            <a:endParaRPr lang="en-US" sz="800" dirty="0"/>
          </a:p>
        </p:txBody>
      </p:sp>
      <p:sp>
        <p:nvSpPr>
          <p:cNvPr id="32" name="Text 30"/>
          <p:cNvSpPr/>
          <p:nvPr/>
        </p:nvSpPr>
        <p:spPr>
          <a:xfrm>
            <a:off x="1426464" y="1783080"/>
            <a:ext cx="1051560" cy="128016"/>
          </a:xfrm>
          <a:prstGeom prst="rect">
            <a:avLst/>
          </a:prstGeom>
          <a:noFill/>
          <a:ln/>
        </p:spPr>
        <p:txBody>
          <a:bodyPr wrap="square" lIns="0" tIns="0" rIns="0" bIns="0" rtlCol="0" anchor="ctr"/>
          <a:lstStyle/>
          <a:p>
            <a:pPr marL="0" indent="0" algn="ctr">
              <a:buNone/>
            </a:pPr>
            <a:r>
              <a:rPr lang="en-US" sz="650" dirty="0">
                <a:solidFill>
                  <a:srgbClr val="48CAE4"/>
                </a:solidFill>
              </a:rPr>
              <a:t>15–28 Feb</a:t>
            </a:r>
            <a:endParaRPr lang="en-US" sz="650" dirty="0"/>
          </a:p>
        </p:txBody>
      </p:sp>
      <p:sp>
        <p:nvSpPr>
          <p:cNvPr id="33" name="Shape 31"/>
          <p:cNvSpPr/>
          <p:nvPr/>
        </p:nvSpPr>
        <p:spPr>
          <a:xfrm>
            <a:off x="1517904" y="1920240"/>
            <a:ext cx="868680" cy="0"/>
          </a:xfrm>
          <a:prstGeom prst="line">
            <a:avLst/>
          </a:prstGeom>
          <a:noFill/>
          <a:ln w="6350">
            <a:solidFill>
              <a:srgbClr val="48CAE4">
                <a:alpha val="40000"/>
              </a:srgbClr>
            </a:solidFill>
            <a:prstDash val="solid"/>
          </a:ln>
        </p:spPr>
      </p:sp>
      <p:sp>
        <p:nvSpPr>
          <p:cNvPr id="34" name="Text 32"/>
          <p:cNvSpPr/>
          <p:nvPr/>
        </p:nvSpPr>
        <p:spPr>
          <a:xfrm>
            <a:off x="1426464" y="1947672"/>
            <a:ext cx="1051560" cy="182880"/>
          </a:xfrm>
          <a:prstGeom prst="rect">
            <a:avLst/>
          </a:prstGeom>
          <a:noFill/>
          <a:ln/>
        </p:spPr>
        <p:txBody>
          <a:bodyPr wrap="square" lIns="0" tIns="0" rIns="0" bIns="0" rtlCol="0" anchor="ctr"/>
          <a:lstStyle/>
          <a:p>
            <a:pPr marL="0" indent="0" algn="ctr">
              <a:buNone/>
            </a:pPr>
            <a:r>
              <a:rPr lang="en-US" sz="650" dirty="0">
                <a:solidFill>
                  <a:srgbClr val="C8D8E8"/>
                </a:solidFill>
              </a:rPr>
              <a:t>App móvil v1.0</a:t>
            </a:r>
            <a:endParaRPr lang="en-US" sz="650" dirty="0"/>
          </a:p>
        </p:txBody>
      </p:sp>
      <p:sp>
        <p:nvSpPr>
          <p:cNvPr id="35" name="Shape 33"/>
          <p:cNvSpPr/>
          <p:nvPr/>
        </p:nvSpPr>
        <p:spPr>
          <a:xfrm>
            <a:off x="2866644" y="813816"/>
            <a:ext cx="512064" cy="512064"/>
          </a:xfrm>
          <a:prstGeom prst="ellipse">
            <a:avLst/>
          </a:prstGeom>
          <a:solidFill>
            <a:srgbClr val="F5A623"/>
          </a:solidFill>
          <a:ln w="19050">
            <a:solidFill>
              <a:srgbClr val="FFFFFF"/>
            </a:solidFill>
            <a:prstDash val="solid"/>
          </a:ln>
          <a:effectLst>
            <a:outerShdw blurRad="127000" dist="38100" dir="8100000" algn="bl" rotWithShape="0">
              <a:srgbClr val="000000">
                <a:alpha val="25000"/>
              </a:srgbClr>
            </a:outerShdw>
          </a:effectLst>
        </p:spPr>
      </p:sp>
      <p:sp>
        <p:nvSpPr>
          <p:cNvPr id="36" name="Text 34"/>
          <p:cNvSpPr/>
          <p:nvPr/>
        </p:nvSpPr>
        <p:spPr>
          <a:xfrm>
            <a:off x="2866644" y="813816"/>
            <a:ext cx="512064" cy="512064"/>
          </a:xfrm>
          <a:prstGeom prst="rect">
            <a:avLst/>
          </a:prstGeom>
          <a:noFill/>
          <a:ln/>
        </p:spPr>
        <p:txBody>
          <a:bodyPr wrap="square" lIns="0" tIns="0" rIns="0" bIns="0" rtlCol="0" anchor="ctr"/>
          <a:lstStyle/>
          <a:p>
            <a:pPr marL="0" indent="0" algn="ctr">
              <a:buNone/>
            </a:pPr>
            <a:r>
              <a:rPr lang="en-US" sz="1050" b="1" dirty="0">
                <a:solidFill>
                  <a:srgbClr val="0A1628"/>
                </a:solidFill>
              </a:rPr>
              <a:t>S2</a:t>
            </a:r>
            <a:endParaRPr lang="en-US" sz="1050" dirty="0"/>
          </a:p>
        </p:txBody>
      </p:sp>
      <p:sp>
        <p:nvSpPr>
          <p:cNvPr id="37" name="Shape 35"/>
          <p:cNvSpPr/>
          <p:nvPr/>
        </p:nvSpPr>
        <p:spPr>
          <a:xfrm>
            <a:off x="2596896" y="1380744"/>
            <a:ext cx="1051560" cy="594360"/>
          </a:xfrm>
          <a:prstGeom prst="rect">
            <a:avLst/>
          </a:prstGeom>
          <a:solidFill>
            <a:srgbClr val="0D2144"/>
          </a:solidFill>
          <a:ln w="12700">
            <a:solidFill>
              <a:srgbClr val="F5A623"/>
            </a:solidFill>
            <a:prstDash val="solid"/>
          </a:ln>
          <a:effectLst>
            <a:outerShdw blurRad="127000" dist="38100" dir="8100000" algn="bl" rotWithShape="0">
              <a:srgbClr val="000000">
                <a:alpha val="25000"/>
              </a:srgbClr>
            </a:outerShdw>
          </a:effectLst>
        </p:spPr>
      </p:sp>
      <p:sp>
        <p:nvSpPr>
          <p:cNvPr id="38" name="Shape 36"/>
          <p:cNvSpPr/>
          <p:nvPr/>
        </p:nvSpPr>
        <p:spPr>
          <a:xfrm>
            <a:off x="2596896" y="1380744"/>
            <a:ext cx="1051560" cy="45720"/>
          </a:xfrm>
          <a:prstGeom prst="rect">
            <a:avLst/>
          </a:prstGeom>
          <a:solidFill>
            <a:srgbClr val="F5A623"/>
          </a:solidFill>
          <a:ln w="12700">
            <a:solidFill>
              <a:srgbClr val="F5A623"/>
            </a:solidFill>
            <a:prstDash val="solid"/>
          </a:ln>
        </p:spPr>
      </p:sp>
      <p:sp>
        <p:nvSpPr>
          <p:cNvPr id="39" name="Text 37"/>
          <p:cNvSpPr/>
          <p:nvPr/>
        </p:nvSpPr>
        <p:spPr>
          <a:xfrm>
            <a:off x="2596896" y="1444752"/>
            <a:ext cx="1051560" cy="146304"/>
          </a:xfrm>
          <a:prstGeom prst="rect">
            <a:avLst/>
          </a:prstGeom>
          <a:noFill/>
          <a:ln/>
        </p:spPr>
        <p:txBody>
          <a:bodyPr wrap="square" lIns="0" tIns="0" rIns="0" bIns="0" rtlCol="0" anchor="ctr"/>
          <a:lstStyle/>
          <a:p>
            <a:pPr marL="0" indent="0" algn="ctr">
              <a:buNone/>
            </a:pPr>
            <a:r>
              <a:rPr lang="en-US" sz="800" b="1" dirty="0">
                <a:solidFill>
                  <a:srgbClr val="FFFFFF"/>
                </a:solidFill>
              </a:rPr>
              <a:t>Sprint 2</a:t>
            </a:r>
            <a:endParaRPr lang="en-US" sz="800" dirty="0"/>
          </a:p>
        </p:txBody>
      </p:sp>
      <p:sp>
        <p:nvSpPr>
          <p:cNvPr id="40" name="Text 38"/>
          <p:cNvSpPr/>
          <p:nvPr/>
        </p:nvSpPr>
        <p:spPr>
          <a:xfrm>
            <a:off x="2596896" y="1581912"/>
            <a:ext cx="1051560" cy="128016"/>
          </a:xfrm>
          <a:prstGeom prst="rect">
            <a:avLst/>
          </a:prstGeom>
          <a:noFill/>
          <a:ln/>
        </p:spPr>
        <p:txBody>
          <a:bodyPr wrap="square" lIns="0" tIns="0" rIns="0" bIns="0" rtlCol="0" anchor="ctr"/>
          <a:lstStyle/>
          <a:p>
            <a:pPr marL="0" indent="0" algn="ctr">
              <a:buNone/>
            </a:pPr>
            <a:r>
              <a:rPr lang="en-US" sz="650" dirty="0">
                <a:solidFill>
                  <a:srgbClr val="F5A623"/>
                </a:solidFill>
              </a:rPr>
              <a:t>01–14 Mar</a:t>
            </a:r>
            <a:endParaRPr lang="en-US" sz="650" dirty="0"/>
          </a:p>
        </p:txBody>
      </p:sp>
      <p:sp>
        <p:nvSpPr>
          <p:cNvPr id="41" name="Shape 39"/>
          <p:cNvSpPr/>
          <p:nvPr/>
        </p:nvSpPr>
        <p:spPr>
          <a:xfrm>
            <a:off x="2688336" y="1719072"/>
            <a:ext cx="868680" cy="0"/>
          </a:xfrm>
          <a:prstGeom prst="line">
            <a:avLst/>
          </a:prstGeom>
          <a:noFill/>
          <a:ln w="6350">
            <a:solidFill>
              <a:srgbClr val="F5A623">
                <a:alpha val="40000"/>
              </a:srgbClr>
            </a:solidFill>
            <a:prstDash val="solid"/>
          </a:ln>
        </p:spPr>
      </p:sp>
      <p:sp>
        <p:nvSpPr>
          <p:cNvPr id="42" name="Text 40"/>
          <p:cNvSpPr/>
          <p:nvPr/>
        </p:nvSpPr>
        <p:spPr>
          <a:xfrm>
            <a:off x="2596896" y="1746504"/>
            <a:ext cx="1051560" cy="182880"/>
          </a:xfrm>
          <a:prstGeom prst="rect">
            <a:avLst/>
          </a:prstGeom>
          <a:noFill/>
          <a:ln/>
        </p:spPr>
        <p:txBody>
          <a:bodyPr wrap="square" lIns="0" tIns="0" rIns="0" bIns="0" rtlCol="0" anchor="ctr"/>
          <a:lstStyle/>
          <a:p>
            <a:pPr marL="0" indent="0" algn="ctr">
              <a:buNone/>
            </a:pPr>
            <a:r>
              <a:rPr lang="en-US" sz="650" dirty="0">
                <a:solidFill>
                  <a:srgbClr val="C8D8E8"/>
                </a:solidFill>
              </a:rPr>
              <a:t>TCC + Motor límites</a:t>
            </a:r>
            <a:endParaRPr lang="en-US" sz="650" dirty="0"/>
          </a:p>
        </p:txBody>
      </p:sp>
      <p:sp>
        <p:nvSpPr>
          <p:cNvPr id="43" name="Shape 41"/>
          <p:cNvSpPr/>
          <p:nvPr/>
        </p:nvSpPr>
        <p:spPr>
          <a:xfrm>
            <a:off x="4037076" y="2276856"/>
            <a:ext cx="512064" cy="512064"/>
          </a:xfrm>
          <a:prstGeom prst="ellipse">
            <a:avLst/>
          </a:prstGeom>
          <a:solidFill>
            <a:srgbClr val="F5A623"/>
          </a:solidFill>
          <a:ln w="19050">
            <a:solidFill>
              <a:srgbClr val="FFFFFF"/>
            </a:solidFill>
            <a:prstDash val="solid"/>
          </a:ln>
          <a:effectLst>
            <a:outerShdw blurRad="127000" dist="38100" dir="8100000" algn="bl" rotWithShape="0">
              <a:srgbClr val="000000">
                <a:alpha val="25000"/>
              </a:srgbClr>
            </a:outerShdw>
          </a:effectLst>
        </p:spPr>
      </p:sp>
      <p:sp>
        <p:nvSpPr>
          <p:cNvPr id="44" name="Text 42"/>
          <p:cNvSpPr/>
          <p:nvPr/>
        </p:nvSpPr>
        <p:spPr>
          <a:xfrm>
            <a:off x="4037076" y="2276856"/>
            <a:ext cx="512064" cy="512064"/>
          </a:xfrm>
          <a:prstGeom prst="rect">
            <a:avLst/>
          </a:prstGeom>
          <a:noFill/>
          <a:ln/>
        </p:spPr>
        <p:txBody>
          <a:bodyPr wrap="square" lIns="0" tIns="0" rIns="0" bIns="0" rtlCol="0" anchor="ctr"/>
          <a:lstStyle/>
          <a:p>
            <a:pPr marL="0" indent="0" algn="ctr">
              <a:buNone/>
            </a:pPr>
            <a:r>
              <a:rPr lang="en-US" sz="1050" b="1" dirty="0">
                <a:solidFill>
                  <a:srgbClr val="0A1628"/>
                </a:solidFill>
              </a:rPr>
              <a:t>S3</a:t>
            </a:r>
            <a:endParaRPr lang="en-US" sz="1050" dirty="0"/>
          </a:p>
        </p:txBody>
      </p:sp>
      <p:sp>
        <p:nvSpPr>
          <p:cNvPr id="45" name="Shape 43"/>
          <p:cNvSpPr/>
          <p:nvPr/>
        </p:nvSpPr>
        <p:spPr>
          <a:xfrm>
            <a:off x="3767328" y="1581912"/>
            <a:ext cx="1051560" cy="594360"/>
          </a:xfrm>
          <a:prstGeom prst="rect">
            <a:avLst/>
          </a:prstGeom>
          <a:solidFill>
            <a:srgbClr val="0D2144"/>
          </a:solidFill>
          <a:ln w="12700">
            <a:solidFill>
              <a:srgbClr val="F5A623"/>
            </a:solidFill>
            <a:prstDash val="solid"/>
          </a:ln>
          <a:effectLst>
            <a:outerShdw blurRad="127000" dist="38100" dir="8100000" algn="bl" rotWithShape="0">
              <a:srgbClr val="000000">
                <a:alpha val="25000"/>
              </a:srgbClr>
            </a:outerShdw>
          </a:effectLst>
        </p:spPr>
      </p:sp>
      <p:sp>
        <p:nvSpPr>
          <p:cNvPr id="46" name="Shape 44"/>
          <p:cNvSpPr/>
          <p:nvPr/>
        </p:nvSpPr>
        <p:spPr>
          <a:xfrm>
            <a:off x="3767328" y="1581912"/>
            <a:ext cx="1051560" cy="45720"/>
          </a:xfrm>
          <a:prstGeom prst="rect">
            <a:avLst/>
          </a:prstGeom>
          <a:solidFill>
            <a:srgbClr val="F5A623"/>
          </a:solidFill>
          <a:ln w="12700">
            <a:solidFill>
              <a:srgbClr val="F5A623"/>
            </a:solidFill>
            <a:prstDash val="solid"/>
          </a:ln>
        </p:spPr>
      </p:sp>
      <p:sp>
        <p:nvSpPr>
          <p:cNvPr id="47" name="Text 45"/>
          <p:cNvSpPr/>
          <p:nvPr/>
        </p:nvSpPr>
        <p:spPr>
          <a:xfrm>
            <a:off x="3767328" y="1645920"/>
            <a:ext cx="1051560" cy="146304"/>
          </a:xfrm>
          <a:prstGeom prst="rect">
            <a:avLst/>
          </a:prstGeom>
          <a:noFill/>
          <a:ln/>
        </p:spPr>
        <p:txBody>
          <a:bodyPr wrap="square" lIns="0" tIns="0" rIns="0" bIns="0" rtlCol="0" anchor="ctr"/>
          <a:lstStyle/>
          <a:p>
            <a:pPr marL="0" indent="0" algn="ctr">
              <a:buNone/>
            </a:pPr>
            <a:r>
              <a:rPr lang="en-US" sz="800" b="1" dirty="0">
                <a:solidFill>
                  <a:srgbClr val="FFFFFF"/>
                </a:solidFill>
              </a:rPr>
              <a:t>Sprint 3</a:t>
            </a:r>
            <a:endParaRPr lang="en-US" sz="800" dirty="0"/>
          </a:p>
        </p:txBody>
      </p:sp>
      <p:sp>
        <p:nvSpPr>
          <p:cNvPr id="48" name="Text 46"/>
          <p:cNvSpPr/>
          <p:nvPr/>
        </p:nvSpPr>
        <p:spPr>
          <a:xfrm>
            <a:off x="3767328" y="1783080"/>
            <a:ext cx="1051560" cy="128016"/>
          </a:xfrm>
          <a:prstGeom prst="rect">
            <a:avLst/>
          </a:prstGeom>
          <a:noFill/>
          <a:ln/>
        </p:spPr>
        <p:txBody>
          <a:bodyPr wrap="square" lIns="0" tIns="0" rIns="0" bIns="0" rtlCol="0" anchor="ctr"/>
          <a:lstStyle/>
          <a:p>
            <a:pPr marL="0" indent="0" algn="ctr">
              <a:buNone/>
            </a:pPr>
            <a:r>
              <a:rPr lang="en-US" sz="650" dirty="0">
                <a:solidFill>
                  <a:srgbClr val="F5A623"/>
                </a:solidFill>
              </a:rPr>
              <a:t>15–28 Mar</a:t>
            </a:r>
            <a:endParaRPr lang="en-US" sz="650" dirty="0"/>
          </a:p>
        </p:txBody>
      </p:sp>
      <p:sp>
        <p:nvSpPr>
          <p:cNvPr id="49" name="Shape 47"/>
          <p:cNvSpPr/>
          <p:nvPr/>
        </p:nvSpPr>
        <p:spPr>
          <a:xfrm>
            <a:off x="3858768" y="1920240"/>
            <a:ext cx="868680" cy="0"/>
          </a:xfrm>
          <a:prstGeom prst="line">
            <a:avLst/>
          </a:prstGeom>
          <a:noFill/>
          <a:ln w="6350">
            <a:solidFill>
              <a:srgbClr val="F5A623">
                <a:alpha val="40000"/>
              </a:srgbClr>
            </a:solidFill>
            <a:prstDash val="solid"/>
          </a:ln>
        </p:spPr>
      </p:sp>
      <p:sp>
        <p:nvSpPr>
          <p:cNvPr id="50" name="Text 48"/>
          <p:cNvSpPr/>
          <p:nvPr/>
        </p:nvSpPr>
        <p:spPr>
          <a:xfrm>
            <a:off x="3767328" y="1947672"/>
            <a:ext cx="1051560" cy="182880"/>
          </a:xfrm>
          <a:prstGeom prst="rect">
            <a:avLst/>
          </a:prstGeom>
          <a:noFill/>
          <a:ln/>
        </p:spPr>
        <p:txBody>
          <a:bodyPr wrap="square" lIns="0" tIns="0" rIns="0" bIns="0" rtlCol="0" anchor="ctr"/>
          <a:lstStyle/>
          <a:p>
            <a:pPr marL="0" indent="0" algn="ctr">
              <a:buNone/>
            </a:pPr>
            <a:r>
              <a:rPr lang="en-US" sz="650" dirty="0">
                <a:solidFill>
                  <a:srgbClr val="C8D8E8"/>
                </a:solidFill>
              </a:rPr>
              <a:t>Motor OCR en prod</a:t>
            </a:r>
            <a:endParaRPr lang="en-US" sz="650" dirty="0"/>
          </a:p>
        </p:txBody>
      </p:sp>
      <p:sp>
        <p:nvSpPr>
          <p:cNvPr id="51" name="Shape 49"/>
          <p:cNvSpPr/>
          <p:nvPr/>
        </p:nvSpPr>
        <p:spPr>
          <a:xfrm>
            <a:off x="5207508" y="813816"/>
            <a:ext cx="512064" cy="512064"/>
          </a:xfrm>
          <a:prstGeom prst="ellipse">
            <a:avLst/>
          </a:prstGeom>
          <a:solidFill>
            <a:srgbClr val="27AE60"/>
          </a:solidFill>
          <a:ln w="19050">
            <a:solidFill>
              <a:srgbClr val="FFFFFF"/>
            </a:solidFill>
            <a:prstDash val="solid"/>
          </a:ln>
          <a:effectLst>
            <a:outerShdw blurRad="127000" dist="38100" dir="8100000" algn="bl" rotWithShape="0">
              <a:srgbClr val="000000">
                <a:alpha val="25000"/>
              </a:srgbClr>
            </a:outerShdw>
          </a:effectLst>
        </p:spPr>
      </p:sp>
      <p:sp>
        <p:nvSpPr>
          <p:cNvPr id="52" name="Text 50"/>
          <p:cNvSpPr/>
          <p:nvPr/>
        </p:nvSpPr>
        <p:spPr>
          <a:xfrm>
            <a:off x="5207508" y="813816"/>
            <a:ext cx="512064" cy="512064"/>
          </a:xfrm>
          <a:prstGeom prst="rect">
            <a:avLst/>
          </a:prstGeom>
          <a:noFill/>
          <a:ln/>
        </p:spPr>
        <p:txBody>
          <a:bodyPr wrap="square" lIns="0" tIns="0" rIns="0" bIns="0" rtlCol="0" anchor="ctr"/>
          <a:lstStyle/>
          <a:p>
            <a:pPr marL="0" indent="0" algn="ctr">
              <a:buNone/>
            </a:pPr>
            <a:r>
              <a:rPr lang="en-US" sz="1050" b="1" dirty="0">
                <a:solidFill>
                  <a:srgbClr val="0A1628"/>
                </a:solidFill>
              </a:rPr>
              <a:t>S4</a:t>
            </a:r>
            <a:endParaRPr lang="en-US" sz="1050" dirty="0"/>
          </a:p>
        </p:txBody>
      </p:sp>
      <p:sp>
        <p:nvSpPr>
          <p:cNvPr id="53" name="Shape 51"/>
          <p:cNvSpPr/>
          <p:nvPr/>
        </p:nvSpPr>
        <p:spPr>
          <a:xfrm>
            <a:off x="4937760" y="1380744"/>
            <a:ext cx="1051560" cy="594360"/>
          </a:xfrm>
          <a:prstGeom prst="rect">
            <a:avLst/>
          </a:prstGeom>
          <a:solidFill>
            <a:srgbClr val="0D2144"/>
          </a:solidFill>
          <a:ln w="12700">
            <a:solidFill>
              <a:srgbClr val="27AE60"/>
            </a:solidFill>
            <a:prstDash val="solid"/>
          </a:ln>
          <a:effectLst>
            <a:outerShdw blurRad="127000" dist="38100" dir="8100000" algn="bl" rotWithShape="0">
              <a:srgbClr val="000000">
                <a:alpha val="25000"/>
              </a:srgbClr>
            </a:outerShdw>
          </a:effectLst>
        </p:spPr>
      </p:sp>
      <p:sp>
        <p:nvSpPr>
          <p:cNvPr id="54" name="Shape 52"/>
          <p:cNvSpPr/>
          <p:nvPr/>
        </p:nvSpPr>
        <p:spPr>
          <a:xfrm>
            <a:off x="4937760" y="1380744"/>
            <a:ext cx="1051560" cy="45720"/>
          </a:xfrm>
          <a:prstGeom prst="rect">
            <a:avLst/>
          </a:prstGeom>
          <a:solidFill>
            <a:srgbClr val="27AE60"/>
          </a:solidFill>
          <a:ln w="12700">
            <a:solidFill>
              <a:srgbClr val="27AE60"/>
            </a:solidFill>
            <a:prstDash val="solid"/>
          </a:ln>
        </p:spPr>
      </p:sp>
      <p:sp>
        <p:nvSpPr>
          <p:cNvPr id="55" name="Text 53"/>
          <p:cNvSpPr/>
          <p:nvPr/>
        </p:nvSpPr>
        <p:spPr>
          <a:xfrm>
            <a:off x="4937760" y="1444752"/>
            <a:ext cx="1051560" cy="146304"/>
          </a:xfrm>
          <a:prstGeom prst="rect">
            <a:avLst/>
          </a:prstGeom>
          <a:noFill/>
          <a:ln/>
        </p:spPr>
        <p:txBody>
          <a:bodyPr wrap="square" lIns="0" tIns="0" rIns="0" bIns="0" rtlCol="0" anchor="ctr"/>
          <a:lstStyle/>
          <a:p>
            <a:pPr marL="0" indent="0" algn="ctr">
              <a:buNone/>
            </a:pPr>
            <a:r>
              <a:rPr lang="en-US" sz="800" b="1" dirty="0">
                <a:solidFill>
                  <a:srgbClr val="FFFFFF"/>
                </a:solidFill>
              </a:rPr>
              <a:t>Sprint 4</a:t>
            </a:r>
            <a:endParaRPr lang="en-US" sz="800" dirty="0"/>
          </a:p>
        </p:txBody>
      </p:sp>
      <p:sp>
        <p:nvSpPr>
          <p:cNvPr id="56" name="Text 54"/>
          <p:cNvSpPr/>
          <p:nvPr/>
        </p:nvSpPr>
        <p:spPr>
          <a:xfrm>
            <a:off x="4937760" y="1581912"/>
            <a:ext cx="1051560" cy="128016"/>
          </a:xfrm>
          <a:prstGeom prst="rect">
            <a:avLst/>
          </a:prstGeom>
          <a:noFill/>
          <a:ln/>
        </p:spPr>
        <p:txBody>
          <a:bodyPr wrap="square" lIns="0" tIns="0" rIns="0" bIns="0" rtlCol="0" anchor="ctr"/>
          <a:lstStyle/>
          <a:p>
            <a:pPr marL="0" indent="0" algn="ctr">
              <a:buNone/>
            </a:pPr>
            <a:r>
              <a:rPr lang="en-US" sz="650" dirty="0">
                <a:solidFill>
                  <a:srgbClr val="27AE60"/>
                </a:solidFill>
              </a:rPr>
              <a:t>29 Mar–11 Abr</a:t>
            </a:r>
            <a:endParaRPr lang="en-US" sz="650" dirty="0"/>
          </a:p>
        </p:txBody>
      </p:sp>
      <p:sp>
        <p:nvSpPr>
          <p:cNvPr id="57" name="Shape 55"/>
          <p:cNvSpPr/>
          <p:nvPr/>
        </p:nvSpPr>
        <p:spPr>
          <a:xfrm>
            <a:off x="5029200" y="1719072"/>
            <a:ext cx="868680" cy="0"/>
          </a:xfrm>
          <a:prstGeom prst="line">
            <a:avLst/>
          </a:prstGeom>
          <a:noFill/>
          <a:ln w="6350">
            <a:solidFill>
              <a:srgbClr val="27AE60">
                <a:alpha val="40000"/>
              </a:srgbClr>
            </a:solidFill>
            <a:prstDash val="solid"/>
          </a:ln>
        </p:spPr>
      </p:sp>
      <p:sp>
        <p:nvSpPr>
          <p:cNvPr id="58" name="Text 56"/>
          <p:cNvSpPr/>
          <p:nvPr/>
        </p:nvSpPr>
        <p:spPr>
          <a:xfrm>
            <a:off x="4937760" y="1746504"/>
            <a:ext cx="1051560" cy="182880"/>
          </a:xfrm>
          <a:prstGeom prst="rect">
            <a:avLst/>
          </a:prstGeom>
          <a:noFill/>
          <a:ln/>
        </p:spPr>
        <p:txBody>
          <a:bodyPr wrap="square" lIns="0" tIns="0" rIns="0" bIns="0" rtlCol="0" anchor="ctr"/>
          <a:lstStyle/>
          <a:p>
            <a:pPr marL="0" indent="0" algn="ctr">
              <a:buNone/>
            </a:pPr>
            <a:r>
              <a:rPr lang="en-US" sz="650" dirty="0">
                <a:solidFill>
                  <a:srgbClr val="C8D8E8"/>
                </a:solidFill>
              </a:rPr>
              <a:t>Workflow + trazabilidad</a:t>
            </a:r>
            <a:endParaRPr lang="en-US" sz="650" dirty="0"/>
          </a:p>
        </p:txBody>
      </p:sp>
      <p:sp>
        <p:nvSpPr>
          <p:cNvPr id="59" name="Shape 57"/>
          <p:cNvSpPr/>
          <p:nvPr/>
        </p:nvSpPr>
        <p:spPr>
          <a:xfrm>
            <a:off x="6377940" y="2276856"/>
            <a:ext cx="512064" cy="512064"/>
          </a:xfrm>
          <a:prstGeom prst="ellipse">
            <a:avLst/>
          </a:prstGeom>
          <a:solidFill>
            <a:srgbClr val="27AE60"/>
          </a:solidFill>
          <a:ln w="19050">
            <a:solidFill>
              <a:srgbClr val="FFFFFF"/>
            </a:solidFill>
            <a:prstDash val="solid"/>
          </a:ln>
          <a:effectLst>
            <a:outerShdw blurRad="127000" dist="38100" dir="8100000" algn="bl" rotWithShape="0">
              <a:srgbClr val="000000">
                <a:alpha val="25000"/>
              </a:srgbClr>
            </a:outerShdw>
          </a:effectLst>
        </p:spPr>
      </p:sp>
      <p:sp>
        <p:nvSpPr>
          <p:cNvPr id="60" name="Text 58"/>
          <p:cNvSpPr/>
          <p:nvPr/>
        </p:nvSpPr>
        <p:spPr>
          <a:xfrm>
            <a:off x="6377940" y="2276856"/>
            <a:ext cx="512064" cy="512064"/>
          </a:xfrm>
          <a:prstGeom prst="rect">
            <a:avLst/>
          </a:prstGeom>
          <a:noFill/>
          <a:ln/>
        </p:spPr>
        <p:txBody>
          <a:bodyPr wrap="square" lIns="0" tIns="0" rIns="0" bIns="0" rtlCol="0" anchor="ctr"/>
          <a:lstStyle/>
          <a:p>
            <a:pPr marL="0" indent="0" algn="ctr">
              <a:buNone/>
            </a:pPr>
            <a:r>
              <a:rPr lang="en-US" sz="1050" b="1" dirty="0">
                <a:solidFill>
                  <a:srgbClr val="0A1628"/>
                </a:solidFill>
              </a:rPr>
              <a:t>S5</a:t>
            </a:r>
            <a:endParaRPr lang="en-US" sz="1050" dirty="0"/>
          </a:p>
        </p:txBody>
      </p:sp>
      <p:sp>
        <p:nvSpPr>
          <p:cNvPr id="61" name="Shape 59"/>
          <p:cNvSpPr/>
          <p:nvPr/>
        </p:nvSpPr>
        <p:spPr>
          <a:xfrm>
            <a:off x="6108192" y="1581912"/>
            <a:ext cx="1051560" cy="594360"/>
          </a:xfrm>
          <a:prstGeom prst="rect">
            <a:avLst/>
          </a:prstGeom>
          <a:solidFill>
            <a:srgbClr val="0D2144"/>
          </a:solidFill>
          <a:ln w="12700">
            <a:solidFill>
              <a:srgbClr val="27AE60"/>
            </a:solidFill>
            <a:prstDash val="solid"/>
          </a:ln>
          <a:effectLst>
            <a:outerShdw blurRad="127000" dist="38100" dir="8100000" algn="bl" rotWithShape="0">
              <a:srgbClr val="000000">
                <a:alpha val="25000"/>
              </a:srgbClr>
            </a:outerShdw>
          </a:effectLst>
        </p:spPr>
      </p:sp>
      <p:sp>
        <p:nvSpPr>
          <p:cNvPr id="62" name="Shape 60"/>
          <p:cNvSpPr/>
          <p:nvPr/>
        </p:nvSpPr>
        <p:spPr>
          <a:xfrm>
            <a:off x="6108192" y="1581912"/>
            <a:ext cx="1051560" cy="45720"/>
          </a:xfrm>
          <a:prstGeom prst="rect">
            <a:avLst/>
          </a:prstGeom>
          <a:solidFill>
            <a:srgbClr val="27AE60"/>
          </a:solidFill>
          <a:ln w="12700">
            <a:solidFill>
              <a:srgbClr val="27AE60"/>
            </a:solidFill>
            <a:prstDash val="solid"/>
          </a:ln>
        </p:spPr>
      </p:sp>
      <p:sp>
        <p:nvSpPr>
          <p:cNvPr id="63" name="Text 61"/>
          <p:cNvSpPr/>
          <p:nvPr/>
        </p:nvSpPr>
        <p:spPr>
          <a:xfrm>
            <a:off x="6108192" y="1645920"/>
            <a:ext cx="1051560" cy="146304"/>
          </a:xfrm>
          <a:prstGeom prst="rect">
            <a:avLst/>
          </a:prstGeom>
          <a:noFill/>
          <a:ln/>
        </p:spPr>
        <p:txBody>
          <a:bodyPr wrap="square" lIns="0" tIns="0" rIns="0" bIns="0" rtlCol="0" anchor="ctr"/>
          <a:lstStyle/>
          <a:p>
            <a:pPr marL="0" indent="0" algn="ctr">
              <a:buNone/>
            </a:pPr>
            <a:r>
              <a:rPr lang="en-US" sz="800" b="1" dirty="0">
                <a:solidFill>
                  <a:srgbClr val="FFFFFF"/>
                </a:solidFill>
              </a:rPr>
              <a:t>Sprint 5</a:t>
            </a:r>
            <a:endParaRPr lang="en-US" sz="800" dirty="0"/>
          </a:p>
        </p:txBody>
      </p:sp>
      <p:sp>
        <p:nvSpPr>
          <p:cNvPr id="64" name="Text 62"/>
          <p:cNvSpPr/>
          <p:nvPr/>
        </p:nvSpPr>
        <p:spPr>
          <a:xfrm>
            <a:off x="6108192" y="1783080"/>
            <a:ext cx="1051560" cy="128016"/>
          </a:xfrm>
          <a:prstGeom prst="rect">
            <a:avLst/>
          </a:prstGeom>
          <a:noFill/>
          <a:ln/>
        </p:spPr>
        <p:txBody>
          <a:bodyPr wrap="square" lIns="0" tIns="0" rIns="0" bIns="0" rtlCol="0" anchor="ctr"/>
          <a:lstStyle/>
          <a:p>
            <a:pPr marL="0" indent="0" algn="ctr">
              <a:buNone/>
            </a:pPr>
            <a:r>
              <a:rPr lang="en-US" sz="650" dirty="0">
                <a:solidFill>
                  <a:srgbClr val="27AE60"/>
                </a:solidFill>
              </a:rPr>
              <a:t>12–25 Abr</a:t>
            </a:r>
            <a:endParaRPr lang="en-US" sz="650" dirty="0"/>
          </a:p>
        </p:txBody>
      </p:sp>
      <p:sp>
        <p:nvSpPr>
          <p:cNvPr id="65" name="Shape 63"/>
          <p:cNvSpPr/>
          <p:nvPr/>
        </p:nvSpPr>
        <p:spPr>
          <a:xfrm>
            <a:off x="6199632" y="1920240"/>
            <a:ext cx="868680" cy="0"/>
          </a:xfrm>
          <a:prstGeom prst="line">
            <a:avLst/>
          </a:prstGeom>
          <a:noFill/>
          <a:ln w="6350">
            <a:solidFill>
              <a:srgbClr val="27AE60">
                <a:alpha val="40000"/>
              </a:srgbClr>
            </a:solidFill>
            <a:prstDash val="solid"/>
          </a:ln>
        </p:spPr>
      </p:sp>
      <p:sp>
        <p:nvSpPr>
          <p:cNvPr id="66" name="Text 64"/>
          <p:cNvSpPr/>
          <p:nvPr/>
        </p:nvSpPr>
        <p:spPr>
          <a:xfrm>
            <a:off x="6108192" y="1947672"/>
            <a:ext cx="1051560" cy="182880"/>
          </a:xfrm>
          <a:prstGeom prst="rect">
            <a:avLst/>
          </a:prstGeom>
          <a:noFill/>
          <a:ln/>
        </p:spPr>
        <p:txBody>
          <a:bodyPr wrap="square" lIns="0" tIns="0" rIns="0" bIns="0" rtlCol="0" anchor="ctr"/>
          <a:lstStyle/>
          <a:p>
            <a:pPr marL="0" indent="0" algn="ctr">
              <a:buNone/>
            </a:pPr>
            <a:r>
              <a:rPr lang="en-US" sz="650" dirty="0">
                <a:solidFill>
                  <a:srgbClr val="C8D8E8"/>
                </a:solidFill>
              </a:rPr>
              <a:t>Piloto productivo</a:t>
            </a:r>
            <a:endParaRPr lang="en-US" sz="650" dirty="0"/>
          </a:p>
        </p:txBody>
      </p:sp>
      <p:sp>
        <p:nvSpPr>
          <p:cNvPr id="67" name="Shape 65"/>
          <p:cNvSpPr/>
          <p:nvPr/>
        </p:nvSpPr>
        <p:spPr>
          <a:xfrm>
            <a:off x="7475220" y="722376"/>
            <a:ext cx="658368" cy="658368"/>
          </a:xfrm>
          <a:prstGeom prst="ellipse">
            <a:avLst/>
          </a:prstGeom>
          <a:solidFill>
            <a:srgbClr val="F5A623">
              <a:alpha val="25000"/>
            </a:srgbClr>
          </a:solidFill>
          <a:ln w="25400">
            <a:solidFill>
              <a:srgbClr val="F5A623"/>
            </a:solidFill>
            <a:prstDash val="solid"/>
          </a:ln>
        </p:spPr>
      </p:sp>
      <p:sp>
        <p:nvSpPr>
          <p:cNvPr id="68" name="Shape 66"/>
          <p:cNvSpPr/>
          <p:nvPr/>
        </p:nvSpPr>
        <p:spPr>
          <a:xfrm>
            <a:off x="7548372" y="813816"/>
            <a:ext cx="512064" cy="512064"/>
          </a:xfrm>
          <a:prstGeom prst="ellipse">
            <a:avLst/>
          </a:prstGeom>
          <a:solidFill>
            <a:srgbClr val="F5A623"/>
          </a:solidFill>
          <a:ln w="19050">
            <a:solidFill>
              <a:srgbClr val="FFFFFF"/>
            </a:solidFill>
            <a:prstDash val="solid"/>
          </a:ln>
          <a:effectLst>
            <a:outerShdw blurRad="127000" dist="38100" dir="8100000" algn="bl" rotWithShape="0">
              <a:srgbClr val="000000">
                <a:alpha val="25000"/>
              </a:srgbClr>
            </a:outerShdw>
          </a:effectLst>
        </p:spPr>
      </p:sp>
      <p:sp>
        <p:nvSpPr>
          <p:cNvPr id="69" name="Text 67"/>
          <p:cNvSpPr/>
          <p:nvPr/>
        </p:nvSpPr>
        <p:spPr>
          <a:xfrm>
            <a:off x="7548372" y="813816"/>
            <a:ext cx="512064" cy="512064"/>
          </a:xfrm>
          <a:prstGeom prst="rect">
            <a:avLst/>
          </a:prstGeom>
          <a:noFill/>
          <a:ln/>
        </p:spPr>
        <p:txBody>
          <a:bodyPr wrap="square" lIns="0" tIns="0" rIns="0" bIns="0" rtlCol="0" anchor="ctr"/>
          <a:lstStyle/>
          <a:p>
            <a:pPr marL="0" indent="0" algn="ctr">
              <a:buNone/>
            </a:pPr>
            <a:r>
              <a:rPr lang="en-US" sz="1050" b="1" dirty="0">
                <a:solidFill>
                  <a:srgbClr val="0A1628"/>
                </a:solidFill>
              </a:rPr>
              <a:t>S6</a:t>
            </a:r>
            <a:endParaRPr lang="en-US" sz="1050" dirty="0"/>
          </a:p>
        </p:txBody>
      </p:sp>
      <p:sp>
        <p:nvSpPr>
          <p:cNvPr id="70" name="Shape 68"/>
          <p:cNvSpPr/>
          <p:nvPr/>
        </p:nvSpPr>
        <p:spPr>
          <a:xfrm>
            <a:off x="7278624" y="1380744"/>
            <a:ext cx="1051560" cy="594360"/>
          </a:xfrm>
          <a:prstGeom prst="rect">
            <a:avLst/>
          </a:prstGeom>
          <a:solidFill>
            <a:srgbClr val="0D2144"/>
          </a:solidFill>
          <a:ln w="12700">
            <a:solidFill>
              <a:srgbClr val="F5A623"/>
            </a:solidFill>
            <a:prstDash val="solid"/>
          </a:ln>
          <a:effectLst>
            <a:outerShdw blurRad="127000" dist="38100" dir="8100000" algn="bl" rotWithShape="0">
              <a:srgbClr val="000000">
                <a:alpha val="25000"/>
              </a:srgbClr>
            </a:outerShdw>
          </a:effectLst>
        </p:spPr>
      </p:sp>
      <p:sp>
        <p:nvSpPr>
          <p:cNvPr id="71" name="Shape 69"/>
          <p:cNvSpPr/>
          <p:nvPr/>
        </p:nvSpPr>
        <p:spPr>
          <a:xfrm>
            <a:off x="7278624" y="1380744"/>
            <a:ext cx="1051560" cy="45720"/>
          </a:xfrm>
          <a:prstGeom prst="rect">
            <a:avLst/>
          </a:prstGeom>
          <a:solidFill>
            <a:srgbClr val="F5A623"/>
          </a:solidFill>
          <a:ln w="12700">
            <a:solidFill>
              <a:srgbClr val="F5A623"/>
            </a:solidFill>
            <a:prstDash val="solid"/>
          </a:ln>
        </p:spPr>
      </p:sp>
      <p:sp>
        <p:nvSpPr>
          <p:cNvPr id="72" name="Text 70"/>
          <p:cNvSpPr/>
          <p:nvPr/>
        </p:nvSpPr>
        <p:spPr>
          <a:xfrm>
            <a:off x="7278624" y="1444752"/>
            <a:ext cx="1051560" cy="146304"/>
          </a:xfrm>
          <a:prstGeom prst="rect">
            <a:avLst/>
          </a:prstGeom>
          <a:noFill/>
          <a:ln/>
        </p:spPr>
        <p:txBody>
          <a:bodyPr wrap="square" lIns="0" tIns="0" rIns="0" bIns="0" rtlCol="0" anchor="ctr"/>
          <a:lstStyle/>
          <a:p>
            <a:pPr marL="0" indent="0" algn="ctr">
              <a:buNone/>
            </a:pPr>
            <a:r>
              <a:rPr lang="en-US" sz="800" b="1" dirty="0">
                <a:solidFill>
                  <a:srgbClr val="FFFFFF"/>
                </a:solidFill>
              </a:rPr>
              <a:t>Sprint 6</a:t>
            </a:r>
            <a:endParaRPr lang="en-US" sz="800" dirty="0"/>
          </a:p>
        </p:txBody>
      </p:sp>
      <p:sp>
        <p:nvSpPr>
          <p:cNvPr id="73" name="Text 71"/>
          <p:cNvSpPr/>
          <p:nvPr/>
        </p:nvSpPr>
        <p:spPr>
          <a:xfrm>
            <a:off x="7278624" y="1581912"/>
            <a:ext cx="1051560" cy="128016"/>
          </a:xfrm>
          <a:prstGeom prst="rect">
            <a:avLst/>
          </a:prstGeom>
          <a:noFill/>
          <a:ln/>
        </p:spPr>
        <p:txBody>
          <a:bodyPr wrap="square" lIns="0" tIns="0" rIns="0" bIns="0" rtlCol="0" anchor="ctr"/>
          <a:lstStyle/>
          <a:p>
            <a:pPr marL="0" indent="0" algn="ctr">
              <a:buNone/>
            </a:pPr>
            <a:r>
              <a:rPr lang="en-US" sz="650" dirty="0">
                <a:solidFill>
                  <a:srgbClr val="F5A623"/>
                </a:solidFill>
              </a:rPr>
              <a:t>26 Abr–09 May</a:t>
            </a:r>
            <a:endParaRPr lang="en-US" sz="650" dirty="0"/>
          </a:p>
        </p:txBody>
      </p:sp>
      <p:sp>
        <p:nvSpPr>
          <p:cNvPr id="74" name="Shape 72"/>
          <p:cNvSpPr/>
          <p:nvPr/>
        </p:nvSpPr>
        <p:spPr>
          <a:xfrm>
            <a:off x="7370064" y="1719072"/>
            <a:ext cx="868680" cy="0"/>
          </a:xfrm>
          <a:prstGeom prst="line">
            <a:avLst/>
          </a:prstGeom>
          <a:noFill/>
          <a:ln w="6350">
            <a:solidFill>
              <a:srgbClr val="F5A623">
                <a:alpha val="40000"/>
              </a:srgbClr>
            </a:solidFill>
            <a:prstDash val="solid"/>
          </a:ln>
        </p:spPr>
      </p:sp>
      <p:sp>
        <p:nvSpPr>
          <p:cNvPr id="75" name="Text 73"/>
          <p:cNvSpPr/>
          <p:nvPr/>
        </p:nvSpPr>
        <p:spPr>
          <a:xfrm>
            <a:off x="7278624" y="1746504"/>
            <a:ext cx="1051560" cy="182880"/>
          </a:xfrm>
          <a:prstGeom prst="rect">
            <a:avLst/>
          </a:prstGeom>
          <a:noFill/>
          <a:ln/>
        </p:spPr>
        <p:txBody>
          <a:bodyPr wrap="square" lIns="0" tIns="0" rIns="0" bIns="0" rtlCol="0" anchor="ctr"/>
          <a:lstStyle/>
          <a:p>
            <a:pPr marL="0" indent="0" algn="ctr">
              <a:buNone/>
            </a:pPr>
            <a:r>
              <a:rPr lang="en-US" sz="650" dirty="0">
                <a:solidFill>
                  <a:srgbClr val="C8D8E8"/>
                </a:solidFill>
              </a:rPr>
              <a:t>Plataforma + ROI</a:t>
            </a:r>
            <a:endParaRPr lang="en-US" sz="650" dirty="0"/>
          </a:p>
        </p:txBody>
      </p:sp>
      <p:sp>
        <p:nvSpPr>
          <p:cNvPr id="76" name="Text 74"/>
          <p:cNvSpPr/>
          <p:nvPr/>
        </p:nvSpPr>
        <p:spPr>
          <a:xfrm rot="16200000">
            <a:off x="18288" y="1344168"/>
            <a:ext cx="201168" cy="731520"/>
          </a:xfrm>
          <a:prstGeom prst="rect">
            <a:avLst/>
          </a:prstGeom>
          <a:noFill/>
          <a:ln/>
        </p:spPr>
        <p:txBody>
          <a:bodyPr wrap="square" lIns="0" tIns="0" rIns="0" bIns="0" rtlCol="0" anchor="ctr"/>
          <a:lstStyle/>
          <a:p>
            <a:pPr marL="0" indent="0" algn="ctr">
              <a:buNone/>
            </a:pPr>
            <a:r>
              <a:rPr lang="en-US" sz="550" b="1" dirty="0">
                <a:solidFill>
                  <a:srgbClr val="8899AA"/>
                </a:solidFill>
              </a:rPr>
              <a:t>FILA SUPERIOR</a:t>
            </a:r>
            <a:endParaRPr lang="en-US" sz="550" dirty="0"/>
          </a:p>
        </p:txBody>
      </p:sp>
      <p:sp>
        <p:nvSpPr>
          <p:cNvPr id="77" name="Text 75"/>
          <p:cNvSpPr/>
          <p:nvPr/>
        </p:nvSpPr>
        <p:spPr>
          <a:xfrm rot="16200000">
            <a:off x="18288" y="2807208"/>
            <a:ext cx="201168" cy="731520"/>
          </a:xfrm>
          <a:prstGeom prst="rect">
            <a:avLst/>
          </a:prstGeom>
          <a:noFill/>
          <a:ln/>
        </p:spPr>
        <p:txBody>
          <a:bodyPr wrap="square" lIns="0" tIns="0" rIns="0" bIns="0" rtlCol="0" anchor="ctr"/>
          <a:lstStyle/>
          <a:p>
            <a:pPr marL="0" indent="0" algn="ctr">
              <a:buNone/>
            </a:pPr>
            <a:r>
              <a:rPr lang="en-US" sz="550" b="1" dirty="0">
                <a:solidFill>
                  <a:srgbClr val="8899AA"/>
                </a:solidFill>
              </a:rPr>
              <a:t>FILA INFERIOR</a:t>
            </a:r>
            <a:endParaRPr lang="en-US" sz="550" dirty="0"/>
          </a:p>
        </p:txBody>
      </p:sp>
      <p:sp>
        <p:nvSpPr>
          <p:cNvPr id="78" name="Shape 76"/>
          <p:cNvSpPr/>
          <p:nvPr/>
        </p:nvSpPr>
        <p:spPr>
          <a:xfrm>
            <a:off x="228600" y="3657600"/>
            <a:ext cx="8686800" cy="530352"/>
          </a:xfrm>
          <a:prstGeom prst="rect">
            <a:avLst/>
          </a:prstGeom>
          <a:solidFill>
            <a:srgbClr val="0D2144"/>
          </a:solidFill>
          <a:ln w="10160">
            <a:solidFill>
              <a:srgbClr val="1A3A6B"/>
            </a:solidFill>
            <a:prstDash val="solid"/>
          </a:ln>
        </p:spPr>
      </p:sp>
      <p:sp>
        <p:nvSpPr>
          <p:cNvPr id="79" name="Text 77"/>
          <p:cNvSpPr/>
          <p:nvPr/>
        </p:nvSpPr>
        <p:spPr>
          <a:xfrm>
            <a:off x="457200" y="3712464"/>
            <a:ext cx="1234440" cy="237744"/>
          </a:xfrm>
          <a:prstGeom prst="rect">
            <a:avLst/>
          </a:prstGeom>
          <a:noFill/>
          <a:ln/>
        </p:spPr>
        <p:txBody>
          <a:bodyPr wrap="square" lIns="0" tIns="0" rIns="0" bIns="0" rtlCol="0" anchor="ctr"/>
          <a:lstStyle/>
          <a:p>
            <a:pPr marL="0" indent="0" algn="ctr">
              <a:buNone/>
            </a:pPr>
            <a:r>
              <a:rPr lang="en-US" sz="1300" b="1" dirty="0">
                <a:solidFill>
                  <a:srgbClr val="00B4D8"/>
                </a:solidFill>
              </a:rPr>
              <a:t>7</a:t>
            </a:r>
            <a:endParaRPr lang="en-US" sz="1300" dirty="0"/>
          </a:p>
        </p:txBody>
      </p:sp>
      <p:sp>
        <p:nvSpPr>
          <p:cNvPr id="80" name="Text 78"/>
          <p:cNvSpPr/>
          <p:nvPr/>
        </p:nvSpPr>
        <p:spPr>
          <a:xfrm>
            <a:off x="457200" y="3931920"/>
            <a:ext cx="1234440" cy="164592"/>
          </a:xfrm>
          <a:prstGeom prst="rect">
            <a:avLst/>
          </a:prstGeom>
          <a:noFill/>
          <a:ln/>
        </p:spPr>
        <p:txBody>
          <a:bodyPr wrap="square" lIns="0" tIns="0" rIns="0" bIns="0" rtlCol="0" anchor="ctr"/>
          <a:lstStyle/>
          <a:p>
            <a:pPr marL="0" indent="0" algn="ctr">
              <a:buNone/>
            </a:pPr>
            <a:r>
              <a:rPr lang="en-US" sz="700" dirty="0">
                <a:solidFill>
                  <a:srgbClr val="8899AA"/>
                </a:solidFill>
              </a:rPr>
              <a:t>Sprints totales</a:t>
            </a:r>
            <a:endParaRPr lang="en-US" sz="700" dirty="0"/>
          </a:p>
        </p:txBody>
      </p:sp>
      <p:sp>
        <p:nvSpPr>
          <p:cNvPr id="81" name="Shape 79"/>
          <p:cNvSpPr/>
          <p:nvPr/>
        </p:nvSpPr>
        <p:spPr>
          <a:xfrm>
            <a:off x="1737360" y="3730752"/>
            <a:ext cx="0" cy="384048"/>
          </a:xfrm>
          <a:prstGeom prst="line">
            <a:avLst/>
          </a:prstGeom>
          <a:noFill/>
          <a:ln w="10160">
            <a:solidFill>
              <a:srgbClr val="1A3A6B"/>
            </a:solidFill>
            <a:prstDash val="solid"/>
          </a:ln>
        </p:spPr>
      </p:sp>
      <p:sp>
        <p:nvSpPr>
          <p:cNvPr id="82" name="Text 80"/>
          <p:cNvSpPr/>
          <p:nvPr/>
        </p:nvSpPr>
        <p:spPr>
          <a:xfrm>
            <a:off x="1901952" y="3712464"/>
            <a:ext cx="1234440" cy="237744"/>
          </a:xfrm>
          <a:prstGeom prst="rect">
            <a:avLst/>
          </a:prstGeom>
          <a:noFill/>
          <a:ln/>
        </p:spPr>
        <p:txBody>
          <a:bodyPr wrap="square" lIns="0" tIns="0" rIns="0" bIns="0" rtlCol="0" anchor="ctr"/>
          <a:lstStyle/>
          <a:p>
            <a:pPr marL="0" indent="0" algn="ctr">
              <a:buNone/>
            </a:pPr>
            <a:r>
              <a:rPr lang="en-US" sz="1300" b="1" dirty="0">
                <a:solidFill>
                  <a:srgbClr val="00B4D8"/>
                </a:solidFill>
              </a:rPr>
              <a:t>14 sem</a:t>
            </a:r>
            <a:endParaRPr lang="en-US" sz="1300" dirty="0"/>
          </a:p>
        </p:txBody>
      </p:sp>
      <p:sp>
        <p:nvSpPr>
          <p:cNvPr id="83" name="Text 81"/>
          <p:cNvSpPr/>
          <p:nvPr/>
        </p:nvSpPr>
        <p:spPr>
          <a:xfrm>
            <a:off x="1901952" y="3931920"/>
            <a:ext cx="1234440" cy="164592"/>
          </a:xfrm>
          <a:prstGeom prst="rect">
            <a:avLst/>
          </a:prstGeom>
          <a:noFill/>
          <a:ln/>
        </p:spPr>
        <p:txBody>
          <a:bodyPr wrap="square" lIns="0" tIns="0" rIns="0" bIns="0" rtlCol="0" anchor="ctr"/>
          <a:lstStyle/>
          <a:p>
            <a:pPr marL="0" indent="0" algn="ctr">
              <a:buNone/>
            </a:pPr>
            <a:r>
              <a:rPr lang="en-US" sz="700" dirty="0">
                <a:solidFill>
                  <a:srgbClr val="8899AA"/>
                </a:solidFill>
              </a:rPr>
              <a:t>Duración</a:t>
            </a:r>
            <a:endParaRPr lang="en-US" sz="700" dirty="0"/>
          </a:p>
        </p:txBody>
      </p:sp>
      <p:sp>
        <p:nvSpPr>
          <p:cNvPr id="84" name="Shape 82"/>
          <p:cNvSpPr/>
          <p:nvPr/>
        </p:nvSpPr>
        <p:spPr>
          <a:xfrm>
            <a:off x="3182112" y="3730752"/>
            <a:ext cx="0" cy="384048"/>
          </a:xfrm>
          <a:prstGeom prst="line">
            <a:avLst/>
          </a:prstGeom>
          <a:noFill/>
          <a:ln w="10160">
            <a:solidFill>
              <a:srgbClr val="1A3A6B"/>
            </a:solidFill>
            <a:prstDash val="solid"/>
          </a:ln>
        </p:spPr>
      </p:sp>
      <p:sp>
        <p:nvSpPr>
          <p:cNvPr id="85" name="Text 83"/>
          <p:cNvSpPr/>
          <p:nvPr/>
        </p:nvSpPr>
        <p:spPr>
          <a:xfrm>
            <a:off x="3346704" y="3712464"/>
            <a:ext cx="1234440" cy="237744"/>
          </a:xfrm>
          <a:prstGeom prst="rect">
            <a:avLst/>
          </a:prstGeom>
          <a:noFill/>
          <a:ln/>
        </p:spPr>
        <p:txBody>
          <a:bodyPr wrap="square" lIns="0" tIns="0" rIns="0" bIns="0" rtlCol="0" anchor="ctr"/>
          <a:lstStyle/>
          <a:p>
            <a:pPr marL="0" indent="0" algn="ctr">
              <a:buNone/>
            </a:pPr>
            <a:r>
              <a:rPr lang="en-US" sz="1300" b="1" dirty="0">
                <a:solidFill>
                  <a:srgbClr val="00B4D8"/>
                </a:solidFill>
              </a:rPr>
              <a:t>40 SP</a:t>
            </a:r>
            <a:endParaRPr lang="en-US" sz="1300" dirty="0"/>
          </a:p>
        </p:txBody>
      </p:sp>
      <p:sp>
        <p:nvSpPr>
          <p:cNvPr id="86" name="Text 84"/>
          <p:cNvSpPr/>
          <p:nvPr/>
        </p:nvSpPr>
        <p:spPr>
          <a:xfrm>
            <a:off x="3346704" y="3931920"/>
            <a:ext cx="1234440" cy="164592"/>
          </a:xfrm>
          <a:prstGeom prst="rect">
            <a:avLst/>
          </a:prstGeom>
          <a:noFill/>
          <a:ln/>
        </p:spPr>
        <p:txBody>
          <a:bodyPr wrap="square" lIns="0" tIns="0" rIns="0" bIns="0" rtlCol="0" anchor="ctr"/>
          <a:lstStyle/>
          <a:p>
            <a:pPr marL="0" indent="0" algn="ctr">
              <a:buNone/>
            </a:pPr>
            <a:r>
              <a:rPr lang="en-US" sz="700" dirty="0">
                <a:solidFill>
                  <a:srgbClr val="8899AA"/>
                </a:solidFill>
              </a:rPr>
              <a:t>Velocidad/sprint</a:t>
            </a:r>
            <a:endParaRPr lang="en-US" sz="700" dirty="0"/>
          </a:p>
        </p:txBody>
      </p:sp>
      <p:sp>
        <p:nvSpPr>
          <p:cNvPr id="87" name="Shape 85"/>
          <p:cNvSpPr/>
          <p:nvPr/>
        </p:nvSpPr>
        <p:spPr>
          <a:xfrm>
            <a:off x="4626864" y="3730752"/>
            <a:ext cx="0" cy="384048"/>
          </a:xfrm>
          <a:prstGeom prst="line">
            <a:avLst/>
          </a:prstGeom>
          <a:noFill/>
          <a:ln w="10160">
            <a:solidFill>
              <a:srgbClr val="1A3A6B"/>
            </a:solidFill>
            <a:prstDash val="solid"/>
          </a:ln>
        </p:spPr>
      </p:sp>
      <p:sp>
        <p:nvSpPr>
          <p:cNvPr id="88" name="Text 86"/>
          <p:cNvSpPr/>
          <p:nvPr/>
        </p:nvSpPr>
        <p:spPr>
          <a:xfrm>
            <a:off x="4791456" y="3712464"/>
            <a:ext cx="1234440" cy="237744"/>
          </a:xfrm>
          <a:prstGeom prst="rect">
            <a:avLst/>
          </a:prstGeom>
          <a:noFill/>
          <a:ln/>
        </p:spPr>
        <p:txBody>
          <a:bodyPr wrap="square" lIns="0" tIns="0" rIns="0" bIns="0" rtlCol="0" anchor="ctr"/>
          <a:lstStyle/>
          <a:p>
            <a:pPr marL="0" indent="0" algn="ctr">
              <a:buNone/>
            </a:pPr>
            <a:r>
              <a:rPr lang="en-US" sz="1300" b="1" dirty="0">
                <a:solidFill>
                  <a:srgbClr val="00B4D8"/>
                </a:solidFill>
              </a:rPr>
              <a:t>≥99.5%</a:t>
            </a:r>
            <a:endParaRPr lang="en-US" sz="1300" dirty="0"/>
          </a:p>
        </p:txBody>
      </p:sp>
      <p:sp>
        <p:nvSpPr>
          <p:cNvPr id="89" name="Text 87"/>
          <p:cNvSpPr/>
          <p:nvPr/>
        </p:nvSpPr>
        <p:spPr>
          <a:xfrm>
            <a:off x="4791456" y="3931920"/>
            <a:ext cx="1234440" cy="164592"/>
          </a:xfrm>
          <a:prstGeom prst="rect">
            <a:avLst/>
          </a:prstGeom>
          <a:noFill/>
          <a:ln/>
        </p:spPr>
        <p:txBody>
          <a:bodyPr wrap="square" lIns="0" tIns="0" rIns="0" bIns="0" rtlCol="0" anchor="ctr"/>
          <a:lstStyle/>
          <a:p>
            <a:pPr marL="0" indent="0" algn="ctr">
              <a:buNone/>
            </a:pPr>
            <a:r>
              <a:rPr lang="en-US" sz="700" dirty="0">
                <a:solidFill>
                  <a:srgbClr val="8899AA"/>
                </a:solidFill>
              </a:rPr>
              <a:t>Disponibilidad</a:t>
            </a:r>
            <a:endParaRPr lang="en-US" sz="700" dirty="0"/>
          </a:p>
        </p:txBody>
      </p:sp>
      <p:sp>
        <p:nvSpPr>
          <p:cNvPr id="90" name="Shape 88"/>
          <p:cNvSpPr/>
          <p:nvPr/>
        </p:nvSpPr>
        <p:spPr>
          <a:xfrm>
            <a:off x="6071616" y="3730752"/>
            <a:ext cx="0" cy="384048"/>
          </a:xfrm>
          <a:prstGeom prst="line">
            <a:avLst/>
          </a:prstGeom>
          <a:noFill/>
          <a:ln w="10160">
            <a:solidFill>
              <a:srgbClr val="1A3A6B"/>
            </a:solidFill>
            <a:prstDash val="solid"/>
          </a:ln>
        </p:spPr>
      </p:sp>
      <p:sp>
        <p:nvSpPr>
          <p:cNvPr id="91" name="Text 89"/>
          <p:cNvSpPr/>
          <p:nvPr/>
        </p:nvSpPr>
        <p:spPr>
          <a:xfrm>
            <a:off x="6236208" y="3712464"/>
            <a:ext cx="1234440" cy="237744"/>
          </a:xfrm>
          <a:prstGeom prst="rect">
            <a:avLst/>
          </a:prstGeom>
          <a:noFill/>
          <a:ln/>
        </p:spPr>
        <p:txBody>
          <a:bodyPr wrap="square" lIns="0" tIns="0" rIns="0" bIns="0" rtlCol="0" anchor="ctr"/>
          <a:lstStyle/>
          <a:p>
            <a:pPr marL="0" indent="0" algn="ctr">
              <a:buNone/>
            </a:pPr>
            <a:r>
              <a:rPr lang="en-US" sz="1300" b="1" dirty="0">
                <a:solidFill>
                  <a:srgbClr val="00B4D8"/>
                </a:solidFill>
              </a:rPr>
              <a:t>0 bugs P1</a:t>
            </a:r>
            <a:endParaRPr lang="en-US" sz="1300" dirty="0"/>
          </a:p>
        </p:txBody>
      </p:sp>
      <p:sp>
        <p:nvSpPr>
          <p:cNvPr id="92" name="Text 90"/>
          <p:cNvSpPr/>
          <p:nvPr/>
        </p:nvSpPr>
        <p:spPr>
          <a:xfrm>
            <a:off x="6236208" y="3931920"/>
            <a:ext cx="1234440" cy="164592"/>
          </a:xfrm>
          <a:prstGeom prst="rect">
            <a:avLst/>
          </a:prstGeom>
          <a:noFill/>
          <a:ln/>
        </p:spPr>
        <p:txBody>
          <a:bodyPr wrap="square" lIns="0" tIns="0" rIns="0" bIns="0" rtlCol="0" anchor="ctr"/>
          <a:lstStyle/>
          <a:p>
            <a:pPr marL="0" indent="0" algn="ctr">
              <a:buNone/>
            </a:pPr>
            <a:r>
              <a:rPr lang="en-US" sz="700" dirty="0">
                <a:solidFill>
                  <a:srgbClr val="8899AA"/>
                </a:solidFill>
              </a:rPr>
              <a:t>Primeras 2 semanas</a:t>
            </a:r>
            <a:endParaRPr lang="en-US" sz="700" dirty="0"/>
          </a:p>
        </p:txBody>
      </p:sp>
      <p:sp>
        <p:nvSpPr>
          <p:cNvPr id="93" name="Shape 91"/>
          <p:cNvSpPr/>
          <p:nvPr/>
        </p:nvSpPr>
        <p:spPr>
          <a:xfrm>
            <a:off x="7516368" y="3730752"/>
            <a:ext cx="0" cy="384048"/>
          </a:xfrm>
          <a:prstGeom prst="line">
            <a:avLst/>
          </a:prstGeom>
          <a:noFill/>
          <a:ln w="10160">
            <a:solidFill>
              <a:srgbClr val="1A3A6B"/>
            </a:solidFill>
            <a:prstDash val="solid"/>
          </a:ln>
        </p:spPr>
      </p:sp>
      <p:sp>
        <p:nvSpPr>
          <p:cNvPr id="94" name="Text 92"/>
          <p:cNvSpPr/>
          <p:nvPr/>
        </p:nvSpPr>
        <p:spPr>
          <a:xfrm>
            <a:off x="7680960" y="3712464"/>
            <a:ext cx="1234440" cy="237744"/>
          </a:xfrm>
          <a:prstGeom prst="rect">
            <a:avLst/>
          </a:prstGeom>
          <a:noFill/>
          <a:ln/>
        </p:spPr>
        <p:txBody>
          <a:bodyPr wrap="square" lIns="0" tIns="0" rIns="0" bIns="0" rtlCol="0" anchor="ctr"/>
          <a:lstStyle/>
          <a:p>
            <a:pPr marL="0" indent="0" algn="ctr">
              <a:buNone/>
            </a:pPr>
            <a:r>
              <a:rPr lang="en-US" sz="1300" b="1" dirty="0">
                <a:solidFill>
                  <a:srgbClr val="00B4D8"/>
                </a:solidFill>
              </a:rPr>
              <a:t>May 2026</a:t>
            </a:r>
            <a:endParaRPr lang="en-US" sz="1300" dirty="0"/>
          </a:p>
        </p:txBody>
      </p:sp>
      <p:sp>
        <p:nvSpPr>
          <p:cNvPr id="95" name="Text 93"/>
          <p:cNvSpPr/>
          <p:nvPr/>
        </p:nvSpPr>
        <p:spPr>
          <a:xfrm>
            <a:off x="7680960" y="3931920"/>
            <a:ext cx="1234440" cy="164592"/>
          </a:xfrm>
          <a:prstGeom prst="rect">
            <a:avLst/>
          </a:prstGeom>
          <a:noFill/>
          <a:ln/>
        </p:spPr>
        <p:txBody>
          <a:bodyPr wrap="square" lIns="0" tIns="0" rIns="0" bIns="0" rtlCol="0" anchor="ctr"/>
          <a:lstStyle/>
          <a:p>
            <a:pPr marL="0" indent="0" algn="ctr">
              <a:buNone/>
            </a:pPr>
            <a:r>
              <a:rPr lang="en-US" sz="700" dirty="0">
                <a:solidFill>
                  <a:srgbClr val="8899AA"/>
                </a:solidFill>
              </a:rPr>
              <a:t>Go-live objetivo</a:t>
            </a:r>
            <a:endParaRPr lang="en-US" sz="700" dirty="0"/>
          </a:p>
        </p:txBody>
      </p:sp>
      <p:sp>
        <p:nvSpPr>
          <p:cNvPr id="96" name="Shape 94"/>
          <p:cNvSpPr/>
          <p:nvPr/>
        </p:nvSpPr>
        <p:spPr>
          <a:xfrm>
            <a:off x="0" y="4882896"/>
            <a:ext cx="9144000" cy="265176"/>
          </a:xfrm>
          <a:prstGeom prst="rect">
            <a:avLst/>
          </a:prstGeom>
          <a:solidFill>
            <a:srgbClr val="1A3A6B"/>
          </a:solidFill>
          <a:ln w="12700">
            <a:solidFill>
              <a:srgbClr val="1A3A6B"/>
            </a:solidFill>
            <a:prstDash val="solid"/>
          </a:ln>
        </p:spPr>
      </p:sp>
      <p:sp>
        <p:nvSpPr>
          <p:cNvPr id="97" name="Text 95"/>
          <p:cNvSpPr/>
          <p:nvPr/>
        </p:nvSpPr>
        <p:spPr>
          <a:xfrm>
            <a:off x="228600" y="4882896"/>
            <a:ext cx="8686800" cy="265176"/>
          </a:xfrm>
          <a:prstGeom prst="rect">
            <a:avLst/>
          </a:prstGeom>
          <a:noFill/>
          <a:ln/>
        </p:spPr>
        <p:txBody>
          <a:bodyPr wrap="square" lIns="0" tIns="0" rIns="0" bIns="0" rtlCol="0" anchor="ctr"/>
          <a:lstStyle/>
          <a:p>
            <a:pPr marL="0" indent="0" algn="ctr">
              <a:buNone/>
            </a:pPr>
            <a:r>
              <a:rPr lang="en-US" sz="650" i="1" dirty="0">
                <a:solidFill>
                  <a:srgbClr val="8899AA"/>
                </a:solidFill>
              </a:rPr>
              <a:t>Gabriel Sandoval G.  ·  Product Owner  ·  Proyecto ABP Módulo 5  ·  Rediseño del Flujo de Viáticos  ·  2026</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2 – ROADMAP 2</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Métricas Scrum / Kanban</a:t>
            </a:r>
            <a:endParaRPr lang="en-US" sz="2100"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000" i="1" dirty="0" err="1">
                <a:solidFill>
                  <a:srgbClr val="38BDF8"/>
                </a:solidFill>
                <a:latin typeface="Calibri" pitchFamily="34" charset="0"/>
                <a:ea typeface="Calibri" pitchFamily="34" charset="-122"/>
                <a:cs typeface="Calibri" pitchFamily="34" charset="-120"/>
              </a:rPr>
              <a:t>Velocidad</a:t>
            </a:r>
            <a:r>
              <a:rPr lang="en-US" sz="1000" i="1" dirty="0">
                <a:solidFill>
                  <a:srgbClr val="38BDF8"/>
                </a:solidFill>
                <a:latin typeface="Calibri" pitchFamily="34" charset="0"/>
                <a:ea typeface="Calibri" pitchFamily="34" charset="-122"/>
                <a:cs typeface="Calibri" pitchFamily="34" charset="-120"/>
              </a:rPr>
              <a:t>, flujo y control de trabajo en progreso</a:t>
            </a:r>
            <a:endParaRPr lang="en-US" sz="10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Shape 7"/>
          <p:cNvSpPr/>
          <p:nvPr/>
        </p:nvSpPr>
        <p:spPr>
          <a:xfrm>
            <a:off x="0" y="6720840"/>
            <a:ext cx="12188952" cy="137160"/>
          </a:xfrm>
          <a:prstGeom prst="rect">
            <a:avLst/>
          </a:prstGeom>
          <a:solidFill>
            <a:srgbClr val="1246B3"/>
          </a:solidFill>
          <a:ln w="12700">
            <a:solidFill>
              <a:srgbClr val="1246B3"/>
            </a:solidFill>
            <a:prstDash val="solid"/>
          </a:ln>
        </p:spPr>
      </p:sp>
      <p:sp>
        <p:nvSpPr>
          <p:cNvPr id="10" name="Text 8"/>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7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700" dirty="0"/>
          </a:p>
        </p:txBody>
      </p:sp>
      <p:sp>
        <p:nvSpPr>
          <p:cNvPr id="11" name="Shape 9"/>
          <p:cNvSpPr/>
          <p:nvPr/>
        </p:nvSpPr>
        <p:spPr>
          <a:xfrm>
            <a:off x="201168" y="1051560"/>
            <a:ext cx="3794760" cy="2240280"/>
          </a:xfrm>
          <a:prstGeom prst="rect">
            <a:avLst/>
          </a:prstGeom>
          <a:solidFill>
            <a:srgbClr val="0D1B3E"/>
          </a:solidFill>
          <a:ln w="12700">
            <a:solidFill>
              <a:srgbClr val="38BDF8"/>
            </a:solidFill>
            <a:prstDash val="solid"/>
          </a:ln>
        </p:spPr>
      </p:sp>
      <p:sp>
        <p:nvSpPr>
          <p:cNvPr id="12" name="Shape 10"/>
          <p:cNvSpPr/>
          <p:nvPr/>
        </p:nvSpPr>
        <p:spPr>
          <a:xfrm>
            <a:off x="201168" y="1051560"/>
            <a:ext cx="3794760" cy="36576"/>
          </a:xfrm>
          <a:prstGeom prst="rect">
            <a:avLst/>
          </a:prstGeom>
          <a:solidFill>
            <a:srgbClr val="38BDF8"/>
          </a:solidFill>
          <a:ln w="12700">
            <a:solidFill>
              <a:srgbClr val="38BDF8"/>
            </a:solidFill>
            <a:prstDash val="solid"/>
          </a:ln>
        </p:spPr>
      </p:sp>
      <p:sp>
        <p:nvSpPr>
          <p:cNvPr id="13" name="Text 11"/>
          <p:cNvSpPr/>
          <p:nvPr/>
        </p:nvSpPr>
        <p:spPr>
          <a:xfrm>
            <a:off x="338328" y="1143000"/>
            <a:ext cx="3520440" cy="237744"/>
          </a:xfrm>
          <a:prstGeom prst="rect">
            <a:avLst/>
          </a:prstGeom>
          <a:noFill/>
          <a:ln/>
        </p:spPr>
        <p:txBody>
          <a:bodyPr wrap="square" lIns="0" tIns="0" rIns="0" bIns="0" rtlCol="0" anchor="ctr"/>
          <a:lstStyle/>
          <a:p>
            <a:pPr marL="0" indent="0">
              <a:buNone/>
            </a:pPr>
            <a:r>
              <a:rPr lang="en-US" sz="1400" b="1" kern="0" spc="100" dirty="0">
                <a:solidFill>
                  <a:srgbClr val="38BDF8"/>
                </a:solidFill>
                <a:latin typeface="Calibri" pitchFamily="34" charset="0"/>
                <a:ea typeface="Calibri" pitchFamily="34" charset="-122"/>
                <a:cs typeface="Calibri" pitchFamily="34" charset="-120"/>
              </a:rPr>
              <a:t>SCRUM – BURNDOWN CHART</a:t>
            </a:r>
            <a:endParaRPr lang="en-US" sz="1400" dirty="0"/>
          </a:p>
        </p:txBody>
      </p:sp>
      <p:sp>
        <p:nvSpPr>
          <p:cNvPr id="14" name="Text 12"/>
          <p:cNvSpPr/>
          <p:nvPr/>
        </p:nvSpPr>
        <p:spPr>
          <a:xfrm>
            <a:off x="338328" y="1453896"/>
            <a:ext cx="3520440" cy="1783080"/>
          </a:xfrm>
          <a:prstGeom prst="rect">
            <a:avLst/>
          </a:prstGeom>
          <a:noFill/>
          <a:ln/>
        </p:spPr>
        <p:txBody>
          <a:bodyPr wrap="square" lIns="0" tIns="0" rIns="0" bIns="0" rtlCol="0" anchor="t"/>
          <a:lstStyle/>
          <a:p>
            <a:pPr marL="0" indent="0">
              <a:lnSpc>
                <a:spcPct val="130000"/>
              </a:lnSpc>
              <a:buNone/>
            </a:pPr>
            <a:r>
              <a:rPr lang="en-US" sz="1400" dirty="0">
                <a:solidFill>
                  <a:srgbClr val="E2E8F0"/>
                </a:solidFill>
                <a:latin typeface="Calibri" pitchFamily="34" charset="0"/>
                <a:ea typeface="Calibri" pitchFamily="34" charset="-122"/>
                <a:cs typeface="Calibri" pitchFamily="34" charset="-120"/>
              </a:rPr>
              <a:t>Capacidad promedio: 40 SP/sprint. Línea ideal: reducción lineal. Meta: curva real dentro del ±15% de la ideal. Si hay desvío mayor, se activa replanning en Daily de mitad de sprint.</a:t>
            </a:r>
            <a:endParaRPr lang="en-US" sz="1400" dirty="0"/>
          </a:p>
        </p:txBody>
      </p:sp>
      <p:sp>
        <p:nvSpPr>
          <p:cNvPr id="15" name="Shape 13"/>
          <p:cNvSpPr/>
          <p:nvPr/>
        </p:nvSpPr>
        <p:spPr>
          <a:xfrm>
            <a:off x="4123944" y="1051560"/>
            <a:ext cx="3794760" cy="2240280"/>
          </a:xfrm>
          <a:prstGeom prst="rect">
            <a:avLst/>
          </a:prstGeom>
          <a:solidFill>
            <a:srgbClr val="0D1B3E"/>
          </a:solidFill>
          <a:ln w="12700">
            <a:solidFill>
              <a:srgbClr val="34D399"/>
            </a:solidFill>
            <a:prstDash val="solid"/>
          </a:ln>
        </p:spPr>
      </p:sp>
      <p:sp>
        <p:nvSpPr>
          <p:cNvPr id="16" name="Shape 14"/>
          <p:cNvSpPr/>
          <p:nvPr/>
        </p:nvSpPr>
        <p:spPr>
          <a:xfrm>
            <a:off x="4123944" y="1051560"/>
            <a:ext cx="3794760" cy="36576"/>
          </a:xfrm>
          <a:prstGeom prst="rect">
            <a:avLst/>
          </a:prstGeom>
          <a:solidFill>
            <a:srgbClr val="34D399"/>
          </a:solidFill>
          <a:ln w="12700">
            <a:solidFill>
              <a:srgbClr val="34D399"/>
            </a:solidFill>
            <a:prstDash val="solid"/>
          </a:ln>
        </p:spPr>
      </p:sp>
      <p:sp>
        <p:nvSpPr>
          <p:cNvPr id="17" name="Text 15"/>
          <p:cNvSpPr/>
          <p:nvPr/>
        </p:nvSpPr>
        <p:spPr>
          <a:xfrm>
            <a:off x="4261104" y="1143000"/>
            <a:ext cx="3520440" cy="237744"/>
          </a:xfrm>
          <a:prstGeom prst="rect">
            <a:avLst/>
          </a:prstGeom>
          <a:noFill/>
          <a:ln/>
        </p:spPr>
        <p:txBody>
          <a:bodyPr wrap="square" lIns="0" tIns="0" rIns="0" bIns="0" rtlCol="0" anchor="ctr"/>
          <a:lstStyle/>
          <a:p>
            <a:pPr marL="0" indent="0">
              <a:buNone/>
            </a:pPr>
            <a:r>
              <a:rPr lang="en-US" sz="1400" b="1" kern="0" spc="100" dirty="0">
                <a:solidFill>
                  <a:srgbClr val="34D399"/>
                </a:solidFill>
                <a:latin typeface="Calibri" pitchFamily="34" charset="0"/>
                <a:ea typeface="Calibri" pitchFamily="34" charset="-122"/>
                <a:cs typeface="Calibri" pitchFamily="34" charset="-120"/>
              </a:rPr>
              <a:t>SCRUM – BURNUP CHART</a:t>
            </a:r>
            <a:endParaRPr lang="en-US" sz="1400" dirty="0"/>
          </a:p>
        </p:txBody>
      </p:sp>
      <p:sp>
        <p:nvSpPr>
          <p:cNvPr id="18" name="Text 16"/>
          <p:cNvSpPr/>
          <p:nvPr/>
        </p:nvSpPr>
        <p:spPr>
          <a:xfrm>
            <a:off x="4261104" y="1453896"/>
            <a:ext cx="3520440" cy="1783080"/>
          </a:xfrm>
          <a:prstGeom prst="rect">
            <a:avLst/>
          </a:prstGeom>
          <a:noFill/>
          <a:ln/>
        </p:spPr>
        <p:txBody>
          <a:bodyPr wrap="square" lIns="0" tIns="0" rIns="0" bIns="0" rtlCol="0" anchor="t"/>
          <a:lstStyle/>
          <a:p>
            <a:pPr marL="0" indent="0">
              <a:lnSpc>
                <a:spcPct val="130000"/>
              </a:lnSpc>
              <a:buNone/>
            </a:pPr>
            <a:r>
              <a:rPr lang="en-US" sz="1400" dirty="0">
                <a:solidFill>
                  <a:srgbClr val="E2E8F0"/>
                </a:solidFill>
                <a:latin typeface="Calibri" pitchFamily="34" charset="0"/>
                <a:ea typeface="Calibri" pitchFamily="34" charset="-122"/>
                <a:cs typeface="Calibri" pitchFamily="34" charset="-120"/>
              </a:rPr>
              <a:t>Scope total = 200 SP (20 HU × 10 SP promedio). Meta: curva de trabajo completado alcanzando scope en Sprint 6. Scope creep evaluado vs CAPEX $40M.</a:t>
            </a:r>
            <a:endParaRPr lang="en-US" sz="1400" dirty="0"/>
          </a:p>
        </p:txBody>
      </p:sp>
      <p:sp>
        <p:nvSpPr>
          <p:cNvPr id="19" name="Shape 17"/>
          <p:cNvSpPr/>
          <p:nvPr/>
        </p:nvSpPr>
        <p:spPr>
          <a:xfrm>
            <a:off x="8046720" y="1051560"/>
            <a:ext cx="3794760" cy="2240280"/>
          </a:xfrm>
          <a:prstGeom prst="rect">
            <a:avLst/>
          </a:prstGeom>
          <a:solidFill>
            <a:srgbClr val="0D1B3E"/>
          </a:solidFill>
          <a:ln w="12700">
            <a:solidFill>
              <a:srgbClr val="FBBF24"/>
            </a:solidFill>
            <a:prstDash val="solid"/>
          </a:ln>
        </p:spPr>
      </p:sp>
      <p:sp>
        <p:nvSpPr>
          <p:cNvPr id="20" name="Shape 18"/>
          <p:cNvSpPr/>
          <p:nvPr/>
        </p:nvSpPr>
        <p:spPr>
          <a:xfrm>
            <a:off x="8046720" y="1051560"/>
            <a:ext cx="3794760" cy="36576"/>
          </a:xfrm>
          <a:prstGeom prst="rect">
            <a:avLst/>
          </a:prstGeom>
          <a:solidFill>
            <a:srgbClr val="FBBF24"/>
          </a:solidFill>
          <a:ln w="12700">
            <a:solidFill>
              <a:srgbClr val="FBBF24"/>
            </a:solidFill>
            <a:prstDash val="solid"/>
          </a:ln>
        </p:spPr>
      </p:sp>
      <p:sp>
        <p:nvSpPr>
          <p:cNvPr id="21" name="Text 19"/>
          <p:cNvSpPr/>
          <p:nvPr/>
        </p:nvSpPr>
        <p:spPr>
          <a:xfrm>
            <a:off x="8183880" y="1143000"/>
            <a:ext cx="3520440" cy="237744"/>
          </a:xfrm>
          <a:prstGeom prst="rect">
            <a:avLst/>
          </a:prstGeom>
          <a:noFill/>
          <a:ln/>
        </p:spPr>
        <p:txBody>
          <a:bodyPr wrap="square" lIns="0" tIns="0" rIns="0" bIns="0" rtlCol="0" anchor="ctr"/>
          <a:lstStyle/>
          <a:p>
            <a:pPr marL="0" indent="0">
              <a:buNone/>
            </a:pPr>
            <a:r>
              <a:rPr lang="en-US" sz="1400" b="1" kern="0" spc="100" dirty="0">
                <a:solidFill>
                  <a:srgbClr val="FBBF24"/>
                </a:solidFill>
                <a:latin typeface="Calibri" pitchFamily="34" charset="0"/>
                <a:ea typeface="Calibri" pitchFamily="34" charset="-122"/>
                <a:cs typeface="Calibri" pitchFamily="34" charset="-120"/>
              </a:rPr>
              <a:t>SCRUM – VELOCITY</a:t>
            </a:r>
            <a:endParaRPr lang="en-US" sz="1400" dirty="0"/>
          </a:p>
        </p:txBody>
      </p:sp>
      <p:sp>
        <p:nvSpPr>
          <p:cNvPr id="22" name="Text 20"/>
          <p:cNvSpPr/>
          <p:nvPr/>
        </p:nvSpPr>
        <p:spPr>
          <a:xfrm>
            <a:off x="8183880" y="1453896"/>
            <a:ext cx="3520440" cy="1783080"/>
          </a:xfrm>
          <a:prstGeom prst="rect">
            <a:avLst/>
          </a:prstGeom>
          <a:noFill/>
          <a:ln/>
        </p:spPr>
        <p:txBody>
          <a:bodyPr wrap="square" lIns="0" tIns="0" rIns="0" bIns="0" rtlCol="0" anchor="t"/>
          <a:lstStyle/>
          <a:p>
            <a:pPr marL="0" indent="0">
              <a:lnSpc>
                <a:spcPct val="130000"/>
              </a:lnSpc>
              <a:buNone/>
            </a:pPr>
            <a:r>
              <a:rPr lang="en-US" sz="1400" dirty="0">
                <a:solidFill>
                  <a:srgbClr val="E2E8F0"/>
                </a:solidFill>
                <a:latin typeface="Calibri" pitchFamily="34" charset="0"/>
                <a:ea typeface="Calibri" pitchFamily="34" charset="-122"/>
                <a:cs typeface="Calibri" pitchFamily="34" charset="-120"/>
              </a:rPr>
              <a:t>Velocity inicial: 35 SP/sprint (Sprint 1-2). Estabilización: 40-45 SP desde Sprint 3. Meta: varianza &lt;20% entre sprints consecutivos. Revisión en Retrospectiva.</a:t>
            </a:r>
            <a:endParaRPr lang="en-US" sz="1400" dirty="0"/>
          </a:p>
        </p:txBody>
      </p:sp>
      <p:sp>
        <p:nvSpPr>
          <p:cNvPr id="23" name="Shape 21"/>
          <p:cNvSpPr/>
          <p:nvPr/>
        </p:nvSpPr>
        <p:spPr>
          <a:xfrm>
            <a:off x="201168" y="3474720"/>
            <a:ext cx="3794760" cy="2240280"/>
          </a:xfrm>
          <a:prstGeom prst="rect">
            <a:avLst/>
          </a:prstGeom>
          <a:solidFill>
            <a:srgbClr val="0D1B3E"/>
          </a:solidFill>
          <a:ln w="12700">
            <a:solidFill>
              <a:srgbClr val="A78BFA"/>
            </a:solidFill>
            <a:prstDash val="solid"/>
          </a:ln>
        </p:spPr>
      </p:sp>
      <p:sp>
        <p:nvSpPr>
          <p:cNvPr id="24" name="Shape 22"/>
          <p:cNvSpPr/>
          <p:nvPr/>
        </p:nvSpPr>
        <p:spPr>
          <a:xfrm>
            <a:off x="201168" y="3474720"/>
            <a:ext cx="3794760" cy="36576"/>
          </a:xfrm>
          <a:prstGeom prst="rect">
            <a:avLst/>
          </a:prstGeom>
          <a:solidFill>
            <a:srgbClr val="A78BFA"/>
          </a:solidFill>
          <a:ln w="12700">
            <a:solidFill>
              <a:srgbClr val="A78BFA"/>
            </a:solidFill>
            <a:prstDash val="solid"/>
          </a:ln>
        </p:spPr>
      </p:sp>
      <p:sp>
        <p:nvSpPr>
          <p:cNvPr id="25" name="Text 23"/>
          <p:cNvSpPr/>
          <p:nvPr/>
        </p:nvSpPr>
        <p:spPr>
          <a:xfrm>
            <a:off x="338328" y="3566160"/>
            <a:ext cx="3520440" cy="237744"/>
          </a:xfrm>
          <a:prstGeom prst="rect">
            <a:avLst/>
          </a:prstGeom>
          <a:noFill/>
          <a:ln/>
        </p:spPr>
        <p:txBody>
          <a:bodyPr wrap="square" lIns="0" tIns="0" rIns="0" bIns="0" rtlCol="0" anchor="ctr"/>
          <a:lstStyle/>
          <a:p>
            <a:pPr marL="0" indent="0">
              <a:buNone/>
            </a:pPr>
            <a:r>
              <a:rPr lang="en-US" sz="1400" b="1" kern="0" spc="100" dirty="0">
                <a:solidFill>
                  <a:srgbClr val="A78BFA"/>
                </a:solidFill>
                <a:latin typeface="Calibri" pitchFamily="34" charset="0"/>
                <a:ea typeface="Calibri" pitchFamily="34" charset="-122"/>
                <a:cs typeface="Calibri" pitchFamily="34" charset="-120"/>
              </a:rPr>
              <a:t>KANBAN – LEAD TIME</a:t>
            </a:r>
            <a:endParaRPr lang="en-US" sz="1400" dirty="0"/>
          </a:p>
        </p:txBody>
      </p:sp>
      <p:sp>
        <p:nvSpPr>
          <p:cNvPr id="26" name="Text 24"/>
          <p:cNvSpPr/>
          <p:nvPr/>
        </p:nvSpPr>
        <p:spPr>
          <a:xfrm>
            <a:off x="338328" y="3877056"/>
            <a:ext cx="3520440" cy="1783080"/>
          </a:xfrm>
          <a:prstGeom prst="rect">
            <a:avLst/>
          </a:prstGeom>
          <a:noFill/>
          <a:ln/>
        </p:spPr>
        <p:txBody>
          <a:bodyPr wrap="square" lIns="0" tIns="0" rIns="0" bIns="0" rtlCol="0" anchor="t"/>
          <a:lstStyle/>
          <a:p>
            <a:pPr marL="0" indent="0">
              <a:lnSpc>
                <a:spcPct val="130000"/>
              </a:lnSpc>
              <a:buNone/>
            </a:pPr>
            <a:r>
              <a:rPr lang="en-US" sz="1400" dirty="0">
                <a:solidFill>
                  <a:srgbClr val="E2E8F0"/>
                </a:solidFill>
                <a:latin typeface="Calibri" pitchFamily="34" charset="0"/>
                <a:ea typeface="Calibri" pitchFamily="34" charset="-122"/>
                <a:cs typeface="Calibri" pitchFamily="34" charset="-120"/>
              </a:rPr>
              <a:t>Base: 3-4 semanas desde levantamiento de HU hasta producción. Meta: reducir a &lt;2 semanas para Bug-fix y mejoras menores post go-live.</a:t>
            </a:r>
            <a:endParaRPr lang="en-US" sz="1400" dirty="0"/>
          </a:p>
        </p:txBody>
      </p:sp>
      <p:sp>
        <p:nvSpPr>
          <p:cNvPr id="27" name="Shape 25"/>
          <p:cNvSpPr/>
          <p:nvPr/>
        </p:nvSpPr>
        <p:spPr>
          <a:xfrm>
            <a:off x="4123944" y="3474720"/>
            <a:ext cx="3794760" cy="2240280"/>
          </a:xfrm>
          <a:prstGeom prst="rect">
            <a:avLst/>
          </a:prstGeom>
          <a:solidFill>
            <a:srgbClr val="0D1B3E"/>
          </a:solidFill>
          <a:ln w="12700">
            <a:solidFill>
              <a:srgbClr val="FB7185"/>
            </a:solidFill>
            <a:prstDash val="solid"/>
          </a:ln>
        </p:spPr>
      </p:sp>
      <p:sp>
        <p:nvSpPr>
          <p:cNvPr id="28" name="Shape 26"/>
          <p:cNvSpPr/>
          <p:nvPr/>
        </p:nvSpPr>
        <p:spPr>
          <a:xfrm>
            <a:off x="4123944" y="3474720"/>
            <a:ext cx="3794760" cy="36576"/>
          </a:xfrm>
          <a:prstGeom prst="rect">
            <a:avLst/>
          </a:prstGeom>
          <a:solidFill>
            <a:srgbClr val="FB7185"/>
          </a:solidFill>
          <a:ln w="12700">
            <a:solidFill>
              <a:srgbClr val="FB7185"/>
            </a:solidFill>
            <a:prstDash val="solid"/>
          </a:ln>
        </p:spPr>
      </p:sp>
      <p:sp>
        <p:nvSpPr>
          <p:cNvPr id="29" name="Text 27"/>
          <p:cNvSpPr/>
          <p:nvPr/>
        </p:nvSpPr>
        <p:spPr>
          <a:xfrm>
            <a:off x="4261104" y="3566160"/>
            <a:ext cx="3520440" cy="237744"/>
          </a:xfrm>
          <a:prstGeom prst="rect">
            <a:avLst/>
          </a:prstGeom>
          <a:noFill/>
          <a:ln/>
        </p:spPr>
        <p:txBody>
          <a:bodyPr wrap="square" lIns="0" tIns="0" rIns="0" bIns="0" rtlCol="0" anchor="ctr"/>
          <a:lstStyle/>
          <a:p>
            <a:pPr marL="0" indent="0">
              <a:buNone/>
            </a:pPr>
            <a:r>
              <a:rPr lang="en-US" sz="1400" b="1" kern="0" spc="100" dirty="0">
                <a:solidFill>
                  <a:srgbClr val="FB7185"/>
                </a:solidFill>
                <a:latin typeface="Calibri" pitchFamily="34" charset="0"/>
                <a:ea typeface="Calibri" pitchFamily="34" charset="-122"/>
                <a:cs typeface="Calibri" pitchFamily="34" charset="-120"/>
              </a:rPr>
              <a:t>KANBAN – CYCLE TIME</a:t>
            </a:r>
            <a:endParaRPr lang="en-US" sz="1400" dirty="0"/>
          </a:p>
        </p:txBody>
      </p:sp>
      <p:sp>
        <p:nvSpPr>
          <p:cNvPr id="30" name="Text 28"/>
          <p:cNvSpPr/>
          <p:nvPr/>
        </p:nvSpPr>
        <p:spPr>
          <a:xfrm>
            <a:off x="4261104" y="3877056"/>
            <a:ext cx="3520440" cy="1783080"/>
          </a:xfrm>
          <a:prstGeom prst="rect">
            <a:avLst/>
          </a:prstGeom>
          <a:noFill/>
          <a:ln/>
        </p:spPr>
        <p:txBody>
          <a:bodyPr wrap="square" lIns="0" tIns="0" rIns="0" bIns="0" rtlCol="0" anchor="t"/>
          <a:lstStyle/>
          <a:p>
            <a:pPr marL="0" indent="0">
              <a:lnSpc>
                <a:spcPct val="130000"/>
              </a:lnSpc>
              <a:buNone/>
            </a:pPr>
            <a:r>
              <a:rPr lang="en-US" sz="1400" dirty="0">
                <a:solidFill>
                  <a:srgbClr val="E2E8F0"/>
                </a:solidFill>
                <a:latin typeface="Calibri" pitchFamily="34" charset="0"/>
                <a:ea typeface="Calibri" pitchFamily="34" charset="-122"/>
                <a:cs typeface="Calibri" pitchFamily="34" charset="-120"/>
              </a:rPr>
              <a:t>Base: 5 días hábiles (In Progress → PR aprobado). Meta: &lt;3 días hábiles desde Sprint 4. Medición automática Jira.</a:t>
            </a:r>
            <a:endParaRPr lang="en-US" sz="1400" dirty="0"/>
          </a:p>
        </p:txBody>
      </p:sp>
      <p:sp>
        <p:nvSpPr>
          <p:cNvPr id="31" name="Shape 29"/>
          <p:cNvSpPr/>
          <p:nvPr/>
        </p:nvSpPr>
        <p:spPr>
          <a:xfrm>
            <a:off x="8046720" y="3474720"/>
            <a:ext cx="3794760" cy="2240280"/>
          </a:xfrm>
          <a:prstGeom prst="rect">
            <a:avLst/>
          </a:prstGeom>
          <a:solidFill>
            <a:srgbClr val="0D1B3E"/>
          </a:solidFill>
          <a:ln w="12700">
            <a:solidFill>
              <a:srgbClr val="38BDF8"/>
            </a:solidFill>
            <a:prstDash val="solid"/>
          </a:ln>
        </p:spPr>
      </p:sp>
      <p:sp>
        <p:nvSpPr>
          <p:cNvPr id="32" name="Shape 30"/>
          <p:cNvSpPr/>
          <p:nvPr/>
        </p:nvSpPr>
        <p:spPr>
          <a:xfrm>
            <a:off x="8046720" y="3474720"/>
            <a:ext cx="3794760" cy="36576"/>
          </a:xfrm>
          <a:prstGeom prst="rect">
            <a:avLst/>
          </a:prstGeom>
          <a:solidFill>
            <a:srgbClr val="38BDF8"/>
          </a:solidFill>
          <a:ln w="12700">
            <a:solidFill>
              <a:srgbClr val="38BDF8"/>
            </a:solidFill>
            <a:prstDash val="solid"/>
          </a:ln>
        </p:spPr>
      </p:sp>
      <p:sp>
        <p:nvSpPr>
          <p:cNvPr id="33" name="Text 31"/>
          <p:cNvSpPr/>
          <p:nvPr/>
        </p:nvSpPr>
        <p:spPr>
          <a:xfrm>
            <a:off x="8183880" y="3566160"/>
            <a:ext cx="3520440" cy="237744"/>
          </a:xfrm>
          <a:prstGeom prst="rect">
            <a:avLst/>
          </a:prstGeom>
          <a:noFill/>
          <a:ln/>
        </p:spPr>
        <p:txBody>
          <a:bodyPr wrap="square" lIns="0" tIns="0" rIns="0" bIns="0" rtlCol="0" anchor="ctr"/>
          <a:lstStyle/>
          <a:p>
            <a:pPr marL="0" indent="0">
              <a:buNone/>
            </a:pPr>
            <a:r>
              <a:rPr lang="en-US" sz="1400" b="1" kern="0" spc="100" dirty="0">
                <a:solidFill>
                  <a:srgbClr val="38BDF8"/>
                </a:solidFill>
                <a:latin typeface="Calibri" pitchFamily="34" charset="0"/>
                <a:ea typeface="Calibri" pitchFamily="34" charset="-122"/>
                <a:cs typeface="Calibri" pitchFamily="34" charset="-120"/>
              </a:rPr>
              <a:t>KANBAN – WIP LIMITS</a:t>
            </a:r>
            <a:endParaRPr lang="en-US" sz="1400" dirty="0"/>
          </a:p>
        </p:txBody>
      </p:sp>
      <p:sp>
        <p:nvSpPr>
          <p:cNvPr id="34" name="Text 32"/>
          <p:cNvSpPr/>
          <p:nvPr/>
        </p:nvSpPr>
        <p:spPr>
          <a:xfrm>
            <a:off x="8183880" y="3877056"/>
            <a:ext cx="3520440" cy="1783080"/>
          </a:xfrm>
          <a:prstGeom prst="rect">
            <a:avLst/>
          </a:prstGeom>
          <a:noFill/>
          <a:ln/>
        </p:spPr>
        <p:txBody>
          <a:bodyPr wrap="square" lIns="0" tIns="0" rIns="0" bIns="0" rtlCol="0" anchor="t"/>
          <a:lstStyle/>
          <a:p>
            <a:pPr marL="0" indent="0">
              <a:lnSpc>
                <a:spcPct val="130000"/>
              </a:lnSpc>
              <a:buNone/>
            </a:pPr>
            <a:r>
              <a:rPr lang="en-US" sz="1400" dirty="0">
                <a:solidFill>
                  <a:srgbClr val="E2E8F0"/>
                </a:solidFill>
                <a:latin typeface="Calibri" pitchFamily="34" charset="0"/>
                <a:ea typeface="Calibri" pitchFamily="34" charset="-122"/>
                <a:cs typeface="Calibri" pitchFamily="34" charset="-120"/>
              </a:rPr>
              <a:t>Máx. 3 tareas simultáneas por desarrollador. Máx. 6 ítems en 'In Progress'. Objetivo: evitar multitasking y reducir tiempos de espera. Revisión en Daily Scrum.</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2 – ROADMAP 3</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Estratégico con OKRs</a:t>
            </a:r>
            <a:endParaRPr lang="en-US" sz="2100"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000" i="1" dirty="0">
                <a:solidFill>
                  <a:srgbClr val="38BDF8"/>
                </a:solidFill>
                <a:latin typeface="Calibri" pitchFamily="34" charset="0"/>
                <a:ea typeface="Calibri" pitchFamily="34" charset="-122"/>
                <a:cs typeface="Calibri" pitchFamily="34" charset="-120"/>
              </a:rPr>
              <a:t>Objetivos y Key Results · Q1–Q4</a:t>
            </a:r>
            <a:endParaRPr lang="en-US" sz="10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Shape 7"/>
          <p:cNvSpPr/>
          <p:nvPr/>
        </p:nvSpPr>
        <p:spPr>
          <a:xfrm>
            <a:off x="0" y="6720840"/>
            <a:ext cx="12188952" cy="137160"/>
          </a:xfrm>
          <a:prstGeom prst="rect">
            <a:avLst/>
          </a:prstGeom>
          <a:solidFill>
            <a:srgbClr val="1246B3"/>
          </a:solidFill>
          <a:ln w="12700">
            <a:solidFill>
              <a:srgbClr val="1246B3"/>
            </a:solidFill>
            <a:prstDash val="solid"/>
          </a:ln>
        </p:spPr>
      </p:sp>
      <p:sp>
        <p:nvSpPr>
          <p:cNvPr id="10" name="Text 8"/>
          <p:cNvSpPr/>
          <p:nvPr/>
        </p:nvSpPr>
        <p:spPr>
          <a:xfrm>
            <a:off x="182880" y="6611112"/>
            <a:ext cx="11823192" cy="128016"/>
          </a:xfrm>
          <a:prstGeom prst="rect">
            <a:avLst/>
          </a:prstGeom>
          <a:noFill/>
          <a:ln/>
        </p:spPr>
        <p:txBody>
          <a:bodyPr wrap="square" lIns="0" tIns="0" rIns="0" bIns="0" rtlCol="0" anchor="ctr"/>
          <a:lstStyle/>
          <a:p>
            <a:pPr marL="0" indent="0" algn="ctr">
              <a:buNone/>
            </a:pPr>
            <a:r>
              <a:rPr lang="en-US" sz="7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700" dirty="0"/>
          </a:p>
        </p:txBody>
      </p:sp>
      <p:graphicFrame>
        <p:nvGraphicFramePr>
          <p:cNvPr id="11" name="Table 0"/>
          <p:cNvGraphicFramePr>
            <a:graphicFrameLocks noGrp="1"/>
          </p:cNvGraphicFramePr>
          <p:nvPr>
            <p:extLst>
              <p:ext uri="{D42A27DB-BD31-4B8C-83A1-F6EECF244321}">
                <p14:modId xmlns:p14="http://schemas.microsoft.com/office/powerpoint/2010/main" val="1943746635"/>
              </p:ext>
            </p:extLst>
          </p:nvPr>
        </p:nvGraphicFramePr>
        <p:xfrm>
          <a:off x="201168" y="1051560"/>
          <a:ext cx="11795760" cy="5257800"/>
        </p:xfrm>
        <a:graphic>
          <a:graphicData uri="http://schemas.openxmlformats.org/drawingml/2006/table">
            <a:tbl>
              <a:tblPr/>
              <a:tblGrid>
                <a:gridCol w="3931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1314450">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OKR 1</a:t>
                      </a:r>
                      <a:endParaRPr lang="en-US" sz="16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OKR 2</a:t>
                      </a:r>
                      <a:endParaRPr lang="en-US" sz="16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OKR 3</a:t>
                      </a:r>
                      <a:endParaRPr lang="en-US" sz="16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extLst>
                  <a:ext uri="{0D108BD9-81ED-4DB2-BD59-A6C34878D82A}">
                    <a16:rowId xmlns:a16="http://schemas.microsoft.com/office/drawing/2014/main" val="10000"/>
                  </a:ext>
                </a:extLst>
              </a:tr>
              <a:tr h="1314450">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O1: Automatizar el 100% del proceso de viáticos para eliminar errores y retrabajo</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O2: Mejorar la experiencia del colaborador en rendición de gastos</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O3: Generar ROI positivo y escalar el modelo a toda la organización</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extLst>
                  <a:ext uri="{0D108BD9-81ED-4DB2-BD59-A6C34878D82A}">
                    <a16:rowId xmlns:a16="http://schemas.microsoft.com/office/drawing/2014/main" val="10001"/>
                  </a:ext>
                </a:extLst>
              </a:tr>
              <a:tr h="1314450">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 1: Tasa de error en rendición &lt;5% al mes 6 post go-live</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 1: SUS score &gt;=75 en primer mes post lanzamiento</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 1: Payback confirmado &lt;=14.2 meses</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extLst>
                  <a:ext uri="{0D108BD9-81ED-4DB2-BD59-A6C34878D82A}">
                    <a16:rowId xmlns:a16="http://schemas.microsoft.com/office/drawing/2014/main" val="10002"/>
                  </a:ext>
                </a:extLst>
              </a:tr>
              <a:tr h="1314450">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 2: &gt;80% de gastos aprobados automáticamente sin intervención humana</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 2: NPS colaborador &gt;70 a 60 días post go-live</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 2: 100% de colaboradores objetivo migrados al nuevo flujo en Sprint 6</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2 – ROADMAP 3</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Estratégico con OKRs – Roadmap Trimestral</a:t>
            </a:r>
            <a:endParaRPr lang="en-US" sz="2100"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000" i="1" dirty="0">
                <a:solidFill>
                  <a:srgbClr val="38BDF8"/>
                </a:solidFill>
                <a:latin typeface="Calibri" pitchFamily="34" charset="0"/>
                <a:ea typeface="Calibri" pitchFamily="34" charset="-122"/>
                <a:cs typeface="Calibri" pitchFamily="34" charset="-120"/>
              </a:rPr>
              <a:t>Iniciativas conectadas con Objetivos del Negocio</a:t>
            </a:r>
            <a:endParaRPr lang="en-US" sz="10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Shape 7"/>
          <p:cNvSpPr/>
          <p:nvPr/>
        </p:nvSpPr>
        <p:spPr>
          <a:xfrm>
            <a:off x="0" y="6720840"/>
            <a:ext cx="12188952" cy="137160"/>
          </a:xfrm>
          <a:prstGeom prst="rect">
            <a:avLst/>
          </a:prstGeom>
          <a:solidFill>
            <a:srgbClr val="1246B3"/>
          </a:solidFill>
          <a:ln w="12700">
            <a:solidFill>
              <a:srgbClr val="1246B3"/>
            </a:solidFill>
            <a:prstDash val="solid"/>
          </a:ln>
        </p:spPr>
      </p:sp>
      <p:sp>
        <p:nvSpPr>
          <p:cNvPr id="10" name="Text 8"/>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7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700" dirty="0"/>
          </a:p>
        </p:txBody>
      </p:sp>
      <p:graphicFrame>
        <p:nvGraphicFramePr>
          <p:cNvPr id="11" name="Table 0"/>
          <p:cNvGraphicFramePr>
            <a:graphicFrameLocks noGrp="1"/>
          </p:cNvGraphicFramePr>
          <p:nvPr>
            <p:extLst>
              <p:ext uri="{D42A27DB-BD31-4B8C-83A1-F6EECF244321}">
                <p14:modId xmlns:p14="http://schemas.microsoft.com/office/powerpoint/2010/main" val="4040251164"/>
              </p:ext>
            </p:extLst>
          </p:nvPr>
        </p:nvGraphicFramePr>
        <p:xfrm>
          <a:off x="201168" y="1051560"/>
          <a:ext cx="11795760" cy="5257800"/>
        </p:xfrm>
        <a:graphic>
          <a:graphicData uri="http://schemas.openxmlformats.org/drawingml/2006/table">
            <a:tbl>
              <a:tblPr/>
              <a:tblGrid>
                <a:gridCol w="3931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1051560">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OKR 1</a:t>
                      </a:r>
                      <a:endParaRPr lang="en-US" sz="16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OKR 2</a:t>
                      </a:r>
                      <a:endParaRPr lang="en-US" sz="16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OKR 3</a:t>
                      </a:r>
                      <a:endParaRPr lang="en-US" sz="16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extLst>
                  <a:ext uri="{0D108BD9-81ED-4DB2-BD59-A6C34878D82A}">
                    <a16:rowId xmlns:a16="http://schemas.microsoft.com/office/drawing/2014/main" val="10000"/>
                  </a:ext>
                </a:extLst>
              </a:tr>
              <a:tr h="1051560">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O1: Automatizar el 100% del proceso de viáticos eliminando errores y retrabajo</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O2: Mejorar experiencia del colaborador en rendición de gastos</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O3: Generar ROI positivo y escalar el modelo a toda la organización</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extLst>
                  <a:ext uri="{0D108BD9-81ED-4DB2-BD59-A6C34878D82A}">
                    <a16:rowId xmlns:a16="http://schemas.microsoft.com/office/drawing/2014/main" val="10001"/>
                  </a:ext>
                </a:extLst>
              </a:tr>
              <a:tr h="1051560">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 1: Tasa de error en rendición &lt;5% al mes 6</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 1: SUS score &gt;=75 en primer mes post lanzamiento</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 1: Payback confirmado &lt;=14.2 meses</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extLst>
                  <a:ext uri="{0D108BD9-81ED-4DB2-BD59-A6C34878D82A}">
                    <a16:rowId xmlns:a16="http://schemas.microsoft.com/office/drawing/2014/main" val="10002"/>
                  </a:ext>
                </a:extLst>
              </a:tr>
              <a:tr h="1051560">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 2: &gt;80% gastos aprobados automáticamente</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 2: NPS colaborador &gt;70 a 60 días post go-live</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 2: 100% colaboradores objetivo migrados en Sprint 6</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extLst>
                  <a:ext uri="{0D108BD9-81ED-4DB2-BD59-A6C34878D82A}">
                    <a16:rowId xmlns:a16="http://schemas.microsoft.com/office/drawing/2014/main" val="10003"/>
                  </a:ext>
                </a:extLst>
              </a:tr>
              <a:tr h="1051560">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 3: 0 incidentes P1 en primeras 2 semanas de producción</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 3: Tiempo promedio de rendición &lt;2 días hábiles</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 3: ROI a 24 meses &gt;68.6%</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2 – ROADMAP 3</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Roadmap Trimestral OKRs</a:t>
            </a:r>
            <a:endParaRPr lang="en-US" sz="2100"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000" i="1" dirty="0">
                <a:solidFill>
                  <a:srgbClr val="38BDF8"/>
                </a:solidFill>
                <a:latin typeface="Calibri" pitchFamily="34" charset="0"/>
                <a:ea typeface="Calibri" pitchFamily="34" charset="-122"/>
                <a:cs typeface="Calibri" pitchFamily="34" charset="-120"/>
              </a:rPr>
              <a:t>Pilares estratégicos Q1–Q4</a:t>
            </a:r>
            <a:endParaRPr lang="en-US" sz="10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Shape 7"/>
          <p:cNvSpPr/>
          <p:nvPr/>
        </p:nvSpPr>
        <p:spPr>
          <a:xfrm>
            <a:off x="0" y="6720840"/>
            <a:ext cx="12188952" cy="137160"/>
          </a:xfrm>
          <a:prstGeom prst="rect">
            <a:avLst/>
          </a:prstGeom>
          <a:solidFill>
            <a:srgbClr val="1246B3"/>
          </a:solidFill>
          <a:ln w="12700">
            <a:solidFill>
              <a:srgbClr val="1246B3"/>
            </a:solidFill>
            <a:prstDash val="solid"/>
          </a:ln>
        </p:spPr>
      </p:sp>
      <p:sp>
        <p:nvSpPr>
          <p:cNvPr id="10" name="Text 8"/>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7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700" dirty="0"/>
          </a:p>
        </p:txBody>
      </p:sp>
      <p:graphicFrame>
        <p:nvGraphicFramePr>
          <p:cNvPr id="11" name="Table 0"/>
          <p:cNvGraphicFramePr>
            <a:graphicFrameLocks noGrp="1"/>
          </p:cNvGraphicFramePr>
          <p:nvPr>
            <p:extLst>
              <p:ext uri="{D42A27DB-BD31-4B8C-83A1-F6EECF244321}">
                <p14:modId xmlns:p14="http://schemas.microsoft.com/office/powerpoint/2010/main" val="1580278171"/>
              </p:ext>
            </p:extLst>
          </p:nvPr>
        </p:nvGraphicFramePr>
        <p:xfrm>
          <a:off x="201168" y="1051560"/>
          <a:ext cx="11804904" cy="5504690"/>
        </p:xfrm>
        <a:graphic>
          <a:graphicData uri="http://schemas.openxmlformats.org/drawingml/2006/table">
            <a:tbl>
              <a:tblPr/>
              <a:tblGrid>
                <a:gridCol w="1000615">
                  <a:extLst>
                    <a:ext uri="{9D8B030D-6E8A-4147-A177-3AD203B41FA5}">
                      <a16:colId xmlns:a16="http://schemas.microsoft.com/office/drawing/2014/main" val="20000"/>
                    </a:ext>
                  </a:extLst>
                </a:gridCol>
                <a:gridCol w="1795283">
                  <a:extLst>
                    <a:ext uri="{9D8B030D-6E8A-4147-A177-3AD203B41FA5}">
                      <a16:colId xmlns:a16="http://schemas.microsoft.com/office/drawing/2014/main" val="20001"/>
                    </a:ext>
                  </a:extLst>
                </a:gridCol>
                <a:gridCol w="3624313">
                  <a:extLst>
                    <a:ext uri="{9D8B030D-6E8A-4147-A177-3AD203B41FA5}">
                      <a16:colId xmlns:a16="http://schemas.microsoft.com/office/drawing/2014/main" val="20002"/>
                    </a:ext>
                  </a:extLst>
                </a:gridCol>
                <a:gridCol w="1044394">
                  <a:extLst>
                    <a:ext uri="{9D8B030D-6E8A-4147-A177-3AD203B41FA5}">
                      <a16:colId xmlns:a16="http://schemas.microsoft.com/office/drawing/2014/main" val="20003"/>
                    </a:ext>
                  </a:extLst>
                </a:gridCol>
                <a:gridCol w="1647952">
                  <a:extLst>
                    <a:ext uri="{9D8B030D-6E8A-4147-A177-3AD203B41FA5}">
                      <a16:colId xmlns:a16="http://schemas.microsoft.com/office/drawing/2014/main" val="20004"/>
                    </a:ext>
                  </a:extLst>
                </a:gridCol>
                <a:gridCol w="2692347">
                  <a:extLst>
                    <a:ext uri="{9D8B030D-6E8A-4147-A177-3AD203B41FA5}">
                      <a16:colId xmlns:a16="http://schemas.microsoft.com/office/drawing/2014/main" val="20005"/>
                    </a:ext>
                  </a:extLst>
                </a:gridCol>
              </a:tblGrid>
              <a:tr h="1100938">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Trimestre</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Pilar Dominante</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Iniciativa Estratégica</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Objetivo (O)</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KRs Impactados</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Dueño</a:t>
                      </a:r>
                      <a:endParaRPr lang="en-US" sz="1400" dirty="0">
                        <a:latin typeface="Calibri" charset="0"/>
                        <a:ea typeface="Calibri" charset="0"/>
                        <a:cs typeface="Calibri" charset="0"/>
                      </a:endParaRPr>
                    </a:p>
                  </a:txBody>
                  <a:tcPr anchor="ct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22857"/>
                    </a:solidFill>
                  </a:tcPr>
                </a:tc>
                <a:extLst>
                  <a:ext uri="{0D108BD9-81ED-4DB2-BD59-A6C34878D82A}">
                    <a16:rowId xmlns:a16="http://schemas.microsoft.com/office/drawing/2014/main" val="10000"/>
                  </a:ext>
                </a:extLst>
              </a:tr>
              <a:tr h="1100938">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Q1</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Eficiencia Operacional</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Implementar TCC Digital + App móvil MVP + Motor de reglas automáticas</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O1</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KR1-O1, KR2-O1</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Product Owner – Gabriel Sandoval</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extLst>
                  <a:ext uri="{0D108BD9-81ED-4DB2-BD59-A6C34878D82A}">
                    <a16:rowId xmlns:a16="http://schemas.microsoft.com/office/drawing/2014/main" val="10001"/>
                  </a:ext>
                </a:extLst>
              </a:tr>
              <a:tr h="1100938">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Q2</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Experiencia de Usuario</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OCR+IA en producción + Piloto 10 choferes + Go-live total</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O1, O2</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KR1-O2, KR2-O2</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Scrum Master + Equipo Desarrollo</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extLst>
                  <a:ext uri="{0D108BD9-81ED-4DB2-BD59-A6C34878D82A}">
                    <a16:rowId xmlns:a16="http://schemas.microsoft.com/office/drawing/2014/main" val="10002"/>
                  </a:ext>
                </a:extLst>
              </a:tr>
              <a:tr h="1100938">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Q3</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ROI y Escalabilidad</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Monitoreo ROI + Dashboard métricas + Expansión a nuevas áreas</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O3</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KR1-O3, KR2-O3</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Gerencia Finanzas + TI</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D1B3E"/>
                    </a:solidFill>
                  </a:tcPr>
                </a:tc>
                <a:extLst>
                  <a:ext uri="{0D108BD9-81ED-4DB2-BD59-A6C34878D82A}">
                    <a16:rowId xmlns:a16="http://schemas.microsoft.com/office/drawing/2014/main" val="10003"/>
                  </a:ext>
                </a:extLst>
              </a:tr>
              <a:tr h="1100938">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Q4</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Consolidación y Gobierno</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Auditoría proceso + Ajustes governance + Roadmap siguiente fase</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O1, O2, O3</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Todos los KRs</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tc>
                  <a:txBody>
                    <a:bodyPr/>
                    <a:lstStyle/>
                    <a:p>
                      <a:pPr marL="0" indent="0" algn="ctr">
                        <a:buNone/>
                      </a:pPr>
                      <a:r>
                        <a:rPr lang="en-US" sz="1600" dirty="0">
                          <a:solidFill>
                            <a:srgbClr val="E2E8F0"/>
                          </a:solidFill>
                          <a:latin typeface="Calibri" pitchFamily="34" charset="0"/>
                          <a:ea typeface="Calibri" pitchFamily="34" charset="-122"/>
                          <a:cs typeface="Calibri" pitchFamily="34" charset="-120"/>
                        </a:rPr>
                        <a:t>Dirección General</a:t>
                      </a:r>
                      <a:endParaRPr lang="en-US" sz="1600" dirty="0">
                        <a:latin typeface="Calibri" charset="0"/>
                        <a:ea typeface="Calibri" charset="0"/>
                        <a:cs typeface="Calibri" charset="0"/>
                      </a:endParaRPr>
                    </a:p>
                  </a:txBody>
                  <a:tcPr>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091428"/>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3A6B"/>
          </a:solidFill>
          <a:ln w="12700">
            <a:solidFill>
              <a:srgbClr val="1A3A6B"/>
            </a:solidFill>
            <a:prstDash val="solid"/>
          </a:ln>
        </p:spPr>
      </p:sp>
      <p:sp>
        <p:nvSpPr>
          <p:cNvPr id="3" name="Shape 1"/>
          <p:cNvSpPr/>
          <p:nvPr/>
        </p:nvSpPr>
        <p:spPr>
          <a:xfrm>
            <a:off x="201168" y="91440"/>
            <a:ext cx="1737360" cy="274320"/>
          </a:xfrm>
          <a:prstGeom prst="rect">
            <a:avLst/>
          </a:prstGeom>
          <a:solidFill>
            <a:srgbClr val="00B4D8"/>
          </a:solidFill>
          <a:ln w="12700">
            <a:solidFill>
              <a:srgbClr val="00B4D8"/>
            </a:solidFill>
            <a:prstDash val="solid"/>
          </a:ln>
        </p:spPr>
      </p:sp>
      <p:sp>
        <p:nvSpPr>
          <p:cNvPr id="4" name="Text 2"/>
          <p:cNvSpPr/>
          <p:nvPr/>
        </p:nvSpPr>
        <p:spPr>
          <a:xfrm>
            <a:off x="201168" y="91440"/>
            <a:ext cx="1737360" cy="274320"/>
          </a:xfrm>
          <a:prstGeom prst="rect">
            <a:avLst/>
          </a:prstGeom>
          <a:noFill/>
          <a:ln/>
        </p:spPr>
        <p:txBody>
          <a:bodyPr wrap="square" lIns="0" tIns="0" rIns="0" bIns="0" rtlCol="0" anchor="ctr"/>
          <a:lstStyle/>
          <a:p>
            <a:pPr marL="0" indent="0" algn="ctr">
              <a:buNone/>
            </a:pPr>
            <a:r>
              <a:rPr lang="en-US" sz="700" b="1" dirty="0">
                <a:solidFill>
                  <a:srgbClr val="0A1628"/>
                </a:solidFill>
              </a:rPr>
              <a:t>ENTREGABLE 2 – ROADMAP 3</a:t>
            </a:r>
            <a:endParaRPr lang="en-US" sz="700" dirty="0"/>
          </a:p>
        </p:txBody>
      </p:sp>
      <p:sp>
        <p:nvSpPr>
          <p:cNvPr id="5" name="Text 3"/>
          <p:cNvSpPr/>
          <p:nvPr/>
        </p:nvSpPr>
        <p:spPr>
          <a:xfrm>
            <a:off x="2057400" y="64008"/>
            <a:ext cx="5486400" cy="237744"/>
          </a:xfrm>
          <a:prstGeom prst="rect">
            <a:avLst/>
          </a:prstGeom>
          <a:noFill/>
          <a:ln/>
        </p:spPr>
        <p:txBody>
          <a:bodyPr wrap="square" lIns="0" tIns="0" rIns="0" bIns="0" rtlCol="0" anchor="ctr"/>
          <a:lstStyle/>
          <a:p>
            <a:pPr marL="0" indent="0">
              <a:buNone/>
            </a:pPr>
            <a:r>
              <a:rPr lang="en-US" sz="1600" b="1" dirty="0">
                <a:solidFill>
                  <a:srgbClr val="FFFFFF"/>
                </a:solidFill>
              </a:rPr>
              <a:t>Roadmap Trimestral OKRs</a:t>
            </a:r>
            <a:endParaRPr lang="en-US" sz="1600" dirty="0"/>
          </a:p>
        </p:txBody>
      </p:sp>
      <p:sp>
        <p:nvSpPr>
          <p:cNvPr id="6" name="Text 4"/>
          <p:cNvSpPr/>
          <p:nvPr/>
        </p:nvSpPr>
        <p:spPr>
          <a:xfrm>
            <a:off x="2057400" y="310896"/>
            <a:ext cx="5486400" cy="146304"/>
          </a:xfrm>
          <a:prstGeom prst="rect">
            <a:avLst/>
          </a:prstGeom>
          <a:noFill/>
          <a:ln/>
        </p:spPr>
        <p:txBody>
          <a:bodyPr wrap="square" lIns="0" tIns="0" rIns="0" bIns="0" rtlCol="0" anchor="ctr"/>
          <a:lstStyle/>
          <a:p>
            <a:pPr marL="0" indent="0">
              <a:buNone/>
            </a:pPr>
            <a:r>
              <a:rPr lang="en-US" sz="800" i="1" dirty="0">
                <a:solidFill>
                  <a:srgbClr val="00B4D8"/>
                </a:solidFill>
              </a:rPr>
              <a:t>Pilares estratégicos  ·  Q1–Q4 2026</a:t>
            </a:r>
            <a:endParaRPr lang="en-US" sz="800" dirty="0"/>
          </a:p>
        </p:txBody>
      </p:sp>
      <p:sp>
        <p:nvSpPr>
          <p:cNvPr id="7" name="Shape 5"/>
          <p:cNvSpPr/>
          <p:nvPr/>
        </p:nvSpPr>
        <p:spPr>
          <a:xfrm>
            <a:off x="274320" y="2505456"/>
            <a:ext cx="8595360" cy="146304"/>
          </a:xfrm>
          <a:prstGeom prst="rect">
            <a:avLst/>
          </a:prstGeom>
          <a:solidFill>
            <a:srgbClr val="1A3A6B"/>
          </a:solidFill>
          <a:ln w="12700">
            <a:solidFill>
              <a:srgbClr val="1A3A6B"/>
            </a:solidFill>
            <a:prstDash val="solid"/>
          </a:ln>
        </p:spPr>
      </p:sp>
      <p:sp>
        <p:nvSpPr>
          <p:cNvPr id="8" name="Shape 6"/>
          <p:cNvSpPr/>
          <p:nvPr/>
        </p:nvSpPr>
        <p:spPr>
          <a:xfrm>
            <a:off x="274320" y="2569464"/>
            <a:ext cx="201168" cy="18288"/>
          </a:xfrm>
          <a:prstGeom prst="rect">
            <a:avLst/>
          </a:prstGeom>
          <a:solidFill>
            <a:srgbClr val="00B4D8">
              <a:alpha val="60000"/>
            </a:srgbClr>
          </a:solidFill>
          <a:ln w="12700">
            <a:solidFill>
              <a:srgbClr val="00B4D8"/>
            </a:solidFill>
            <a:prstDash val="solid"/>
          </a:ln>
        </p:spPr>
      </p:sp>
      <p:sp>
        <p:nvSpPr>
          <p:cNvPr id="9" name="Shape 7"/>
          <p:cNvSpPr/>
          <p:nvPr/>
        </p:nvSpPr>
        <p:spPr>
          <a:xfrm>
            <a:off x="640080" y="2569464"/>
            <a:ext cx="201168" cy="18288"/>
          </a:xfrm>
          <a:prstGeom prst="rect">
            <a:avLst/>
          </a:prstGeom>
          <a:solidFill>
            <a:srgbClr val="00B4D8">
              <a:alpha val="60000"/>
            </a:srgbClr>
          </a:solidFill>
          <a:ln w="12700">
            <a:solidFill>
              <a:srgbClr val="00B4D8"/>
            </a:solidFill>
            <a:prstDash val="solid"/>
          </a:ln>
        </p:spPr>
      </p:sp>
      <p:sp>
        <p:nvSpPr>
          <p:cNvPr id="10" name="Shape 8"/>
          <p:cNvSpPr/>
          <p:nvPr/>
        </p:nvSpPr>
        <p:spPr>
          <a:xfrm>
            <a:off x="1005840" y="2569464"/>
            <a:ext cx="201168" cy="18288"/>
          </a:xfrm>
          <a:prstGeom prst="rect">
            <a:avLst/>
          </a:prstGeom>
          <a:solidFill>
            <a:srgbClr val="00B4D8">
              <a:alpha val="60000"/>
            </a:srgbClr>
          </a:solidFill>
          <a:ln w="12700">
            <a:solidFill>
              <a:srgbClr val="00B4D8"/>
            </a:solidFill>
            <a:prstDash val="solid"/>
          </a:ln>
        </p:spPr>
      </p:sp>
      <p:sp>
        <p:nvSpPr>
          <p:cNvPr id="11" name="Shape 9"/>
          <p:cNvSpPr/>
          <p:nvPr/>
        </p:nvSpPr>
        <p:spPr>
          <a:xfrm>
            <a:off x="1371600" y="2569464"/>
            <a:ext cx="201168" cy="18288"/>
          </a:xfrm>
          <a:prstGeom prst="rect">
            <a:avLst/>
          </a:prstGeom>
          <a:solidFill>
            <a:srgbClr val="00B4D8">
              <a:alpha val="60000"/>
            </a:srgbClr>
          </a:solidFill>
          <a:ln w="12700">
            <a:solidFill>
              <a:srgbClr val="00B4D8"/>
            </a:solidFill>
            <a:prstDash val="solid"/>
          </a:ln>
        </p:spPr>
      </p:sp>
      <p:sp>
        <p:nvSpPr>
          <p:cNvPr id="12" name="Shape 10"/>
          <p:cNvSpPr/>
          <p:nvPr/>
        </p:nvSpPr>
        <p:spPr>
          <a:xfrm>
            <a:off x="1737360" y="2569464"/>
            <a:ext cx="201168" cy="18288"/>
          </a:xfrm>
          <a:prstGeom prst="rect">
            <a:avLst/>
          </a:prstGeom>
          <a:solidFill>
            <a:srgbClr val="00B4D8">
              <a:alpha val="60000"/>
            </a:srgbClr>
          </a:solidFill>
          <a:ln w="12700">
            <a:solidFill>
              <a:srgbClr val="00B4D8"/>
            </a:solidFill>
            <a:prstDash val="solid"/>
          </a:ln>
        </p:spPr>
      </p:sp>
      <p:sp>
        <p:nvSpPr>
          <p:cNvPr id="13" name="Shape 11"/>
          <p:cNvSpPr/>
          <p:nvPr/>
        </p:nvSpPr>
        <p:spPr>
          <a:xfrm>
            <a:off x="2103120" y="2569464"/>
            <a:ext cx="201168" cy="18288"/>
          </a:xfrm>
          <a:prstGeom prst="rect">
            <a:avLst/>
          </a:prstGeom>
          <a:solidFill>
            <a:srgbClr val="00B4D8">
              <a:alpha val="60000"/>
            </a:srgbClr>
          </a:solidFill>
          <a:ln w="12700">
            <a:solidFill>
              <a:srgbClr val="00B4D8"/>
            </a:solidFill>
            <a:prstDash val="solid"/>
          </a:ln>
        </p:spPr>
      </p:sp>
      <p:sp>
        <p:nvSpPr>
          <p:cNvPr id="14" name="Shape 12"/>
          <p:cNvSpPr/>
          <p:nvPr/>
        </p:nvSpPr>
        <p:spPr>
          <a:xfrm>
            <a:off x="2468880" y="2569464"/>
            <a:ext cx="201168" cy="18288"/>
          </a:xfrm>
          <a:prstGeom prst="rect">
            <a:avLst/>
          </a:prstGeom>
          <a:solidFill>
            <a:srgbClr val="00B4D8">
              <a:alpha val="60000"/>
            </a:srgbClr>
          </a:solidFill>
          <a:ln w="12700">
            <a:solidFill>
              <a:srgbClr val="00B4D8"/>
            </a:solidFill>
            <a:prstDash val="solid"/>
          </a:ln>
        </p:spPr>
      </p:sp>
      <p:sp>
        <p:nvSpPr>
          <p:cNvPr id="15" name="Shape 13"/>
          <p:cNvSpPr/>
          <p:nvPr/>
        </p:nvSpPr>
        <p:spPr>
          <a:xfrm>
            <a:off x="2834640" y="2569464"/>
            <a:ext cx="201168" cy="18288"/>
          </a:xfrm>
          <a:prstGeom prst="rect">
            <a:avLst/>
          </a:prstGeom>
          <a:solidFill>
            <a:srgbClr val="00B4D8">
              <a:alpha val="60000"/>
            </a:srgbClr>
          </a:solidFill>
          <a:ln w="12700">
            <a:solidFill>
              <a:srgbClr val="00B4D8"/>
            </a:solidFill>
            <a:prstDash val="solid"/>
          </a:ln>
        </p:spPr>
      </p:sp>
      <p:sp>
        <p:nvSpPr>
          <p:cNvPr id="16" name="Shape 14"/>
          <p:cNvSpPr/>
          <p:nvPr/>
        </p:nvSpPr>
        <p:spPr>
          <a:xfrm>
            <a:off x="3200400" y="2569464"/>
            <a:ext cx="201168" cy="18288"/>
          </a:xfrm>
          <a:prstGeom prst="rect">
            <a:avLst/>
          </a:prstGeom>
          <a:solidFill>
            <a:srgbClr val="00B4D8">
              <a:alpha val="60000"/>
            </a:srgbClr>
          </a:solidFill>
          <a:ln w="12700">
            <a:solidFill>
              <a:srgbClr val="00B4D8"/>
            </a:solidFill>
            <a:prstDash val="solid"/>
          </a:ln>
        </p:spPr>
      </p:sp>
      <p:sp>
        <p:nvSpPr>
          <p:cNvPr id="17" name="Shape 15"/>
          <p:cNvSpPr/>
          <p:nvPr/>
        </p:nvSpPr>
        <p:spPr>
          <a:xfrm>
            <a:off x="3566160" y="2569464"/>
            <a:ext cx="201168" cy="18288"/>
          </a:xfrm>
          <a:prstGeom prst="rect">
            <a:avLst/>
          </a:prstGeom>
          <a:solidFill>
            <a:srgbClr val="00B4D8">
              <a:alpha val="60000"/>
            </a:srgbClr>
          </a:solidFill>
          <a:ln w="12700">
            <a:solidFill>
              <a:srgbClr val="00B4D8"/>
            </a:solidFill>
            <a:prstDash val="solid"/>
          </a:ln>
        </p:spPr>
      </p:sp>
      <p:sp>
        <p:nvSpPr>
          <p:cNvPr id="18" name="Shape 16"/>
          <p:cNvSpPr/>
          <p:nvPr/>
        </p:nvSpPr>
        <p:spPr>
          <a:xfrm>
            <a:off x="3931920" y="2569464"/>
            <a:ext cx="201168" cy="18288"/>
          </a:xfrm>
          <a:prstGeom prst="rect">
            <a:avLst/>
          </a:prstGeom>
          <a:solidFill>
            <a:srgbClr val="00B4D8">
              <a:alpha val="60000"/>
            </a:srgbClr>
          </a:solidFill>
          <a:ln w="12700">
            <a:solidFill>
              <a:srgbClr val="00B4D8"/>
            </a:solidFill>
            <a:prstDash val="solid"/>
          </a:ln>
        </p:spPr>
      </p:sp>
      <p:sp>
        <p:nvSpPr>
          <p:cNvPr id="19" name="Shape 17"/>
          <p:cNvSpPr/>
          <p:nvPr/>
        </p:nvSpPr>
        <p:spPr>
          <a:xfrm>
            <a:off x="4297680" y="2569464"/>
            <a:ext cx="201168" cy="18288"/>
          </a:xfrm>
          <a:prstGeom prst="rect">
            <a:avLst/>
          </a:prstGeom>
          <a:solidFill>
            <a:srgbClr val="00B4D8">
              <a:alpha val="60000"/>
            </a:srgbClr>
          </a:solidFill>
          <a:ln w="12700">
            <a:solidFill>
              <a:srgbClr val="00B4D8"/>
            </a:solidFill>
            <a:prstDash val="solid"/>
          </a:ln>
        </p:spPr>
      </p:sp>
      <p:sp>
        <p:nvSpPr>
          <p:cNvPr id="20" name="Shape 18"/>
          <p:cNvSpPr/>
          <p:nvPr/>
        </p:nvSpPr>
        <p:spPr>
          <a:xfrm>
            <a:off x="4663440" y="2569464"/>
            <a:ext cx="201168" cy="18288"/>
          </a:xfrm>
          <a:prstGeom prst="rect">
            <a:avLst/>
          </a:prstGeom>
          <a:solidFill>
            <a:srgbClr val="00B4D8">
              <a:alpha val="60000"/>
            </a:srgbClr>
          </a:solidFill>
          <a:ln w="12700">
            <a:solidFill>
              <a:srgbClr val="00B4D8"/>
            </a:solidFill>
            <a:prstDash val="solid"/>
          </a:ln>
        </p:spPr>
      </p:sp>
      <p:sp>
        <p:nvSpPr>
          <p:cNvPr id="21" name="Shape 19"/>
          <p:cNvSpPr/>
          <p:nvPr/>
        </p:nvSpPr>
        <p:spPr>
          <a:xfrm>
            <a:off x="5029200" y="2569464"/>
            <a:ext cx="201168" cy="18288"/>
          </a:xfrm>
          <a:prstGeom prst="rect">
            <a:avLst/>
          </a:prstGeom>
          <a:solidFill>
            <a:srgbClr val="00B4D8">
              <a:alpha val="60000"/>
            </a:srgbClr>
          </a:solidFill>
          <a:ln w="12700">
            <a:solidFill>
              <a:srgbClr val="00B4D8"/>
            </a:solidFill>
            <a:prstDash val="solid"/>
          </a:ln>
        </p:spPr>
      </p:sp>
      <p:sp>
        <p:nvSpPr>
          <p:cNvPr id="22" name="Shape 20"/>
          <p:cNvSpPr/>
          <p:nvPr/>
        </p:nvSpPr>
        <p:spPr>
          <a:xfrm>
            <a:off x="5394960" y="2569464"/>
            <a:ext cx="201168" cy="18288"/>
          </a:xfrm>
          <a:prstGeom prst="rect">
            <a:avLst/>
          </a:prstGeom>
          <a:solidFill>
            <a:srgbClr val="00B4D8">
              <a:alpha val="60000"/>
            </a:srgbClr>
          </a:solidFill>
          <a:ln w="12700">
            <a:solidFill>
              <a:srgbClr val="00B4D8"/>
            </a:solidFill>
            <a:prstDash val="solid"/>
          </a:ln>
        </p:spPr>
      </p:sp>
      <p:sp>
        <p:nvSpPr>
          <p:cNvPr id="23" name="Shape 21"/>
          <p:cNvSpPr/>
          <p:nvPr/>
        </p:nvSpPr>
        <p:spPr>
          <a:xfrm>
            <a:off x="5760720" y="2569464"/>
            <a:ext cx="201168" cy="18288"/>
          </a:xfrm>
          <a:prstGeom prst="rect">
            <a:avLst/>
          </a:prstGeom>
          <a:solidFill>
            <a:srgbClr val="00B4D8">
              <a:alpha val="60000"/>
            </a:srgbClr>
          </a:solidFill>
          <a:ln w="12700">
            <a:solidFill>
              <a:srgbClr val="00B4D8"/>
            </a:solidFill>
            <a:prstDash val="solid"/>
          </a:ln>
        </p:spPr>
      </p:sp>
      <p:sp>
        <p:nvSpPr>
          <p:cNvPr id="24" name="Shape 22"/>
          <p:cNvSpPr/>
          <p:nvPr/>
        </p:nvSpPr>
        <p:spPr>
          <a:xfrm>
            <a:off x="6126480" y="2569464"/>
            <a:ext cx="201168" cy="18288"/>
          </a:xfrm>
          <a:prstGeom prst="rect">
            <a:avLst/>
          </a:prstGeom>
          <a:solidFill>
            <a:srgbClr val="00B4D8">
              <a:alpha val="60000"/>
            </a:srgbClr>
          </a:solidFill>
          <a:ln w="12700">
            <a:solidFill>
              <a:srgbClr val="00B4D8"/>
            </a:solidFill>
            <a:prstDash val="solid"/>
          </a:ln>
        </p:spPr>
      </p:sp>
      <p:sp>
        <p:nvSpPr>
          <p:cNvPr id="25" name="Shape 23"/>
          <p:cNvSpPr/>
          <p:nvPr/>
        </p:nvSpPr>
        <p:spPr>
          <a:xfrm>
            <a:off x="6492240" y="2569464"/>
            <a:ext cx="201168" cy="18288"/>
          </a:xfrm>
          <a:prstGeom prst="rect">
            <a:avLst/>
          </a:prstGeom>
          <a:solidFill>
            <a:srgbClr val="00B4D8">
              <a:alpha val="60000"/>
            </a:srgbClr>
          </a:solidFill>
          <a:ln w="12700">
            <a:solidFill>
              <a:srgbClr val="00B4D8"/>
            </a:solidFill>
            <a:prstDash val="solid"/>
          </a:ln>
        </p:spPr>
      </p:sp>
      <p:sp>
        <p:nvSpPr>
          <p:cNvPr id="26" name="Shape 24"/>
          <p:cNvSpPr/>
          <p:nvPr/>
        </p:nvSpPr>
        <p:spPr>
          <a:xfrm>
            <a:off x="6858000" y="2569464"/>
            <a:ext cx="201168" cy="18288"/>
          </a:xfrm>
          <a:prstGeom prst="rect">
            <a:avLst/>
          </a:prstGeom>
          <a:solidFill>
            <a:srgbClr val="00B4D8">
              <a:alpha val="60000"/>
            </a:srgbClr>
          </a:solidFill>
          <a:ln w="12700">
            <a:solidFill>
              <a:srgbClr val="00B4D8"/>
            </a:solidFill>
            <a:prstDash val="solid"/>
          </a:ln>
        </p:spPr>
      </p:sp>
      <p:sp>
        <p:nvSpPr>
          <p:cNvPr id="27" name="Shape 25"/>
          <p:cNvSpPr/>
          <p:nvPr/>
        </p:nvSpPr>
        <p:spPr>
          <a:xfrm>
            <a:off x="7223760" y="2569464"/>
            <a:ext cx="201168" cy="18288"/>
          </a:xfrm>
          <a:prstGeom prst="rect">
            <a:avLst/>
          </a:prstGeom>
          <a:solidFill>
            <a:srgbClr val="00B4D8">
              <a:alpha val="60000"/>
            </a:srgbClr>
          </a:solidFill>
          <a:ln w="12700">
            <a:solidFill>
              <a:srgbClr val="00B4D8"/>
            </a:solidFill>
            <a:prstDash val="solid"/>
          </a:ln>
        </p:spPr>
      </p:sp>
      <p:sp>
        <p:nvSpPr>
          <p:cNvPr id="28" name="Shape 26"/>
          <p:cNvSpPr/>
          <p:nvPr/>
        </p:nvSpPr>
        <p:spPr>
          <a:xfrm>
            <a:off x="7589520" y="2569464"/>
            <a:ext cx="201168" cy="18288"/>
          </a:xfrm>
          <a:prstGeom prst="rect">
            <a:avLst/>
          </a:prstGeom>
          <a:solidFill>
            <a:srgbClr val="00B4D8">
              <a:alpha val="60000"/>
            </a:srgbClr>
          </a:solidFill>
          <a:ln w="12700">
            <a:solidFill>
              <a:srgbClr val="00B4D8"/>
            </a:solidFill>
            <a:prstDash val="solid"/>
          </a:ln>
        </p:spPr>
      </p:sp>
      <p:sp>
        <p:nvSpPr>
          <p:cNvPr id="29" name="Shape 27"/>
          <p:cNvSpPr/>
          <p:nvPr/>
        </p:nvSpPr>
        <p:spPr>
          <a:xfrm>
            <a:off x="7955280" y="2569464"/>
            <a:ext cx="201168" cy="18288"/>
          </a:xfrm>
          <a:prstGeom prst="rect">
            <a:avLst/>
          </a:prstGeom>
          <a:solidFill>
            <a:srgbClr val="00B4D8">
              <a:alpha val="60000"/>
            </a:srgbClr>
          </a:solidFill>
          <a:ln w="12700">
            <a:solidFill>
              <a:srgbClr val="00B4D8"/>
            </a:solidFill>
            <a:prstDash val="solid"/>
          </a:ln>
        </p:spPr>
      </p:sp>
      <p:sp>
        <p:nvSpPr>
          <p:cNvPr id="30" name="Shape 28"/>
          <p:cNvSpPr/>
          <p:nvPr/>
        </p:nvSpPr>
        <p:spPr>
          <a:xfrm>
            <a:off x="8321040" y="2569464"/>
            <a:ext cx="201168" cy="18288"/>
          </a:xfrm>
          <a:prstGeom prst="rect">
            <a:avLst/>
          </a:prstGeom>
          <a:solidFill>
            <a:srgbClr val="00B4D8">
              <a:alpha val="60000"/>
            </a:srgbClr>
          </a:solidFill>
          <a:ln w="12700">
            <a:solidFill>
              <a:srgbClr val="00B4D8"/>
            </a:solidFill>
            <a:prstDash val="solid"/>
          </a:ln>
        </p:spPr>
      </p:sp>
      <p:sp>
        <p:nvSpPr>
          <p:cNvPr id="31" name="Shape 29"/>
          <p:cNvSpPr/>
          <p:nvPr/>
        </p:nvSpPr>
        <p:spPr>
          <a:xfrm>
            <a:off x="8732520" y="2450592"/>
            <a:ext cx="137160" cy="256032"/>
          </a:xfrm>
          <a:prstGeom prst="rect">
            <a:avLst/>
          </a:prstGeom>
          <a:solidFill>
            <a:srgbClr val="00B4D8"/>
          </a:solidFill>
          <a:ln w="12700">
            <a:solidFill>
              <a:srgbClr val="00B4D8"/>
            </a:solidFill>
            <a:prstDash val="solid"/>
          </a:ln>
        </p:spPr>
      </p:sp>
      <p:sp>
        <p:nvSpPr>
          <p:cNvPr id="32" name="Shape 30"/>
          <p:cNvSpPr/>
          <p:nvPr/>
        </p:nvSpPr>
        <p:spPr>
          <a:xfrm>
            <a:off x="475488" y="594360"/>
            <a:ext cx="1993392" cy="1755648"/>
          </a:xfrm>
          <a:prstGeom prst="rect">
            <a:avLst/>
          </a:prstGeom>
          <a:solidFill>
            <a:srgbClr val="0D2144"/>
          </a:solidFill>
          <a:ln w="19050">
            <a:solidFill>
              <a:srgbClr val="00B4D8"/>
            </a:solidFill>
            <a:prstDash val="solid"/>
          </a:ln>
          <a:effectLst>
            <a:outerShdw blurRad="127000" dist="38100" dir="8100000" algn="bl" rotWithShape="0">
              <a:srgbClr val="000000">
                <a:alpha val="25000"/>
              </a:srgbClr>
            </a:outerShdw>
          </a:effectLst>
        </p:spPr>
      </p:sp>
      <p:sp>
        <p:nvSpPr>
          <p:cNvPr id="33" name="Shape 31"/>
          <p:cNvSpPr/>
          <p:nvPr/>
        </p:nvSpPr>
        <p:spPr>
          <a:xfrm>
            <a:off x="475488" y="594360"/>
            <a:ext cx="1993392" cy="64008"/>
          </a:xfrm>
          <a:prstGeom prst="rect">
            <a:avLst/>
          </a:prstGeom>
          <a:solidFill>
            <a:srgbClr val="00B4D8"/>
          </a:solidFill>
          <a:ln w="12700">
            <a:solidFill>
              <a:srgbClr val="00B4D8"/>
            </a:solidFill>
            <a:prstDash val="solid"/>
          </a:ln>
        </p:spPr>
      </p:sp>
      <p:sp>
        <p:nvSpPr>
          <p:cNvPr id="34" name="Shape 32"/>
          <p:cNvSpPr/>
          <p:nvPr/>
        </p:nvSpPr>
        <p:spPr>
          <a:xfrm>
            <a:off x="1197864" y="685800"/>
            <a:ext cx="548640" cy="548640"/>
          </a:xfrm>
          <a:prstGeom prst="ellipse">
            <a:avLst/>
          </a:prstGeom>
          <a:solidFill>
            <a:srgbClr val="00B4D8"/>
          </a:solidFill>
          <a:ln w="19050">
            <a:solidFill>
              <a:srgbClr val="FFFFFF"/>
            </a:solidFill>
            <a:prstDash val="solid"/>
          </a:ln>
        </p:spPr>
      </p:sp>
      <p:sp>
        <p:nvSpPr>
          <p:cNvPr id="35" name="Text 33"/>
          <p:cNvSpPr/>
          <p:nvPr/>
        </p:nvSpPr>
        <p:spPr>
          <a:xfrm>
            <a:off x="1197864" y="685800"/>
            <a:ext cx="548640" cy="548640"/>
          </a:xfrm>
          <a:prstGeom prst="rect">
            <a:avLst/>
          </a:prstGeom>
          <a:noFill/>
          <a:ln/>
        </p:spPr>
        <p:txBody>
          <a:bodyPr wrap="square" lIns="0" tIns="0" rIns="0" bIns="0" rtlCol="0" anchor="ctr"/>
          <a:lstStyle/>
          <a:p>
            <a:pPr marL="0" indent="0" algn="ctr">
              <a:buNone/>
            </a:pPr>
            <a:r>
              <a:rPr lang="en-US" sz="1600" b="1" dirty="0">
                <a:solidFill>
                  <a:srgbClr val="0A1628"/>
                </a:solidFill>
              </a:rPr>
              <a:t>Q1</a:t>
            </a:r>
            <a:endParaRPr lang="en-US" sz="1600" dirty="0"/>
          </a:p>
        </p:txBody>
      </p:sp>
      <p:sp>
        <p:nvSpPr>
          <p:cNvPr id="36" name="Text 34"/>
          <p:cNvSpPr/>
          <p:nvPr/>
        </p:nvSpPr>
        <p:spPr>
          <a:xfrm>
            <a:off x="475488" y="1280160"/>
            <a:ext cx="1993392" cy="164592"/>
          </a:xfrm>
          <a:prstGeom prst="rect">
            <a:avLst/>
          </a:prstGeom>
          <a:noFill/>
          <a:ln/>
        </p:spPr>
        <p:txBody>
          <a:bodyPr wrap="square" lIns="0" tIns="0" rIns="0" bIns="0" rtlCol="0" anchor="ctr"/>
          <a:lstStyle/>
          <a:p>
            <a:pPr marL="0" indent="0" algn="ctr">
              <a:buNone/>
            </a:pPr>
            <a:r>
              <a:rPr lang="en-US" sz="750" b="1" dirty="0">
                <a:solidFill>
                  <a:srgbClr val="00B4D8"/>
                </a:solidFill>
              </a:rPr>
              <a:t>Feb – Mar 2026</a:t>
            </a:r>
            <a:endParaRPr lang="en-US" sz="750" dirty="0"/>
          </a:p>
        </p:txBody>
      </p:sp>
      <p:sp>
        <p:nvSpPr>
          <p:cNvPr id="37" name="Text 35"/>
          <p:cNvSpPr/>
          <p:nvPr/>
        </p:nvSpPr>
        <p:spPr>
          <a:xfrm>
            <a:off x="475488" y="1444752"/>
            <a:ext cx="1993392" cy="292608"/>
          </a:xfrm>
          <a:prstGeom prst="rect">
            <a:avLst/>
          </a:prstGeom>
          <a:noFill/>
          <a:ln/>
        </p:spPr>
        <p:txBody>
          <a:bodyPr wrap="square" lIns="0" tIns="0" rIns="0" bIns="0" rtlCol="0" anchor="ctr"/>
          <a:lstStyle/>
          <a:p>
            <a:pPr marL="0" indent="0" algn="ctr">
              <a:buNone/>
            </a:pPr>
            <a:r>
              <a:rPr lang="en-US" sz="950" b="1" dirty="0">
                <a:solidFill>
                  <a:srgbClr val="FFFFFF"/>
                </a:solidFill>
              </a:rPr>
              <a:t>Eficiencia</a:t>
            </a:r>
            <a:endParaRPr lang="en-US" sz="950" dirty="0"/>
          </a:p>
          <a:p>
            <a:pPr marL="0" indent="0" algn="ctr">
              <a:buNone/>
            </a:pPr>
            <a:r>
              <a:rPr lang="en-US" sz="950" b="1" dirty="0">
                <a:solidFill>
                  <a:srgbClr val="FFFFFF"/>
                </a:solidFill>
              </a:rPr>
              <a:t>Operacional</a:t>
            </a:r>
            <a:endParaRPr lang="en-US" sz="950" dirty="0"/>
          </a:p>
        </p:txBody>
      </p:sp>
      <p:sp>
        <p:nvSpPr>
          <p:cNvPr id="38" name="Shape 36"/>
          <p:cNvSpPr/>
          <p:nvPr/>
        </p:nvSpPr>
        <p:spPr>
          <a:xfrm>
            <a:off x="841248" y="1783080"/>
            <a:ext cx="1261872" cy="182880"/>
          </a:xfrm>
          <a:prstGeom prst="rect">
            <a:avLst/>
          </a:prstGeom>
          <a:solidFill>
            <a:srgbClr val="00B4D8">
              <a:alpha val="25000"/>
            </a:srgbClr>
          </a:solidFill>
          <a:ln w="6350">
            <a:solidFill>
              <a:srgbClr val="00B4D8"/>
            </a:solidFill>
            <a:prstDash val="solid"/>
          </a:ln>
        </p:spPr>
      </p:sp>
      <p:sp>
        <p:nvSpPr>
          <p:cNvPr id="39" name="Text 37"/>
          <p:cNvSpPr/>
          <p:nvPr/>
        </p:nvSpPr>
        <p:spPr>
          <a:xfrm>
            <a:off x="841248" y="1783080"/>
            <a:ext cx="1261872" cy="182880"/>
          </a:xfrm>
          <a:prstGeom prst="rect">
            <a:avLst/>
          </a:prstGeom>
          <a:noFill/>
          <a:ln/>
        </p:spPr>
        <p:txBody>
          <a:bodyPr wrap="square" lIns="0" tIns="0" rIns="0" bIns="0" rtlCol="0" anchor="ctr"/>
          <a:lstStyle/>
          <a:p>
            <a:pPr marL="0" indent="0" algn="ctr">
              <a:buNone/>
            </a:pPr>
            <a:r>
              <a:rPr lang="en-US" sz="750" b="1" dirty="0">
                <a:solidFill>
                  <a:srgbClr val="00B4D8"/>
                </a:solidFill>
              </a:rPr>
              <a:t>Objetivo: O1</a:t>
            </a:r>
            <a:endParaRPr lang="en-US" sz="750" dirty="0"/>
          </a:p>
        </p:txBody>
      </p:sp>
      <p:sp>
        <p:nvSpPr>
          <p:cNvPr id="40" name="Text 38"/>
          <p:cNvSpPr/>
          <p:nvPr/>
        </p:nvSpPr>
        <p:spPr>
          <a:xfrm>
            <a:off x="475488" y="2011680"/>
            <a:ext cx="1993392" cy="137160"/>
          </a:xfrm>
          <a:prstGeom prst="rect">
            <a:avLst/>
          </a:prstGeom>
          <a:noFill/>
          <a:ln/>
        </p:spPr>
        <p:txBody>
          <a:bodyPr wrap="square" lIns="0" tIns="0" rIns="0" bIns="0" rtlCol="0" anchor="ctr"/>
          <a:lstStyle/>
          <a:p>
            <a:pPr marL="0" indent="0" algn="ctr">
              <a:buNone/>
            </a:pPr>
            <a:r>
              <a:rPr lang="en-US" sz="650" dirty="0">
                <a:solidFill>
                  <a:srgbClr val="8899AA"/>
                </a:solidFill>
              </a:rPr>
              <a:t>KR1-O1 · KR2-O1</a:t>
            </a:r>
            <a:endParaRPr lang="en-US" sz="650" dirty="0"/>
          </a:p>
        </p:txBody>
      </p:sp>
      <p:sp>
        <p:nvSpPr>
          <p:cNvPr id="41" name="Shape 39"/>
          <p:cNvSpPr/>
          <p:nvPr/>
        </p:nvSpPr>
        <p:spPr>
          <a:xfrm>
            <a:off x="1444752" y="2350008"/>
            <a:ext cx="54864" cy="228600"/>
          </a:xfrm>
          <a:prstGeom prst="rect">
            <a:avLst/>
          </a:prstGeom>
          <a:solidFill>
            <a:srgbClr val="00B4D8"/>
          </a:solidFill>
          <a:ln w="12700">
            <a:solidFill>
              <a:srgbClr val="00B4D8"/>
            </a:solidFill>
            <a:prstDash val="solid"/>
          </a:ln>
        </p:spPr>
      </p:sp>
      <p:sp>
        <p:nvSpPr>
          <p:cNvPr id="42" name="Shape 40"/>
          <p:cNvSpPr/>
          <p:nvPr/>
        </p:nvSpPr>
        <p:spPr>
          <a:xfrm>
            <a:off x="1362456" y="2468880"/>
            <a:ext cx="219456" cy="219456"/>
          </a:xfrm>
          <a:prstGeom prst="ellipse">
            <a:avLst/>
          </a:prstGeom>
          <a:solidFill>
            <a:srgbClr val="00B4D8"/>
          </a:solidFill>
          <a:ln w="25400">
            <a:solidFill>
              <a:srgbClr val="FFFFFF"/>
            </a:solidFill>
            <a:prstDash val="solid"/>
          </a:ln>
        </p:spPr>
      </p:sp>
      <p:sp>
        <p:nvSpPr>
          <p:cNvPr id="43" name="Shape 41"/>
          <p:cNvSpPr/>
          <p:nvPr/>
        </p:nvSpPr>
        <p:spPr>
          <a:xfrm>
            <a:off x="475488" y="2706624"/>
            <a:ext cx="1993392" cy="1371600"/>
          </a:xfrm>
          <a:prstGeom prst="rect">
            <a:avLst/>
          </a:prstGeom>
          <a:solidFill>
            <a:srgbClr val="0D2144"/>
          </a:solidFill>
          <a:ln w="12700">
            <a:solidFill>
              <a:srgbClr val="00B4D8"/>
            </a:solidFill>
            <a:prstDash val="solid"/>
          </a:ln>
          <a:effectLst>
            <a:outerShdw blurRad="127000" dist="38100" dir="8100000" algn="bl" rotWithShape="0">
              <a:srgbClr val="000000">
                <a:alpha val="25000"/>
              </a:srgbClr>
            </a:outerShdw>
          </a:effectLst>
        </p:spPr>
      </p:sp>
      <p:sp>
        <p:nvSpPr>
          <p:cNvPr id="44" name="Shape 42"/>
          <p:cNvSpPr/>
          <p:nvPr/>
        </p:nvSpPr>
        <p:spPr>
          <a:xfrm>
            <a:off x="475488" y="4014216"/>
            <a:ext cx="1993392" cy="64008"/>
          </a:xfrm>
          <a:prstGeom prst="rect">
            <a:avLst/>
          </a:prstGeom>
          <a:solidFill>
            <a:srgbClr val="00B4D8"/>
          </a:solidFill>
          <a:ln w="12700">
            <a:solidFill>
              <a:srgbClr val="00B4D8"/>
            </a:solidFill>
            <a:prstDash val="solid"/>
          </a:ln>
        </p:spPr>
      </p:sp>
      <p:sp>
        <p:nvSpPr>
          <p:cNvPr id="45" name="Shape 43"/>
          <p:cNvSpPr/>
          <p:nvPr/>
        </p:nvSpPr>
        <p:spPr>
          <a:xfrm>
            <a:off x="1444752" y="2688336"/>
            <a:ext cx="54864" cy="128016"/>
          </a:xfrm>
          <a:prstGeom prst="rect">
            <a:avLst/>
          </a:prstGeom>
          <a:solidFill>
            <a:srgbClr val="00B4D8"/>
          </a:solidFill>
          <a:ln w="12700">
            <a:solidFill>
              <a:srgbClr val="00B4D8"/>
            </a:solidFill>
            <a:prstDash val="solid"/>
          </a:ln>
        </p:spPr>
      </p:sp>
      <p:sp>
        <p:nvSpPr>
          <p:cNvPr id="46" name="Text 44"/>
          <p:cNvSpPr/>
          <p:nvPr/>
        </p:nvSpPr>
        <p:spPr>
          <a:xfrm>
            <a:off x="585216" y="2779776"/>
            <a:ext cx="1773936" cy="146304"/>
          </a:xfrm>
          <a:prstGeom prst="rect">
            <a:avLst/>
          </a:prstGeom>
          <a:noFill/>
          <a:ln/>
        </p:spPr>
        <p:txBody>
          <a:bodyPr wrap="square" lIns="0" tIns="0" rIns="0" bIns="0" rtlCol="0" anchor="ctr"/>
          <a:lstStyle/>
          <a:p>
            <a:pPr marL="0" indent="0">
              <a:buNone/>
            </a:pPr>
            <a:r>
              <a:rPr lang="en-US" sz="650" b="1" kern="0" spc="100" dirty="0">
                <a:solidFill>
                  <a:srgbClr val="00B4D8"/>
                </a:solidFill>
              </a:rPr>
              <a:t>INICIATIVAS</a:t>
            </a:r>
            <a:endParaRPr lang="en-US" sz="650" dirty="0"/>
          </a:p>
        </p:txBody>
      </p:sp>
      <p:sp>
        <p:nvSpPr>
          <p:cNvPr id="47" name="Shape 45"/>
          <p:cNvSpPr/>
          <p:nvPr/>
        </p:nvSpPr>
        <p:spPr>
          <a:xfrm>
            <a:off x="603504" y="2980944"/>
            <a:ext cx="73152" cy="73152"/>
          </a:xfrm>
          <a:prstGeom prst="ellipse">
            <a:avLst/>
          </a:prstGeom>
          <a:solidFill>
            <a:srgbClr val="00B4D8"/>
          </a:solidFill>
          <a:ln w="12700">
            <a:solidFill>
              <a:srgbClr val="00B4D8"/>
            </a:solidFill>
            <a:prstDash val="solid"/>
          </a:ln>
        </p:spPr>
      </p:sp>
      <p:sp>
        <p:nvSpPr>
          <p:cNvPr id="48" name="Text 46"/>
          <p:cNvSpPr/>
          <p:nvPr/>
        </p:nvSpPr>
        <p:spPr>
          <a:xfrm>
            <a:off x="722376" y="2953512"/>
            <a:ext cx="1664208" cy="201168"/>
          </a:xfrm>
          <a:prstGeom prst="rect">
            <a:avLst/>
          </a:prstGeom>
          <a:noFill/>
          <a:ln/>
        </p:spPr>
        <p:txBody>
          <a:bodyPr wrap="square" lIns="0" tIns="0" rIns="0" bIns="0" rtlCol="0" anchor="ctr"/>
          <a:lstStyle/>
          <a:p>
            <a:pPr marL="0" indent="0">
              <a:buNone/>
            </a:pPr>
            <a:r>
              <a:rPr lang="en-US" sz="800" dirty="0">
                <a:solidFill>
                  <a:srgbClr val="FFFFFF"/>
                </a:solidFill>
              </a:rPr>
              <a:t>TCC Digital activa</a:t>
            </a:r>
            <a:endParaRPr lang="en-US" sz="800" dirty="0"/>
          </a:p>
        </p:txBody>
      </p:sp>
      <p:sp>
        <p:nvSpPr>
          <p:cNvPr id="49" name="Shape 47"/>
          <p:cNvSpPr/>
          <p:nvPr/>
        </p:nvSpPr>
        <p:spPr>
          <a:xfrm>
            <a:off x="603504" y="3236976"/>
            <a:ext cx="73152" cy="73152"/>
          </a:xfrm>
          <a:prstGeom prst="ellipse">
            <a:avLst/>
          </a:prstGeom>
          <a:solidFill>
            <a:srgbClr val="00B4D8"/>
          </a:solidFill>
          <a:ln w="12700">
            <a:solidFill>
              <a:srgbClr val="00B4D8"/>
            </a:solidFill>
            <a:prstDash val="solid"/>
          </a:ln>
        </p:spPr>
      </p:sp>
      <p:sp>
        <p:nvSpPr>
          <p:cNvPr id="50" name="Text 48"/>
          <p:cNvSpPr/>
          <p:nvPr/>
        </p:nvSpPr>
        <p:spPr>
          <a:xfrm>
            <a:off x="722376" y="3209544"/>
            <a:ext cx="1664208" cy="201168"/>
          </a:xfrm>
          <a:prstGeom prst="rect">
            <a:avLst/>
          </a:prstGeom>
          <a:noFill/>
          <a:ln/>
        </p:spPr>
        <p:txBody>
          <a:bodyPr wrap="square" lIns="0" tIns="0" rIns="0" bIns="0" rtlCol="0" anchor="ctr"/>
          <a:lstStyle/>
          <a:p>
            <a:pPr marL="0" indent="0">
              <a:buNone/>
            </a:pPr>
            <a:r>
              <a:rPr lang="en-US" sz="800" dirty="0">
                <a:solidFill>
                  <a:srgbClr val="FFFFFF"/>
                </a:solidFill>
              </a:rPr>
              <a:t>App móvil MVP</a:t>
            </a:r>
            <a:endParaRPr lang="en-US" sz="800" dirty="0"/>
          </a:p>
        </p:txBody>
      </p:sp>
      <p:sp>
        <p:nvSpPr>
          <p:cNvPr id="51" name="Shape 49"/>
          <p:cNvSpPr/>
          <p:nvPr/>
        </p:nvSpPr>
        <p:spPr>
          <a:xfrm>
            <a:off x="603504" y="3493008"/>
            <a:ext cx="73152" cy="73152"/>
          </a:xfrm>
          <a:prstGeom prst="ellipse">
            <a:avLst/>
          </a:prstGeom>
          <a:solidFill>
            <a:srgbClr val="00B4D8"/>
          </a:solidFill>
          <a:ln w="12700">
            <a:solidFill>
              <a:srgbClr val="00B4D8"/>
            </a:solidFill>
            <a:prstDash val="solid"/>
          </a:ln>
        </p:spPr>
      </p:sp>
      <p:sp>
        <p:nvSpPr>
          <p:cNvPr id="52" name="Text 50"/>
          <p:cNvSpPr/>
          <p:nvPr/>
        </p:nvSpPr>
        <p:spPr>
          <a:xfrm>
            <a:off x="722376" y="3465576"/>
            <a:ext cx="1664208" cy="201168"/>
          </a:xfrm>
          <a:prstGeom prst="rect">
            <a:avLst/>
          </a:prstGeom>
          <a:noFill/>
          <a:ln/>
        </p:spPr>
        <p:txBody>
          <a:bodyPr wrap="square" lIns="0" tIns="0" rIns="0" bIns="0" rtlCol="0" anchor="ctr"/>
          <a:lstStyle/>
          <a:p>
            <a:pPr marL="0" indent="0">
              <a:buNone/>
            </a:pPr>
            <a:r>
              <a:rPr lang="en-US" sz="800" dirty="0">
                <a:solidFill>
                  <a:srgbClr val="FFFFFF"/>
                </a:solidFill>
              </a:rPr>
              <a:t>Motor reglas automáticas</a:t>
            </a:r>
            <a:endParaRPr lang="en-US" sz="800" dirty="0"/>
          </a:p>
        </p:txBody>
      </p:sp>
      <p:sp>
        <p:nvSpPr>
          <p:cNvPr id="53" name="Shape 51"/>
          <p:cNvSpPr/>
          <p:nvPr/>
        </p:nvSpPr>
        <p:spPr>
          <a:xfrm>
            <a:off x="585216" y="3785616"/>
            <a:ext cx="1773936" cy="0"/>
          </a:xfrm>
          <a:prstGeom prst="line">
            <a:avLst/>
          </a:prstGeom>
          <a:noFill/>
          <a:ln w="6350">
            <a:solidFill>
              <a:srgbClr val="00B4D8">
                <a:alpha val="40000"/>
              </a:srgbClr>
            </a:solidFill>
            <a:prstDash val="solid"/>
          </a:ln>
        </p:spPr>
      </p:sp>
      <p:sp>
        <p:nvSpPr>
          <p:cNvPr id="54" name="Text 52"/>
          <p:cNvSpPr/>
          <p:nvPr/>
        </p:nvSpPr>
        <p:spPr>
          <a:xfrm>
            <a:off x="475488" y="3822192"/>
            <a:ext cx="1993392" cy="164592"/>
          </a:xfrm>
          <a:prstGeom prst="rect">
            <a:avLst/>
          </a:prstGeom>
          <a:noFill/>
          <a:ln/>
        </p:spPr>
        <p:txBody>
          <a:bodyPr wrap="square" lIns="0" tIns="0" rIns="0" bIns="0" rtlCol="0" anchor="ctr"/>
          <a:lstStyle/>
          <a:p>
            <a:pPr marL="0" indent="0" algn="ctr">
              <a:buNone/>
            </a:pPr>
            <a:r>
              <a:rPr lang="en-US" sz="700" i="1" dirty="0">
                <a:solidFill>
                  <a:srgbClr val="8899AA"/>
                </a:solidFill>
              </a:rPr>
              <a:t>Product Owner</a:t>
            </a:r>
            <a:endParaRPr lang="en-US" sz="700" dirty="0"/>
          </a:p>
        </p:txBody>
      </p:sp>
      <p:sp>
        <p:nvSpPr>
          <p:cNvPr id="55" name="Shape 53"/>
          <p:cNvSpPr/>
          <p:nvPr/>
        </p:nvSpPr>
        <p:spPr>
          <a:xfrm>
            <a:off x="2606040" y="594360"/>
            <a:ext cx="1993392" cy="1755648"/>
          </a:xfrm>
          <a:prstGeom prst="rect">
            <a:avLst/>
          </a:prstGeom>
          <a:solidFill>
            <a:srgbClr val="0D2144"/>
          </a:solidFill>
          <a:ln w="19050">
            <a:solidFill>
              <a:srgbClr val="F5A623"/>
            </a:solidFill>
            <a:prstDash val="solid"/>
          </a:ln>
          <a:effectLst>
            <a:outerShdw blurRad="127000" dist="38100" dir="8100000" algn="bl" rotWithShape="0">
              <a:srgbClr val="000000">
                <a:alpha val="25000"/>
              </a:srgbClr>
            </a:outerShdw>
          </a:effectLst>
        </p:spPr>
      </p:sp>
      <p:sp>
        <p:nvSpPr>
          <p:cNvPr id="56" name="Shape 54"/>
          <p:cNvSpPr/>
          <p:nvPr/>
        </p:nvSpPr>
        <p:spPr>
          <a:xfrm>
            <a:off x="2606040" y="594360"/>
            <a:ext cx="1993392" cy="64008"/>
          </a:xfrm>
          <a:prstGeom prst="rect">
            <a:avLst/>
          </a:prstGeom>
          <a:solidFill>
            <a:srgbClr val="F5A623"/>
          </a:solidFill>
          <a:ln w="12700">
            <a:solidFill>
              <a:srgbClr val="F5A623"/>
            </a:solidFill>
            <a:prstDash val="solid"/>
          </a:ln>
        </p:spPr>
      </p:sp>
      <p:sp>
        <p:nvSpPr>
          <p:cNvPr id="57" name="Shape 55"/>
          <p:cNvSpPr/>
          <p:nvPr/>
        </p:nvSpPr>
        <p:spPr>
          <a:xfrm>
            <a:off x="3328416" y="685800"/>
            <a:ext cx="548640" cy="548640"/>
          </a:xfrm>
          <a:prstGeom prst="ellipse">
            <a:avLst/>
          </a:prstGeom>
          <a:solidFill>
            <a:srgbClr val="F5A623"/>
          </a:solidFill>
          <a:ln w="19050">
            <a:solidFill>
              <a:srgbClr val="FFFFFF"/>
            </a:solidFill>
            <a:prstDash val="solid"/>
          </a:ln>
        </p:spPr>
      </p:sp>
      <p:sp>
        <p:nvSpPr>
          <p:cNvPr id="58" name="Text 56"/>
          <p:cNvSpPr/>
          <p:nvPr/>
        </p:nvSpPr>
        <p:spPr>
          <a:xfrm>
            <a:off x="3328416" y="685800"/>
            <a:ext cx="548640" cy="548640"/>
          </a:xfrm>
          <a:prstGeom prst="rect">
            <a:avLst/>
          </a:prstGeom>
          <a:noFill/>
          <a:ln/>
        </p:spPr>
        <p:txBody>
          <a:bodyPr wrap="square" lIns="0" tIns="0" rIns="0" bIns="0" rtlCol="0" anchor="ctr"/>
          <a:lstStyle/>
          <a:p>
            <a:pPr marL="0" indent="0" algn="ctr">
              <a:buNone/>
            </a:pPr>
            <a:r>
              <a:rPr lang="en-US" sz="1600" b="1" dirty="0">
                <a:solidFill>
                  <a:srgbClr val="0A1628"/>
                </a:solidFill>
              </a:rPr>
              <a:t>Q2</a:t>
            </a:r>
            <a:endParaRPr lang="en-US" sz="1600" dirty="0"/>
          </a:p>
        </p:txBody>
      </p:sp>
      <p:sp>
        <p:nvSpPr>
          <p:cNvPr id="59" name="Text 57"/>
          <p:cNvSpPr/>
          <p:nvPr/>
        </p:nvSpPr>
        <p:spPr>
          <a:xfrm>
            <a:off x="2606040" y="1280160"/>
            <a:ext cx="1993392" cy="164592"/>
          </a:xfrm>
          <a:prstGeom prst="rect">
            <a:avLst/>
          </a:prstGeom>
          <a:noFill/>
          <a:ln/>
        </p:spPr>
        <p:txBody>
          <a:bodyPr wrap="square" lIns="0" tIns="0" rIns="0" bIns="0" rtlCol="0" anchor="ctr"/>
          <a:lstStyle/>
          <a:p>
            <a:pPr marL="0" indent="0" algn="ctr">
              <a:buNone/>
            </a:pPr>
            <a:r>
              <a:rPr lang="en-US" sz="750" b="1" dirty="0">
                <a:solidFill>
                  <a:srgbClr val="F5A623"/>
                </a:solidFill>
              </a:rPr>
              <a:t>Abr – Jun 2026</a:t>
            </a:r>
            <a:endParaRPr lang="en-US" sz="750" dirty="0"/>
          </a:p>
        </p:txBody>
      </p:sp>
      <p:sp>
        <p:nvSpPr>
          <p:cNvPr id="60" name="Text 58"/>
          <p:cNvSpPr/>
          <p:nvPr/>
        </p:nvSpPr>
        <p:spPr>
          <a:xfrm>
            <a:off x="2606040" y="1444752"/>
            <a:ext cx="1993392" cy="292608"/>
          </a:xfrm>
          <a:prstGeom prst="rect">
            <a:avLst/>
          </a:prstGeom>
          <a:noFill/>
          <a:ln/>
        </p:spPr>
        <p:txBody>
          <a:bodyPr wrap="square" lIns="0" tIns="0" rIns="0" bIns="0" rtlCol="0" anchor="ctr"/>
          <a:lstStyle/>
          <a:p>
            <a:pPr marL="0" indent="0" algn="ctr">
              <a:buNone/>
            </a:pPr>
            <a:r>
              <a:rPr lang="en-US" sz="950" b="1" dirty="0">
                <a:solidFill>
                  <a:srgbClr val="FFFFFF"/>
                </a:solidFill>
              </a:rPr>
              <a:t>Experiencia</a:t>
            </a:r>
            <a:endParaRPr lang="en-US" sz="950" dirty="0"/>
          </a:p>
          <a:p>
            <a:pPr marL="0" indent="0" algn="ctr">
              <a:buNone/>
            </a:pPr>
            <a:r>
              <a:rPr lang="en-US" sz="950" b="1" dirty="0">
                <a:solidFill>
                  <a:srgbClr val="FFFFFF"/>
                </a:solidFill>
              </a:rPr>
              <a:t>de Usuario</a:t>
            </a:r>
            <a:endParaRPr lang="en-US" sz="950" dirty="0"/>
          </a:p>
        </p:txBody>
      </p:sp>
      <p:sp>
        <p:nvSpPr>
          <p:cNvPr id="61" name="Shape 59"/>
          <p:cNvSpPr/>
          <p:nvPr/>
        </p:nvSpPr>
        <p:spPr>
          <a:xfrm>
            <a:off x="2971800" y="1783080"/>
            <a:ext cx="1261872" cy="182880"/>
          </a:xfrm>
          <a:prstGeom prst="rect">
            <a:avLst/>
          </a:prstGeom>
          <a:solidFill>
            <a:srgbClr val="F5A623">
              <a:alpha val="25000"/>
            </a:srgbClr>
          </a:solidFill>
          <a:ln w="6350">
            <a:solidFill>
              <a:srgbClr val="F5A623"/>
            </a:solidFill>
            <a:prstDash val="solid"/>
          </a:ln>
        </p:spPr>
      </p:sp>
      <p:sp>
        <p:nvSpPr>
          <p:cNvPr id="62" name="Text 60"/>
          <p:cNvSpPr/>
          <p:nvPr/>
        </p:nvSpPr>
        <p:spPr>
          <a:xfrm>
            <a:off x="2971800" y="1783080"/>
            <a:ext cx="1261872" cy="182880"/>
          </a:xfrm>
          <a:prstGeom prst="rect">
            <a:avLst/>
          </a:prstGeom>
          <a:noFill/>
          <a:ln/>
        </p:spPr>
        <p:txBody>
          <a:bodyPr wrap="square" lIns="0" tIns="0" rIns="0" bIns="0" rtlCol="0" anchor="ctr"/>
          <a:lstStyle/>
          <a:p>
            <a:pPr marL="0" indent="0" algn="ctr">
              <a:buNone/>
            </a:pPr>
            <a:r>
              <a:rPr lang="en-US" sz="750" b="1" dirty="0">
                <a:solidFill>
                  <a:srgbClr val="F5A623"/>
                </a:solidFill>
              </a:rPr>
              <a:t>Objetivo: O1, O2</a:t>
            </a:r>
            <a:endParaRPr lang="en-US" sz="750" dirty="0"/>
          </a:p>
        </p:txBody>
      </p:sp>
      <p:sp>
        <p:nvSpPr>
          <p:cNvPr id="63" name="Text 61"/>
          <p:cNvSpPr/>
          <p:nvPr/>
        </p:nvSpPr>
        <p:spPr>
          <a:xfrm>
            <a:off x="2606040" y="2011680"/>
            <a:ext cx="1993392" cy="137160"/>
          </a:xfrm>
          <a:prstGeom prst="rect">
            <a:avLst/>
          </a:prstGeom>
          <a:noFill/>
          <a:ln/>
        </p:spPr>
        <p:txBody>
          <a:bodyPr wrap="square" lIns="0" tIns="0" rIns="0" bIns="0" rtlCol="0" anchor="ctr"/>
          <a:lstStyle/>
          <a:p>
            <a:pPr marL="0" indent="0" algn="ctr">
              <a:buNone/>
            </a:pPr>
            <a:r>
              <a:rPr lang="en-US" sz="650" dirty="0">
                <a:solidFill>
                  <a:srgbClr val="8899AA"/>
                </a:solidFill>
              </a:rPr>
              <a:t>KR1-O2 · KR2-O2</a:t>
            </a:r>
            <a:endParaRPr lang="en-US" sz="650" dirty="0"/>
          </a:p>
        </p:txBody>
      </p:sp>
      <p:sp>
        <p:nvSpPr>
          <p:cNvPr id="64" name="Shape 62"/>
          <p:cNvSpPr/>
          <p:nvPr/>
        </p:nvSpPr>
        <p:spPr>
          <a:xfrm>
            <a:off x="3575304" y="2350008"/>
            <a:ext cx="54864" cy="228600"/>
          </a:xfrm>
          <a:prstGeom prst="rect">
            <a:avLst/>
          </a:prstGeom>
          <a:solidFill>
            <a:srgbClr val="F5A623"/>
          </a:solidFill>
          <a:ln w="12700">
            <a:solidFill>
              <a:srgbClr val="F5A623"/>
            </a:solidFill>
            <a:prstDash val="solid"/>
          </a:ln>
        </p:spPr>
      </p:sp>
      <p:sp>
        <p:nvSpPr>
          <p:cNvPr id="65" name="Shape 63"/>
          <p:cNvSpPr/>
          <p:nvPr/>
        </p:nvSpPr>
        <p:spPr>
          <a:xfrm>
            <a:off x="3493008" y="2468880"/>
            <a:ext cx="219456" cy="219456"/>
          </a:xfrm>
          <a:prstGeom prst="ellipse">
            <a:avLst/>
          </a:prstGeom>
          <a:solidFill>
            <a:srgbClr val="F5A623"/>
          </a:solidFill>
          <a:ln w="25400">
            <a:solidFill>
              <a:srgbClr val="FFFFFF"/>
            </a:solidFill>
            <a:prstDash val="solid"/>
          </a:ln>
        </p:spPr>
      </p:sp>
      <p:sp>
        <p:nvSpPr>
          <p:cNvPr id="66" name="Shape 64"/>
          <p:cNvSpPr/>
          <p:nvPr/>
        </p:nvSpPr>
        <p:spPr>
          <a:xfrm>
            <a:off x="2606040" y="2706624"/>
            <a:ext cx="1993392" cy="1371600"/>
          </a:xfrm>
          <a:prstGeom prst="rect">
            <a:avLst/>
          </a:prstGeom>
          <a:solidFill>
            <a:srgbClr val="0D2144"/>
          </a:solidFill>
          <a:ln w="12700">
            <a:solidFill>
              <a:srgbClr val="F5A623"/>
            </a:solidFill>
            <a:prstDash val="solid"/>
          </a:ln>
          <a:effectLst>
            <a:outerShdw blurRad="127000" dist="38100" dir="8100000" algn="bl" rotWithShape="0">
              <a:srgbClr val="000000">
                <a:alpha val="25000"/>
              </a:srgbClr>
            </a:outerShdw>
          </a:effectLst>
        </p:spPr>
      </p:sp>
      <p:sp>
        <p:nvSpPr>
          <p:cNvPr id="67" name="Shape 65"/>
          <p:cNvSpPr/>
          <p:nvPr/>
        </p:nvSpPr>
        <p:spPr>
          <a:xfrm>
            <a:off x="2606040" y="4014216"/>
            <a:ext cx="1993392" cy="64008"/>
          </a:xfrm>
          <a:prstGeom prst="rect">
            <a:avLst/>
          </a:prstGeom>
          <a:solidFill>
            <a:srgbClr val="F5A623"/>
          </a:solidFill>
          <a:ln w="12700">
            <a:solidFill>
              <a:srgbClr val="F5A623"/>
            </a:solidFill>
            <a:prstDash val="solid"/>
          </a:ln>
        </p:spPr>
      </p:sp>
      <p:sp>
        <p:nvSpPr>
          <p:cNvPr id="68" name="Shape 66"/>
          <p:cNvSpPr/>
          <p:nvPr/>
        </p:nvSpPr>
        <p:spPr>
          <a:xfrm>
            <a:off x="3575304" y="2688336"/>
            <a:ext cx="54864" cy="128016"/>
          </a:xfrm>
          <a:prstGeom prst="rect">
            <a:avLst/>
          </a:prstGeom>
          <a:solidFill>
            <a:srgbClr val="F5A623"/>
          </a:solidFill>
          <a:ln w="12700">
            <a:solidFill>
              <a:srgbClr val="F5A623"/>
            </a:solidFill>
            <a:prstDash val="solid"/>
          </a:ln>
        </p:spPr>
      </p:sp>
      <p:sp>
        <p:nvSpPr>
          <p:cNvPr id="69" name="Text 67"/>
          <p:cNvSpPr/>
          <p:nvPr/>
        </p:nvSpPr>
        <p:spPr>
          <a:xfrm>
            <a:off x="2715768" y="2779776"/>
            <a:ext cx="1773936" cy="146304"/>
          </a:xfrm>
          <a:prstGeom prst="rect">
            <a:avLst/>
          </a:prstGeom>
          <a:noFill/>
          <a:ln/>
        </p:spPr>
        <p:txBody>
          <a:bodyPr wrap="square" lIns="0" tIns="0" rIns="0" bIns="0" rtlCol="0" anchor="ctr"/>
          <a:lstStyle/>
          <a:p>
            <a:pPr marL="0" indent="0">
              <a:buNone/>
            </a:pPr>
            <a:r>
              <a:rPr lang="en-US" sz="650" b="1" kern="0" spc="100" dirty="0">
                <a:solidFill>
                  <a:srgbClr val="F5A623"/>
                </a:solidFill>
              </a:rPr>
              <a:t>INICIATIVAS</a:t>
            </a:r>
            <a:endParaRPr lang="en-US" sz="650" dirty="0"/>
          </a:p>
        </p:txBody>
      </p:sp>
      <p:sp>
        <p:nvSpPr>
          <p:cNvPr id="70" name="Shape 68"/>
          <p:cNvSpPr/>
          <p:nvPr/>
        </p:nvSpPr>
        <p:spPr>
          <a:xfrm>
            <a:off x="2734056" y="2980944"/>
            <a:ext cx="73152" cy="73152"/>
          </a:xfrm>
          <a:prstGeom prst="ellipse">
            <a:avLst/>
          </a:prstGeom>
          <a:solidFill>
            <a:srgbClr val="F5A623"/>
          </a:solidFill>
          <a:ln w="12700">
            <a:solidFill>
              <a:srgbClr val="F5A623"/>
            </a:solidFill>
            <a:prstDash val="solid"/>
          </a:ln>
        </p:spPr>
      </p:sp>
      <p:sp>
        <p:nvSpPr>
          <p:cNvPr id="71" name="Text 69"/>
          <p:cNvSpPr/>
          <p:nvPr/>
        </p:nvSpPr>
        <p:spPr>
          <a:xfrm>
            <a:off x="2852928" y="2953512"/>
            <a:ext cx="1664208" cy="201168"/>
          </a:xfrm>
          <a:prstGeom prst="rect">
            <a:avLst/>
          </a:prstGeom>
          <a:noFill/>
          <a:ln/>
        </p:spPr>
        <p:txBody>
          <a:bodyPr wrap="square" lIns="0" tIns="0" rIns="0" bIns="0" rtlCol="0" anchor="ctr"/>
          <a:lstStyle/>
          <a:p>
            <a:pPr marL="0" indent="0">
              <a:buNone/>
            </a:pPr>
            <a:r>
              <a:rPr lang="en-US" sz="800" dirty="0">
                <a:solidFill>
                  <a:srgbClr val="FFFFFF"/>
                </a:solidFill>
              </a:rPr>
              <a:t>OCR + IA en producción</a:t>
            </a:r>
            <a:endParaRPr lang="en-US" sz="800" dirty="0"/>
          </a:p>
        </p:txBody>
      </p:sp>
      <p:sp>
        <p:nvSpPr>
          <p:cNvPr id="72" name="Shape 70"/>
          <p:cNvSpPr/>
          <p:nvPr/>
        </p:nvSpPr>
        <p:spPr>
          <a:xfrm>
            <a:off x="2734056" y="3236976"/>
            <a:ext cx="73152" cy="73152"/>
          </a:xfrm>
          <a:prstGeom prst="ellipse">
            <a:avLst/>
          </a:prstGeom>
          <a:solidFill>
            <a:srgbClr val="F5A623"/>
          </a:solidFill>
          <a:ln w="12700">
            <a:solidFill>
              <a:srgbClr val="F5A623"/>
            </a:solidFill>
            <a:prstDash val="solid"/>
          </a:ln>
        </p:spPr>
      </p:sp>
      <p:sp>
        <p:nvSpPr>
          <p:cNvPr id="73" name="Text 71"/>
          <p:cNvSpPr/>
          <p:nvPr/>
        </p:nvSpPr>
        <p:spPr>
          <a:xfrm>
            <a:off x="2852928" y="3209544"/>
            <a:ext cx="1664208" cy="201168"/>
          </a:xfrm>
          <a:prstGeom prst="rect">
            <a:avLst/>
          </a:prstGeom>
          <a:noFill/>
          <a:ln/>
        </p:spPr>
        <p:txBody>
          <a:bodyPr wrap="square" lIns="0" tIns="0" rIns="0" bIns="0" rtlCol="0" anchor="ctr"/>
          <a:lstStyle/>
          <a:p>
            <a:pPr marL="0" indent="0">
              <a:buNone/>
            </a:pPr>
            <a:r>
              <a:rPr lang="en-US" sz="800" dirty="0">
                <a:solidFill>
                  <a:srgbClr val="FFFFFF"/>
                </a:solidFill>
              </a:rPr>
              <a:t>Piloto 10 choferes</a:t>
            </a:r>
            <a:endParaRPr lang="en-US" sz="800" dirty="0"/>
          </a:p>
        </p:txBody>
      </p:sp>
      <p:sp>
        <p:nvSpPr>
          <p:cNvPr id="74" name="Shape 72"/>
          <p:cNvSpPr/>
          <p:nvPr/>
        </p:nvSpPr>
        <p:spPr>
          <a:xfrm>
            <a:off x="2734056" y="3493008"/>
            <a:ext cx="73152" cy="73152"/>
          </a:xfrm>
          <a:prstGeom prst="ellipse">
            <a:avLst/>
          </a:prstGeom>
          <a:solidFill>
            <a:srgbClr val="F5A623"/>
          </a:solidFill>
          <a:ln w="12700">
            <a:solidFill>
              <a:srgbClr val="F5A623"/>
            </a:solidFill>
            <a:prstDash val="solid"/>
          </a:ln>
        </p:spPr>
      </p:sp>
      <p:sp>
        <p:nvSpPr>
          <p:cNvPr id="75" name="Text 73"/>
          <p:cNvSpPr/>
          <p:nvPr/>
        </p:nvSpPr>
        <p:spPr>
          <a:xfrm>
            <a:off x="2852928" y="3465576"/>
            <a:ext cx="1664208" cy="201168"/>
          </a:xfrm>
          <a:prstGeom prst="rect">
            <a:avLst/>
          </a:prstGeom>
          <a:noFill/>
          <a:ln/>
        </p:spPr>
        <p:txBody>
          <a:bodyPr wrap="square" lIns="0" tIns="0" rIns="0" bIns="0" rtlCol="0" anchor="ctr"/>
          <a:lstStyle/>
          <a:p>
            <a:pPr marL="0" indent="0">
              <a:buNone/>
            </a:pPr>
            <a:r>
              <a:rPr lang="en-US" sz="800" dirty="0">
                <a:solidFill>
                  <a:srgbClr val="FFFFFF"/>
                </a:solidFill>
              </a:rPr>
              <a:t>Go-live total</a:t>
            </a:r>
            <a:endParaRPr lang="en-US" sz="800" dirty="0"/>
          </a:p>
        </p:txBody>
      </p:sp>
      <p:sp>
        <p:nvSpPr>
          <p:cNvPr id="76" name="Shape 74"/>
          <p:cNvSpPr/>
          <p:nvPr/>
        </p:nvSpPr>
        <p:spPr>
          <a:xfrm>
            <a:off x="2715768" y="3785616"/>
            <a:ext cx="1773936" cy="0"/>
          </a:xfrm>
          <a:prstGeom prst="line">
            <a:avLst/>
          </a:prstGeom>
          <a:noFill/>
          <a:ln w="6350">
            <a:solidFill>
              <a:srgbClr val="F5A623">
                <a:alpha val="40000"/>
              </a:srgbClr>
            </a:solidFill>
            <a:prstDash val="solid"/>
          </a:ln>
        </p:spPr>
      </p:sp>
      <p:sp>
        <p:nvSpPr>
          <p:cNvPr id="77" name="Text 75"/>
          <p:cNvSpPr/>
          <p:nvPr/>
        </p:nvSpPr>
        <p:spPr>
          <a:xfrm>
            <a:off x="2606040" y="3822192"/>
            <a:ext cx="1993392" cy="164592"/>
          </a:xfrm>
          <a:prstGeom prst="rect">
            <a:avLst/>
          </a:prstGeom>
          <a:noFill/>
          <a:ln/>
        </p:spPr>
        <p:txBody>
          <a:bodyPr wrap="square" lIns="0" tIns="0" rIns="0" bIns="0" rtlCol="0" anchor="ctr"/>
          <a:lstStyle/>
          <a:p>
            <a:pPr marL="0" indent="0" algn="ctr">
              <a:buNone/>
            </a:pPr>
            <a:r>
              <a:rPr lang="en-US" sz="700" i="1" dirty="0">
                <a:solidFill>
                  <a:srgbClr val="8899AA"/>
                </a:solidFill>
              </a:rPr>
              <a:t>Scrum Master + Dev</a:t>
            </a:r>
            <a:endParaRPr lang="en-US" sz="700" dirty="0"/>
          </a:p>
        </p:txBody>
      </p:sp>
      <p:sp>
        <p:nvSpPr>
          <p:cNvPr id="78" name="Shape 76"/>
          <p:cNvSpPr/>
          <p:nvPr/>
        </p:nvSpPr>
        <p:spPr>
          <a:xfrm>
            <a:off x="4736592" y="594360"/>
            <a:ext cx="1993392" cy="1755648"/>
          </a:xfrm>
          <a:prstGeom prst="rect">
            <a:avLst/>
          </a:prstGeom>
          <a:solidFill>
            <a:srgbClr val="0D2144"/>
          </a:solidFill>
          <a:ln w="19050">
            <a:solidFill>
              <a:srgbClr val="27AE60"/>
            </a:solidFill>
            <a:prstDash val="solid"/>
          </a:ln>
          <a:effectLst>
            <a:outerShdw blurRad="127000" dist="38100" dir="8100000" algn="bl" rotWithShape="0">
              <a:srgbClr val="000000">
                <a:alpha val="25000"/>
              </a:srgbClr>
            </a:outerShdw>
          </a:effectLst>
        </p:spPr>
      </p:sp>
      <p:sp>
        <p:nvSpPr>
          <p:cNvPr id="79" name="Shape 77"/>
          <p:cNvSpPr/>
          <p:nvPr/>
        </p:nvSpPr>
        <p:spPr>
          <a:xfrm>
            <a:off x="4736592" y="594360"/>
            <a:ext cx="1993392" cy="64008"/>
          </a:xfrm>
          <a:prstGeom prst="rect">
            <a:avLst/>
          </a:prstGeom>
          <a:solidFill>
            <a:srgbClr val="27AE60"/>
          </a:solidFill>
          <a:ln w="12700">
            <a:solidFill>
              <a:srgbClr val="27AE60"/>
            </a:solidFill>
            <a:prstDash val="solid"/>
          </a:ln>
        </p:spPr>
      </p:sp>
      <p:sp>
        <p:nvSpPr>
          <p:cNvPr id="80" name="Shape 78"/>
          <p:cNvSpPr/>
          <p:nvPr/>
        </p:nvSpPr>
        <p:spPr>
          <a:xfrm>
            <a:off x="5458968" y="685800"/>
            <a:ext cx="548640" cy="548640"/>
          </a:xfrm>
          <a:prstGeom prst="ellipse">
            <a:avLst/>
          </a:prstGeom>
          <a:solidFill>
            <a:srgbClr val="27AE60"/>
          </a:solidFill>
          <a:ln w="19050">
            <a:solidFill>
              <a:srgbClr val="FFFFFF"/>
            </a:solidFill>
            <a:prstDash val="solid"/>
          </a:ln>
        </p:spPr>
      </p:sp>
      <p:sp>
        <p:nvSpPr>
          <p:cNvPr id="81" name="Text 79"/>
          <p:cNvSpPr/>
          <p:nvPr/>
        </p:nvSpPr>
        <p:spPr>
          <a:xfrm>
            <a:off x="5458968" y="685800"/>
            <a:ext cx="548640" cy="548640"/>
          </a:xfrm>
          <a:prstGeom prst="rect">
            <a:avLst/>
          </a:prstGeom>
          <a:noFill/>
          <a:ln/>
        </p:spPr>
        <p:txBody>
          <a:bodyPr wrap="square" lIns="0" tIns="0" rIns="0" bIns="0" rtlCol="0" anchor="ctr"/>
          <a:lstStyle/>
          <a:p>
            <a:pPr marL="0" indent="0" algn="ctr">
              <a:buNone/>
            </a:pPr>
            <a:r>
              <a:rPr lang="en-US" sz="1600" b="1" dirty="0">
                <a:solidFill>
                  <a:srgbClr val="0A1628"/>
                </a:solidFill>
              </a:rPr>
              <a:t>Q3</a:t>
            </a:r>
            <a:endParaRPr lang="en-US" sz="1600" dirty="0"/>
          </a:p>
        </p:txBody>
      </p:sp>
      <p:sp>
        <p:nvSpPr>
          <p:cNvPr id="82" name="Text 80"/>
          <p:cNvSpPr/>
          <p:nvPr/>
        </p:nvSpPr>
        <p:spPr>
          <a:xfrm>
            <a:off x="4736592" y="1280160"/>
            <a:ext cx="1993392" cy="164592"/>
          </a:xfrm>
          <a:prstGeom prst="rect">
            <a:avLst/>
          </a:prstGeom>
          <a:noFill/>
          <a:ln/>
        </p:spPr>
        <p:txBody>
          <a:bodyPr wrap="square" lIns="0" tIns="0" rIns="0" bIns="0" rtlCol="0" anchor="ctr"/>
          <a:lstStyle/>
          <a:p>
            <a:pPr marL="0" indent="0" algn="ctr">
              <a:buNone/>
            </a:pPr>
            <a:r>
              <a:rPr lang="en-US" sz="750" b="1" dirty="0">
                <a:solidFill>
                  <a:srgbClr val="27AE60"/>
                </a:solidFill>
              </a:rPr>
              <a:t>Jul – Sep 2026</a:t>
            </a:r>
            <a:endParaRPr lang="en-US" sz="750" dirty="0"/>
          </a:p>
        </p:txBody>
      </p:sp>
      <p:sp>
        <p:nvSpPr>
          <p:cNvPr id="83" name="Text 81"/>
          <p:cNvSpPr/>
          <p:nvPr/>
        </p:nvSpPr>
        <p:spPr>
          <a:xfrm>
            <a:off x="4736592" y="1444752"/>
            <a:ext cx="1993392" cy="292608"/>
          </a:xfrm>
          <a:prstGeom prst="rect">
            <a:avLst/>
          </a:prstGeom>
          <a:noFill/>
          <a:ln/>
        </p:spPr>
        <p:txBody>
          <a:bodyPr wrap="square" lIns="0" tIns="0" rIns="0" bIns="0" rtlCol="0" anchor="ctr"/>
          <a:lstStyle/>
          <a:p>
            <a:pPr marL="0" indent="0" algn="ctr">
              <a:buNone/>
            </a:pPr>
            <a:r>
              <a:rPr lang="en-US" sz="950" b="1" dirty="0">
                <a:solidFill>
                  <a:srgbClr val="FFFFFF"/>
                </a:solidFill>
              </a:rPr>
              <a:t>ROI y</a:t>
            </a:r>
            <a:endParaRPr lang="en-US" sz="950" dirty="0"/>
          </a:p>
          <a:p>
            <a:pPr marL="0" indent="0" algn="ctr">
              <a:buNone/>
            </a:pPr>
            <a:r>
              <a:rPr lang="en-US" sz="950" b="1" dirty="0">
                <a:solidFill>
                  <a:srgbClr val="FFFFFF"/>
                </a:solidFill>
              </a:rPr>
              <a:t>Escalabilidad</a:t>
            </a:r>
            <a:endParaRPr lang="en-US" sz="950" dirty="0"/>
          </a:p>
        </p:txBody>
      </p:sp>
      <p:sp>
        <p:nvSpPr>
          <p:cNvPr id="84" name="Shape 82"/>
          <p:cNvSpPr/>
          <p:nvPr/>
        </p:nvSpPr>
        <p:spPr>
          <a:xfrm>
            <a:off x="5102352" y="1783080"/>
            <a:ext cx="1261872" cy="182880"/>
          </a:xfrm>
          <a:prstGeom prst="rect">
            <a:avLst/>
          </a:prstGeom>
          <a:solidFill>
            <a:srgbClr val="27AE60">
              <a:alpha val="25000"/>
            </a:srgbClr>
          </a:solidFill>
          <a:ln w="6350">
            <a:solidFill>
              <a:srgbClr val="27AE60"/>
            </a:solidFill>
            <a:prstDash val="solid"/>
          </a:ln>
        </p:spPr>
      </p:sp>
      <p:sp>
        <p:nvSpPr>
          <p:cNvPr id="85" name="Text 83"/>
          <p:cNvSpPr/>
          <p:nvPr/>
        </p:nvSpPr>
        <p:spPr>
          <a:xfrm>
            <a:off x="5102352" y="1783080"/>
            <a:ext cx="1261872" cy="182880"/>
          </a:xfrm>
          <a:prstGeom prst="rect">
            <a:avLst/>
          </a:prstGeom>
          <a:noFill/>
          <a:ln/>
        </p:spPr>
        <p:txBody>
          <a:bodyPr wrap="square" lIns="0" tIns="0" rIns="0" bIns="0" rtlCol="0" anchor="ctr"/>
          <a:lstStyle/>
          <a:p>
            <a:pPr marL="0" indent="0" algn="ctr">
              <a:buNone/>
            </a:pPr>
            <a:r>
              <a:rPr lang="en-US" sz="750" b="1" dirty="0">
                <a:solidFill>
                  <a:srgbClr val="27AE60"/>
                </a:solidFill>
              </a:rPr>
              <a:t>Objetivo: O3</a:t>
            </a:r>
            <a:endParaRPr lang="en-US" sz="750" dirty="0"/>
          </a:p>
        </p:txBody>
      </p:sp>
      <p:sp>
        <p:nvSpPr>
          <p:cNvPr id="86" name="Text 84"/>
          <p:cNvSpPr/>
          <p:nvPr/>
        </p:nvSpPr>
        <p:spPr>
          <a:xfrm>
            <a:off x="4736592" y="2011680"/>
            <a:ext cx="1993392" cy="137160"/>
          </a:xfrm>
          <a:prstGeom prst="rect">
            <a:avLst/>
          </a:prstGeom>
          <a:noFill/>
          <a:ln/>
        </p:spPr>
        <p:txBody>
          <a:bodyPr wrap="square" lIns="0" tIns="0" rIns="0" bIns="0" rtlCol="0" anchor="ctr"/>
          <a:lstStyle/>
          <a:p>
            <a:pPr marL="0" indent="0" algn="ctr">
              <a:buNone/>
            </a:pPr>
            <a:r>
              <a:rPr lang="en-US" sz="650" dirty="0">
                <a:solidFill>
                  <a:srgbClr val="8899AA"/>
                </a:solidFill>
              </a:rPr>
              <a:t>KR1-O3 · KR2-O3</a:t>
            </a:r>
            <a:endParaRPr lang="en-US" sz="650" dirty="0"/>
          </a:p>
        </p:txBody>
      </p:sp>
      <p:sp>
        <p:nvSpPr>
          <p:cNvPr id="87" name="Shape 85"/>
          <p:cNvSpPr/>
          <p:nvPr/>
        </p:nvSpPr>
        <p:spPr>
          <a:xfrm>
            <a:off x="5705856" y="2350008"/>
            <a:ext cx="54864" cy="228600"/>
          </a:xfrm>
          <a:prstGeom prst="rect">
            <a:avLst/>
          </a:prstGeom>
          <a:solidFill>
            <a:srgbClr val="27AE60"/>
          </a:solidFill>
          <a:ln w="12700">
            <a:solidFill>
              <a:srgbClr val="27AE60"/>
            </a:solidFill>
            <a:prstDash val="solid"/>
          </a:ln>
        </p:spPr>
      </p:sp>
      <p:sp>
        <p:nvSpPr>
          <p:cNvPr id="88" name="Shape 86"/>
          <p:cNvSpPr/>
          <p:nvPr/>
        </p:nvSpPr>
        <p:spPr>
          <a:xfrm>
            <a:off x="5623560" y="2468880"/>
            <a:ext cx="219456" cy="219456"/>
          </a:xfrm>
          <a:prstGeom prst="ellipse">
            <a:avLst/>
          </a:prstGeom>
          <a:solidFill>
            <a:srgbClr val="27AE60"/>
          </a:solidFill>
          <a:ln w="25400">
            <a:solidFill>
              <a:srgbClr val="FFFFFF"/>
            </a:solidFill>
            <a:prstDash val="solid"/>
          </a:ln>
        </p:spPr>
      </p:sp>
      <p:sp>
        <p:nvSpPr>
          <p:cNvPr id="89" name="Shape 87"/>
          <p:cNvSpPr/>
          <p:nvPr/>
        </p:nvSpPr>
        <p:spPr>
          <a:xfrm>
            <a:off x="4736592" y="2706624"/>
            <a:ext cx="1993392" cy="1371600"/>
          </a:xfrm>
          <a:prstGeom prst="rect">
            <a:avLst/>
          </a:prstGeom>
          <a:solidFill>
            <a:srgbClr val="0D2144"/>
          </a:solidFill>
          <a:ln w="12700">
            <a:solidFill>
              <a:srgbClr val="27AE60"/>
            </a:solidFill>
            <a:prstDash val="solid"/>
          </a:ln>
          <a:effectLst>
            <a:outerShdw blurRad="127000" dist="38100" dir="8100000" algn="bl" rotWithShape="0">
              <a:srgbClr val="000000">
                <a:alpha val="25000"/>
              </a:srgbClr>
            </a:outerShdw>
          </a:effectLst>
        </p:spPr>
      </p:sp>
      <p:sp>
        <p:nvSpPr>
          <p:cNvPr id="90" name="Shape 88"/>
          <p:cNvSpPr/>
          <p:nvPr/>
        </p:nvSpPr>
        <p:spPr>
          <a:xfrm>
            <a:off x="4736592" y="4014216"/>
            <a:ext cx="1993392" cy="64008"/>
          </a:xfrm>
          <a:prstGeom prst="rect">
            <a:avLst/>
          </a:prstGeom>
          <a:solidFill>
            <a:srgbClr val="27AE60"/>
          </a:solidFill>
          <a:ln w="12700">
            <a:solidFill>
              <a:srgbClr val="27AE60"/>
            </a:solidFill>
            <a:prstDash val="solid"/>
          </a:ln>
        </p:spPr>
      </p:sp>
      <p:sp>
        <p:nvSpPr>
          <p:cNvPr id="91" name="Shape 89"/>
          <p:cNvSpPr/>
          <p:nvPr/>
        </p:nvSpPr>
        <p:spPr>
          <a:xfrm>
            <a:off x="5705856" y="2688336"/>
            <a:ext cx="54864" cy="128016"/>
          </a:xfrm>
          <a:prstGeom prst="rect">
            <a:avLst/>
          </a:prstGeom>
          <a:solidFill>
            <a:srgbClr val="27AE60"/>
          </a:solidFill>
          <a:ln w="12700">
            <a:solidFill>
              <a:srgbClr val="27AE60"/>
            </a:solidFill>
            <a:prstDash val="solid"/>
          </a:ln>
        </p:spPr>
      </p:sp>
      <p:sp>
        <p:nvSpPr>
          <p:cNvPr id="92" name="Text 90"/>
          <p:cNvSpPr/>
          <p:nvPr/>
        </p:nvSpPr>
        <p:spPr>
          <a:xfrm>
            <a:off x="4846320" y="2779776"/>
            <a:ext cx="1773936" cy="146304"/>
          </a:xfrm>
          <a:prstGeom prst="rect">
            <a:avLst/>
          </a:prstGeom>
          <a:noFill/>
          <a:ln/>
        </p:spPr>
        <p:txBody>
          <a:bodyPr wrap="square" lIns="0" tIns="0" rIns="0" bIns="0" rtlCol="0" anchor="ctr"/>
          <a:lstStyle/>
          <a:p>
            <a:pPr marL="0" indent="0">
              <a:buNone/>
            </a:pPr>
            <a:r>
              <a:rPr lang="en-US" sz="650" b="1" kern="0" spc="100" dirty="0">
                <a:solidFill>
                  <a:srgbClr val="27AE60"/>
                </a:solidFill>
              </a:rPr>
              <a:t>INICIATIVAS</a:t>
            </a:r>
            <a:endParaRPr lang="en-US" sz="650" dirty="0"/>
          </a:p>
        </p:txBody>
      </p:sp>
      <p:sp>
        <p:nvSpPr>
          <p:cNvPr id="93" name="Shape 91"/>
          <p:cNvSpPr/>
          <p:nvPr/>
        </p:nvSpPr>
        <p:spPr>
          <a:xfrm>
            <a:off x="4864608" y="2980944"/>
            <a:ext cx="73152" cy="73152"/>
          </a:xfrm>
          <a:prstGeom prst="ellipse">
            <a:avLst/>
          </a:prstGeom>
          <a:solidFill>
            <a:srgbClr val="27AE60"/>
          </a:solidFill>
          <a:ln w="12700">
            <a:solidFill>
              <a:srgbClr val="27AE60"/>
            </a:solidFill>
            <a:prstDash val="solid"/>
          </a:ln>
        </p:spPr>
      </p:sp>
      <p:sp>
        <p:nvSpPr>
          <p:cNvPr id="94" name="Text 92"/>
          <p:cNvSpPr/>
          <p:nvPr/>
        </p:nvSpPr>
        <p:spPr>
          <a:xfrm>
            <a:off x="4983480" y="2953512"/>
            <a:ext cx="1664208" cy="201168"/>
          </a:xfrm>
          <a:prstGeom prst="rect">
            <a:avLst/>
          </a:prstGeom>
          <a:noFill/>
          <a:ln/>
        </p:spPr>
        <p:txBody>
          <a:bodyPr wrap="square" lIns="0" tIns="0" rIns="0" bIns="0" rtlCol="0" anchor="ctr"/>
          <a:lstStyle/>
          <a:p>
            <a:pPr marL="0" indent="0">
              <a:buNone/>
            </a:pPr>
            <a:r>
              <a:rPr lang="en-US" sz="800" dirty="0">
                <a:solidFill>
                  <a:srgbClr val="FFFFFF"/>
                </a:solidFill>
              </a:rPr>
              <a:t>Monitoreo ROI</a:t>
            </a:r>
            <a:endParaRPr lang="en-US" sz="800" dirty="0"/>
          </a:p>
        </p:txBody>
      </p:sp>
      <p:sp>
        <p:nvSpPr>
          <p:cNvPr id="95" name="Shape 93"/>
          <p:cNvSpPr/>
          <p:nvPr/>
        </p:nvSpPr>
        <p:spPr>
          <a:xfrm>
            <a:off x="4864608" y="3236976"/>
            <a:ext cx="73152" cy="73152"/>
          </a:xfrm>
          <a:prstGeom prst="ellipse">
            <a:avLst/>
          </a:prstGeom>
          <a:solidFill>
            <a:srgbClr val="27AE60"/>
          </a:solidFill>
          <a:ln w="12700">
            <a:solidFill>
              <a:srgbClr val="27AE60"/>
            </a:solidFill>
            <a:prstDash val="solid"/>
          </a:ln>
        </p:spPr>
      </p:sp>
      <p:sp>
        <p:nvSpPr>
          <p:cNvPr id="96" name="Text 94"/>
          <p:cNvSpPr/>
          <p:nvPr/>
        </p:nvSpPr>
        <p:spPr>
          <a:xfrm>
            <a:off x="4983480" y="3209544"/>
            <a:ext cx="1664208" cy="201168"/>
          </a:xfrm>
          <a:prstGeom prst="rect">
            <a:avLst/>
          </a:prstGeom>
          <a:noFill/>
          <a:ln/>
        </p:spPr>
        <p:txBody>
          <a:bodyPr wrap="square" lIns="0" tIns="0" rIns="0" bIns="0" rtlCol="0" anchor="ctr"/>
          <a:lstStyle/>
          <a:p>
            <a:pPr marL="0" indent="0">
              <a:buNone/>
            </a:pPr>
            <a:r>
              <a:rPr lang="en-US" sz="800" dirty="0">
                <a:solidFill>
                  <a:srgbClr val="FFFFFF"/>
                </a:solidFill>
              </a:rPr>
              <a:t>Dashboard métricas</a:t>
            </a:r>
            <a:endParaRPr lang="en-US" sz="800" dirty="0"/>
          </a:p>
        </p:txBody>
      </p:sp>
      <p:sp>
        <p:nvSpPr>
          <p:cNvPr id="97" name="Shape 95"/>
          <p:cNvSpPr/>
          <p:nvPr/>
        </p:nvSpPr>
        <p:spPr>
          <a:xfrm>
            <a:off x="4864608" y="3493008"/>
            <a:ext cx="73152" cy="73152"/>
          </a:xfrm>
          <a:prstGeom prst="ellipse">
            <a:avLst/>
          </a:prstGeom>
          <a:solidFill>
            <a:srgbClr val="27AE60"/>
          </a:solidFill>
          <a:ln w="12700">
            <a:solidFill>
              <a:srgbClr val="27AE60"/>
            </a:solidFill>
            <a:prstDash val="solid"/>
          </a:ln>
        </p:spPr>
      </p:sp>
      <p:sp>
        <p:nvSpPr>
          <p:cNvPr id="98" name="Text 96"/>
          <p:cNvSpPr/>
          <p:nvPr/>
        </p:nvSpPr>
        <p:spPr>
          <a:xfrm>
            <a:off x="4983480" y="3465576"/>
            <a:ext cx="1664208" cy="201168"/>
          </a:xfrm>
          <a:prstGeom prst="rect">
            <a:avLst/>
          </a:prstGeom>
          <a:noFill/>
          <a:ln/>
        </p:spPr>
        <p:txBody>
          <a:bodyPr wrap="square" lIns="0" tIns="0" rIns="0" bIns="0" rtlCol="0" anchor="ctr"/>
          <a:lstStyle/>
          <a:p>
            <a:pPr marL="0" indent="0">
              <a:buNone/>
            </a:pPr>
            <a:r>
              <a:rPr lang="en-US" sz="800" dirty="0">
                <a:solidFill>
                  <a:srgbClr val="FFFFFF"/>
                </a:solidFill>
              </a:rPr>
              <a:t>Expansión nuevas áreas</a:t>
            </a:r>
            <a:endParaRPr lang="en-US" sz="800" dirty="0"/>
          </a:p>
        </p:txBody>
      </p:sp>
      <p:sp>
        <p:nvSpPr>
          <p:cNvPr id="99" name="Shape 97"/>
          <p:cNvSpPr/>
          <p:nvPr/>
        </p:nvSpPr>
        <p:spPr>
          <a:xfrm>
            <a:off x="4846320" y="3785616"/>
            <a:ext cx="1773936" cy="0"/>
          </a:xfrm>
          <a:prstGeom prst="line">
            <a:avLst/>
          </a:prstGeom>
          <a:noFill/>
          <a:ln w="6350">
            <a:solidFill>
              <a:srgbClr val="27AE60">
                <a:alpha val="40000"/>
              </a:srgbClr>
            </a:solidFill>
            <a:prstDash val="solid"/>
          </a:ln>
        </p:spPr>
      </p:sp>
      <p:sp>
        <p:nvSpPr>
          <p:cNvPr id="100" name="Text 98"/>
          <p:cNvSpPr/>
          <p:nvPr/>
        </p:nvSpPr>
        <p:spPr>
          <a:xfrm>
            <a:off x="4736592" y="3822192"/>
            <a:ext cx="1993392" cy="164592"/>
          </a:xfrm>
          <a:prstGeom prst="rect">
            <a:avLst/>
          </a:prstGeom>
          <a:noFill/>
          <a:ln/>
        </p:spPr>
        <p:txBody>
          <a:bodyPr wrap="square" lIns="0" tIns="0" rIns="0" bIns="0" rtlCol="0" anchor="ctr"/>
          <a:lstStyle/>
          <a:p>
            <a:pPr marL="0" indent="0" algn="ctr">
              <a:buNone/>
            </a:pPr>
            <a:r>
              <a:rPr lang="en-US" sz="700" i="1" dirty="0">
                <a:solidFill>
                  <a:srgbClr val="8899AA"/>
                </a:solidFill>
              </a:rPr>
              <a:t>Gerencia Finanzas + TI</a:t>
            </a:r>
            <a:endParaRPr lang="en-US" sz="700" dirty="0"/>
          </a:p>
        </p:txBody>
      </p:sp>
      <p:sp>
        <p:nvSpPr>
          <p:cNvPr id="101" name="Shape 99"/>
          <p:cNvSpPr/>
          <p:nvPr/>
        </p:nvSpPr>
        <p:spPr>
          <a:xfrm>
            <a:off x="6867144" y="594360"/>
            <a:ext cx="1993392" cy="1755648"/>
          </a:xfrm>
          <a:prstGeom prst="rect">
            <a:avLst/>
          </a:prstGeom>
          <a:solidFill>
            <a:srgbClr val="0D2144"/>
          </a:solidFill>
          <a:ln w="19050">
            <a:solidFill>
              <a:srgbClr val="7B2FBE"/>
            </a:solidFill>
            <a:prstDash val="solid"/>
          </a:ln>
          <a:effectLst>
            <a:outerShdw blurRad="127000" dist="38100" dir="8100000" algn="bl" rotWithShape="0">
              <a:srgbClr val="000000">
                <a:alpha val="25000"/>
              </a:srgbClr>
            </a:outerShdw>
          </a:effectLst>
        </p:spPr>
      </p:sp>
      <p:sp>
        <p:nvSpPr>
          <p:cNvPr id="102" name="Shape 100"/>
          <p:cNvSpPr/>
          <p:nvPr/>
        </p:nvSpPr>
        <p:spPr>
          <a:xfrm>
            <a:off x="6867144" y="594360"/>
            <a:ext cx="1993392" cy="64008"/>
          </a:xfrm>
          <a:prstGeom prst="rect">
            <a:avLst/>
          </a:prstGeom>
          <a:solidFill>
            <a:srgbClr val="7B2FBE"/>
          </a:solidFill>
          <a:ln w="12700">
            <a:solidFill>
              <a:srgbClr val="7B2FBE"/>
            </a:solidFill>
            <a:prstDash val="solid"/>
          </a:ln>
        </p:spPr>
      </p:sp>
      <p:sp>
        <p:nvSpPr>
          <p:cNvPr id="103" name="Shape 101"/>
          <p:cNvSpPr/>
          <p:nvPr/>
        </p:nvSpPr>
        <p:spPr>
          <a:xfrm>
            <a:off x="7589520" y="685800"/>
            <a:ext cx="548640" cy="548640"/>
          </a:xfrm>
          <a:prstGeom prst="ellipse">
            <a:avLst/>
          </a:prstGeom>
          <a:solidFill>
            <a:srgbClr val="7B2FBE"/>
          </a:solidFill>
          <a:ln w="19050">
            <a:solidFill>
              <a:srgbClr val="FFFFFF"/>
            </a:solidFill>
            <a:prstDash val="solid"/>
          </a:ln>
        </p:spPr>
      </p:sp>
      <p:sp>
        <p:nvSpPr>
          <p:cNvPr id="104" name="Text 102"/>
          <p:cNvSpPr/>
          <p:nvPr/>
        </p:nvSpPr>
        <p:spPr>
          <a:xfrm>
            <a:off x="7589520" y="685800"/>
            <a:ext cx="548640" cy="548640"/>
          </a:xfrm>
          <a:prstGeom prst="rect">
            <a:avLst/>
          </a:prstGeom>
          <a:noFill/>
          <a:ln/>
        </p:spPr>
        <p:txBody>
          <a:bodyPr wrap="square" lIns="0" tIns="0" rIns="0" bIns="0" rtlCol="0" anchor="ctr"/>
          <a:lstStyle/>
          <a:p>
            <a:pPr marL="0" indent="0" algn="ctr">
              <a:buNone/>
            </a:pPr>
            <a:r>
              <a:rPr lang="en-US" sz="1600" b="1" dirty="0">
                <a:solidFill>
                  <a:srgbClr val="0A1628"/>
                </a:solidFill>
              </a:rPr>
              <a:t>Q4</a:t>
            </a:r>
            <a:endParaRPr lang="en-US" sz="1600" dirty="0"/>
          </a:p>
        </p:txBody>
      </p:sp>
      <p:sp>
        <p:nvSpPr>
          <p:cNvPr id="105" name="Text 103"/>
          <p:cNvSpPr/>
          <p:nvPr/>
        </p:nvSpPr>
        <p:spPr>
          <a:xfrm>
            <a:off x="6867144" y="1280160"/>
            <a:ext cx="1993392" cy="164592"/>
          </a:xfrm>
          <a:prstGeom prst="rect">
            <a:avLst/>
          </a:prstGeom>
          <a:noFill/>
          <a:ln/>
        </p:spPr>
        <p:txBody>
          <a:bodyPr wrap="square" lIns="0" tIns="0" rIns="0" bIns="0" rtlCol="0" anchor="ctr"/>
          <a:lstStyle/>
          <a:p>
            <a:pPr marL="0" indent="0" algn="ctr">
              <a:buNone/>
            </a:pPr>
            <a:r>
              <a:rPr lang="en-US" sz="750" b="1" dirty="0">
                <a:solidFill>
                  <a:srgbClr val="7B2FBE"/>
                </a:solidFill>
              </a:rPr>
              <a:t>Oct – Dic 2026</a:t>
            </a:r>
            <a:endParaRPr lang="en-US" sz="750" dirty="0"/>
          </a:p>
        </p:txBody>
      </p:sp>
      <p:sp>
        <p:nvSpPr>
          <p:cNvPr id="106" name="Text 104"/>
          <p:cNvSpPr/>
          <p:nvPr/>
        </p:nvSpPr>
        <p:spPr>
          <a:xfrm>
            <a:off x="6867144" y="1444752"/>
            <a:ext cx="1993392" cy="292608"/>
          </a:xfrm>
          <a:prstGeom prst="rect">
            <a:avLst/>
          </a:prstGeom>
          <a:noFill/>
          <a:ln/>
        </p:spPr>
        <p:txBody>
          <a:bodyPr wrap="square" lIns="0" tIns="0" rIns="0" bIns="0" rtlCol="0" anchor="ctr"/>
          <a:lstStyle/>
          <a:p>
            <a:pPr marL="0" indent="0" algn="ctr">
              <a:buNone/>
            </a:pPr>
            <a:r>
              <a:rPr lang="en-US" sz="950" b="1" dirty="0">
                <a:solidFill>
                  <a:srgbClr val="FFFFFF"/>
                </a:solidFill>
              </a:rPr>
              <a:t>Consolidación</a:t>
            </a:r>
            <a:endParaRPr lang="en-US" sz="950" dirty="0"/>
          </a:p>
          <a:p>
            <a:pPr marL="0" indent="0" algn="ctr">
              <a:buNone/>
            </a:pPr>
            <a:r>
              <a:rPr lang="en-US" sz="950" b="1" dirty="0">
                <a:solidFill>
                  <a:srgbClr val="FFFFFF"/>
                </a:solidFill>
              </a:rPr>
              <a:t>y Gobierno</a:t>
            </a:r>
            <a:endParaRPr lang="en-US" sz="950" dirty="0"/>
          </a:p>
        </p:txBody>
      </p:sp>
      <p:sp>
        <p:nvSpPr>
          <p:cNvPr id="107" name="Shape 105"/>
          <p:cNvSpPr/>
          <p:nvPr/>
        </p:nvSpPr>
        <p:spPr>
          <a:xfrm>
            <a:off x="7232904" y="1783080"/>
            <a:ext cx="1261872" cy="182880"/>
          </a:xfrm>
          <a:prstGeom prst="rect">
            <a:avLst/>
          </a:prstGeom>
          <a:solidFill>
            <a:srgbClr val="7B2FBE">
              <a:alpha val="25000"/>
            </a:srgbClr>
          </a:solidFill>
          <a:ln w="6350">
            <a:solidFill>
              <a:srgbClr val="7B2FBE"/>
            </a:solidFill>
            <a:prstDash val="solid"/>
          </a:ln>
        </p:spPr>
      </p:sp>
      <p:sp>
        <p:nvSpPr>
          <p:cNvPr id="108" name="Text 106"/>
          <p:cNvSpPr/>
          <p:nvPr/>
        </p:nvSpPr>
        <p:spPr>
          <a:xfrm>
            <a:off x="7232904" y="1783080"/>
            <a:ext cx="1261872" cy="182880"/>
          </a:xfrm>
          <a:prstGeom prst="rect">
            <a:avLst/>
          </a:prstGeom>
          <a:noFill/>
          <a:ln/>
        </p:spPr>
        <p:txBody>
          <a:bodyPr wrap="square" lIns="0" tIns="0" rIns="0" bIns="0" rtlCol="0" anchor="ctr"/>
          <a:lstStyle/>
          <a:p>
            <a:pPr marL="0" indent="0" algn="ctr">
              <a:buNone/>
            </a:pPr>
            <a:r>
              <a:rPr lang="en-US" sz="750" b="1" dirty="0">
                <a:solidFill>
                  <a:srgbClr val="7B2FBE"/>
                </a:solidFill>
              </a:rPr>
              <a:t>Objetivo: O1, O2, O3</a:t>
            </a:r>
            <a:endParaRPr lang="en-US" sz="750" dirty="0"/>
          </a:p>
        </p:txBody>
      </p:sp>
      <p:sp>
        <p:nvSpPr>
          <p:cNvPr id="109" name="Text 107"/>
          <p:cNvSpPr/>
          <p:nvPr/>
        </p:nvSpPr>
        <p:spPr>
          <a:xfrm>
            <a:off x="6867144" y="2011680"/>
            <a:ext cx="1993392" cy="137160"/>
          </a:xfrm>
          <a:prstGeom prst="rect">
            <a:avLst/>
          </a:prstGeom>
          <a:noFill/>
          <a:ln/>
        </p:spPr>
        <p:txBody>
          <a:bodyPr wrap="square" lIns="0" tIns="0" rIns="0" bIns="0" rtlCol="0" anchor="ctr"/>
          <a:lstStyle/>
          <a:p>
            <a:pPr marL="0" indent="0" algn="ctr">
              <a:buNone/>
            </a:pPr>
            <a:r>
              <a:rPr lang="en-US" sz="650" dirty="0">
                <a:solidFill>
                  <a:srgbClr val="8899AA"/>
                </a:solidFill>
              </a:rPr>
              <a:t>Todos los KRs</a:t>
            </a:r>
            <a:endParaRPr lang="en-US" sz="650" dirty="0"/>
          </a:p>
        </p:txBody>
      </p:sp>
      <p:sp>
        <p:nvSpPr>
          <p:cNvPr id="110" name="Shape 108"/>
          <p:cNvSpPr/>
          <p:nvPr/>
        </p:nvSpPr>
        <p:spPr>
          <a:xfrm>
            <a:off x="7836408" y="2350008"/>
            <a:ext cx="54864" cy="228600"/>
          </a:xfrm>
          <a:prstGeom prst="rect">
            <a:avLst/>
          </a:prstGeom>
          <a:solidFill>
            <a:srgbClr val="7B2FBE"/>
          </a:solidFill>
          <a:ln w="12700">
            <a:solidFill>
              <a:srgbClr val="7B2FBE"/>
            </a:solidFill>
            <a:prstDash val="solid"/>
          </a:ln>
        </p:spPr>
      </p:sp>
      <p:sp>
        <p:nvSpPr>
          <p:cNvPr id="111" name="Shape 109"/>
          <p:cNvSpPr/>
          <p:nvPr/>
        </p:nvSpPr>
        <p:spPr>
          <a:xfrm>
            <a:off x="7754112" y="2468880"/>
            <a:ext cx="219456" cy="219456"/>
          </a:xfrm>
          <a:prstGeom prst="ellipse">
            <a:avLst/>
          </a:prstGeom>
          <a:solidFill>
            <a:srgbClr val="7B2FBE"/>
          </a:solidFill>
          <a:ln w="25400">
            <a:solidFill>
              <a:srgbClr val="FFFFFF"/>
            </a:solidFill>
            <a:prstDash val="solid"/>
          </a:ln>
        </p:spPr>
      </p:sp>
      <p:sp>
        <p:nvSpPr>
          <p:cNvPr id="112" name="Shape 110"/>
          <p:cNvSpPr/>
          <p:nvPr/>
        </p:nvSpPr>
        <p:spPr>
          <a:xfrm>
            <a:off x="6867144" y="2706624"/>
            <a:ext cx="1993392" cy="1371600"/>
          </a:xfrm>
          <a:prstGeom prst="rect">
            <a:avLst/>
          </a:prstGeom>
          <a:solidFill>
            <a:srgbClr val="0D2144"/>
          </a:solidFill>
          <a:ln w="12700">
            <a:solidFill>
              <a:srgbClr val="7B2FBE"/>
            </a:solidFill>
            <a:prstDash val="solid"/>
          </a:ln>
          <a:effectLst>
            <a:outerShdw blurRad="127000" dist="38100" dir="8100000" algn="bl" rotWithShape="0">
              <a:srgbClr val="000000">
                <a:alpha val="25000"/>
              </a:srgbClr>
            </a:outerShdw>
          </a:effectLst>
        </p:spPr>
      </p:sp>
      <p:sp>
        <p:nvSpPr>
          <p:cNvPr id="113" name="Shape 111"/>
          <p:cNvSpPr/>
          <p:nvPr/>
        </p:nvSpPr>
        <p:spPr>
          <a:xfrm>
            <a:off x="6867144" y="4014216"/>
            <a:ext cx="1993392" cy="64008"/>
          </a:xfrm>
          <a:prstGeom prst="rect">
            <a:avLst/>
          </a:prstGeom>
          <a:solidFill>
            <a:srgbClr val="7B2FBE"/>
          </a:solidFill>
          <a:ln w="12700">
            <a:solidFill>
              <a:srgbClr val="7B2FBE"/>
            </a:solidFill>
            <a:prstDash val="solid"/>
          </a:ln>
        </p:spPr>
      </p:sp>
      <p:sp>
        <p:nvSpPr>
          <p:cNvPr id="114" name="Shape 112"/>
          <p:cNvSpPr/>
          <p:nvPr/>
        </p:nvSpPr>
        <p:spPr>
          <a:xfrm>
            <a:off x="7836408" y="2688336"/>
            <a:ext cx="54864" cy="128016"/>
          </a:xfrm>
          <a:prstGeom prst="rect">
            <a:avLst/>
          </a:prstGeom>
          <a:solidFill>
            <a:srgbClr val="7B2FBE"/>
          </a:solidFill>
          <a:ln w="12700">
            <a:solidFill>
              <a:srgbClr val="7B2FBE"/>
            </a:solidFill>
            <a:prstDash val="solid"/>
          </a:ln>
        </p:spPr>
      </p:sp>
      <p:sp>
        <p:nvSpPr>
          <p:cNvPr id="115" name="Text 113"/>
          <p:cNvSpPr/>
          <p:nvPr/>
        </p:nvSpPr>
        <p:spPr>
          <a:xfrm>
            <a:off x="6976872" y="2779776"/>
            <a:ext cx="1773936" cy="146304"/>
          </a:xfrm>
          <a:prstGeom prst="rect">
            <a:avLst/>
          </a:prstGeom>
          <a:noFill/>
          <a:ln/>
        </p:spPr>
        <p:txBody>
          <a:bodyPr wrap="square" lIns="0" tIns="0" rIns="0" bIns="0" rtlCol="0" anchor="ctr"/>
          <a:lstStyle/>
          <a:p>
            <a:pPr marL="0" indent="0">
              <a:buNone/>
            </a:pPr>
            <a:r>
              <a:rPr lang="en-US" sz="650" b="1" kern="0" spc="100" dirty="0">
                <a:solidFill>
                  <a:srgbClr val="7B2FBE"/>
                </a:solidFill>
              </a:rPr>
              <a:t>INICIATIVAS</a:t>
            </a:r>
            <a:endParaRPr lang="en-US" sz="650" dirty="0"/>
          </a:p>
        </p:txBody>
      </p:sp>
      <p:sp>
        <p:nvSpPr>
          <p:cNvPr id="116" name="Shape 114"/>
          <p:cNvSpPr/>
          <p:nvPr/>
        </p:nvSpPr>
        <p:spPr>
          <a:xfrm>
            <a:off x="6995160" y="2980944"/>
            <a:ext cx="73152" cy="73152"/>
          </a:xfrm>
          <a:prstGeom prst="ellipse">
            <a:avLst/>
          </a:prstGeom>
          <a:solidFill>
            <a:srgbClr val="7B2FBE"/>
          </a:solidFill>
          <a:ln w="12700">
            <a:solidFill>
              <a:srgbClr val="7B2FBE"/>
            </a:solidFill>
            <a:prstDash val="solid"/>
          </a:ln>
        </p:spPr>
      </p:sp>
      <p:sp>
        <p:nvSpPr>
          <p:cNvPr id="117" name="Text 115"/>
          <p:cNvSpPr/>
          <p:nvPr/>
        </p:nvSpPr>
        <p:spPr>
          <a:xfrm>
            <a:off x="7114032" y="2953512"/>
            <a:ext cx="1664208" cy="201168"/>
          </a:xfrm>
          <a:prstGeom prst="rect">
            <a:avLst/>
          </a:prstGeom>
          <a:noFill/>
          <a:ln/>
        </p:spPr>
        <p:txBody>
          <a:bodyPr wrap="square" lIns="0" tIns="0" rIns="0" bIns="0" rtlCol="0" anchor="ctr"/>
          <a:lstStyle/>
          <a:p>
            <a:pPr marL="0" indent="0">
              <a:buNone/>
            </a:pPr>
            <a:r>
              <a:rPr lang="en-US" sz="800" dirty="0">
                <a:solidFill>
                  <a:srgbClr val="FFFFFF"/>
                </a:solidFill>
              </a:rPr>
              <a:t>Auditoría proceso</a:t>
            </a:r>
            <a:endParaRPr lang="en-US" sz="800" dirty="0"/>
          </a:p>
        </p:txBody>
      </p:sp>
      <p:sp>
        <p:nvSpPr>
          <p:cNvPr id="118" name="Shape 116"/>
          <p:cNvSpPr/>
          <p:nvPr/>
        </p:nvSpPr>
        <p:spPr>
          <a:xfrm>
            <a:off x="6995160" y="3236976"/>
            <a:ext cx="73152" cy="73152"/>
          </a:xfrm>
          <a:prstGeom prst="ellipse">
            <a:avLst/>
          </a:prstGeom>
          <a:solidFill>
            <a:srgbClr val="7B2FBE"/>
          </a:solidFill>
          <a:ln w="12700">
            <a:solidFill>
              <a:srgbClr val="7B2FBE"/>
            </a:solidFill>
            <a:prstDash val="solid"/>
          </a:ln>
        </p:spPr>
      </p:sp>
      <p:sp>
        <p:nvSpPr>
          <p:cNvPr id="119" name="Text 117"/>
          <p:cNvSpPr/>
          <p:nvPr/>
        </p:nvSpPr>
        <p:spPr>
          <a:xfrm>
            <a:off x="7114032" y="3209544"/>
            <a:ext cx="1664208" cy="201168"/>
          </a:xfrm>
          <a:prstGeom prst="rect">
            <a:avLst/>
          </a:prstGeom>
          <a:noFill/>
          <a:ln/>
        </p:spPr>
        <p:txBody>
          <a:bodyPr wrap="square" lIns="0" tIns="0" rIns="0" bIns="0" rtlCol="0" anchor="ctr"/>
          <a:lstStyle/>
          <a:p>
            <a:pPr marL="0" indent="0">
              <a:buNone/>
            </a:pPr>
            <a:r>
              <a:rPr lang="en-US" sz="800" dirty="0">
                <a:solidFill>
                  <a:srgbClr val="FFFFFF"/>
                </a:solidFill>
              </a:rPr>
              <a:t>Ajustes governance</a:t>
            </a:r>
            <a:endParaRPr lang="en-US" sz="800" dirty="0"/>
          </a:p>
        </p:txBody>
      </p:sp>
      <p:sp>
        <p:nvSpPr>
          <p:cNvPr id="120" name="Shape 118"/>
          <p:cNvSpPr/>
          <p:nvPr/>
        </p:nvSpPr>
        <p:spPr>
          <a:xfrm>
            <a:off x="6995160" y="3493008"/>
            <a:ext cx="73152" cy="73152"/>
          </a:xfrm>
          <a:prstGeom prst="ellipse">
            <a:avLst/>
          </a:prstGeom>
          <a:solidFill>
            <a:srgbClr val="7B2FBE"/>
          </a:solidFill>
          <a:ln w="12700">
            <a:solidFill>
              <a:srgbClr val="7B2FBE"/>
            </a:solidFill>
            <a:prstDash val="solid"/>
          </a:ln>
        </p:spPr>
      </p:sp>
      <p:sp>
        <p:nvSpPr>
          <p:cNvPr id="121" name="Text 119"/>
          <p:cNvSpPr/>
          <p:nvPr/>
        </p:nvSpPr>
        <p:spPr>
          <a:xfrm>
            <a:off x="7114032" y="3465576"/>
            <a:ext cx="1664208" cy="201168"/>
          </a:xfrm>
          <a:prstGeom prst="rect">
            <a:avLst/>
          </a:prstGeom>
          <a:noFill/>
          <a:ln/>
        </p:spPr>
        <p:txBody>
          <a:bodyPr wrap="square" lIns="0" tIns="0" rIns="0" bIns="0" rtlCol="0" anchor="ctr"/>
          <a:lstStyle/>
          <a:p>
            <a:pPr marL="0" indent="0">
              <a:buNone/>
            </a:pPr>
            <a:r>
              <a:rPr lang="en-US" sz="800" dirty="0">
                <a:solidFill>
                  <a:srgbClr val="FFFFFF"/>
                </a:solidFill>
              </a:rPr>
              <a:t>Roadmap siguiente fase</a:t>
            </a:r>
            <a:endParaRPr lang="en-US" sz="800" dirty="0"/>
          </a:p>
        </p:txBody>
      </p:sp>
      <p:sp>
        <p:nvSpPr>
          <p:cNvPr id="122" name="Shape 120"/>
          <p:cNvSpPr/>
          <p:nvPr/>
        </p:nvSpPr>
        <p:spPr>
          <a:xfrm>
            <a:off x="6976872" y="3785616"/>
            <a:ext cx="1773936" cy="0"/>
          </a:xfrm>
          <a:prstGeom prst="line">
            <a:avLst/>
          </a:prstGeom>
          <a:noFill/>
          <a:ln w="6350">
            <a:solidFill>
              <a:srgbClr val="7B2FBE">
                <a:alpha val="40000"/>
              </a:srgbClr>
            </a:solidFill>
            <a:prstDash val="solid"/>
          </a:ln>
        </p:spPr>
      </p:sp>
      <p:sp>
        <p:nvSpPr>
          <p:cNvPr id="123" name="Text 121"/>
          <p:cNvSpPr/>
          <p:nvPr/>
        </p:nvSpPr>
        <p:spPr>
          <a:xfrm>
            <a:off x="6867144" y="3822192"/>
            <a:ext cx="1993392" cy="164592"/>
          </a:xfrm>
          <a:prstGeom prst="rect">
            <a:avLst/>
          </a:prstGeom>
          <a:noFill/>
          <a:ln/>
        </p:spPr>
        <p:txBody>
          <a:bodyPr wrap="square" lIns="0" tIns="0" rIns="0" bIns="0" rtlCol="0" anchor="ctr"/>
          <a:lstStyle/>
          <a:p>
            <a:pPr marL="0" indent="0" algn="ctr">
              <a:buNone/>
            </a:pPr>
            <a:r>
              <a:rPr lang="en-US" sz="700" i="1" dirty="0">
                <a:solidFill>
                  <a:srgbClr val="8899AA"/>
                </a:solidFill>
              </a:rPr>
              <a:t>Dirección General</a:t>
            </a:r>
            <a:endParaRPr lang="en-US" sz="700" dirty="0"/>
          </a:p>
        </p:txBody>
      </p:sp>
      <p:sp>
        <p:nvSpPr>
          <p:cNvPr id="124" name="Shape 122"/>
          <p:cNvSpPr/>
          <p:nvPr/>
        </p:nvSpPr>
        <p:spPr>
          <a:xfrm>
            <a:off x="0" y="4882896"/>
            <a:ext cx="9144000" cy="265176"/>
          </a:xfrm>
          <a:prstGeom prst="rect">
            <a:avLst/>
          </a:prstGeom>
          <a:solidFill>
            <a:srgbClr val="1A3A6B"/>
          </a:solidFill>
          <a:ln w="12700">
            <a:solidFill>
              <a:srgbClr val="1A3A6B"/>
            </a:solidFill>
            <a:prstDash val="solid"/>
          </a:ln>
        </p:spPr>
      </p:sp>
      <p:sp>
        <p:nvSpPr>
          <p:cNvPr id="125" name="Text 123"/>
          <p:cNvSpPr/>
          <p:nvPr/>
        </p:nvSpPr>
        <p:spPr>
          <a:xfrm>
            <a:off x="228600" y="4882896"/>
            <a:ext cx="8686800" cy="265176"/>
          </a:xfrm>
          <a:prstGeom prst="rect">
            <a:avLst/>
          </a:prstGeom>
          <a:noFill/>
          <a:ln/>
        </p:spPr>
        <p:txBody>
          <a:bodyPr wrap="square" lIns="0" tIns="0" rIns="0" bIns="0" rtlCol="0" anchor="ctr"/>
          <a:lstStyle/>
          <a:p>
            <a:pPr marL="0" indent="0" algn="ctr">
              <a:buNone/>
            </a:pPr>
            <a:r>
              <a:rPr lang="en-US" sz="650" i="1" dirty="0">
                <a:solidFill>
                  <a:srgbClr val="8899AA"/>
                </a:solidFill>
              </a:rPr>
              <a:t>Gabriel Sandoval G.  ·  Product Owner  ·  Proyecto ABP Módulo 5  ·  Rediseño del Flujo de Viáticos  ·  2026</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85344" cy="6858000"/>
          </a:xfrm>
          <a:prstGeom prst="rect">
            <a:avLst/>
          </a:prstGeom>
          <a:solidFill>
            <a:srgbClr val="38BDF8"/>
          </a:solidFill>
          <a:ln w="12700">
            <a:solidFill>
              <a:srgbClr val="38BDF8"/>
            </a:solidFill>
            <a:prstDash val="solid"/>
          </a:ln>
        </p:spPr>
      </p:sp>
      <p:sp>
        <p:nvSpPr>
          <p:cNvPr id="3" name="Shape 1"/>
          <p:cNvSpPr/>
          <p:nvPr/>
        </p:nvSpPr>
        <p:spPr>
          <a:xfrm>
            <a:off x="85344" y="0"/>
            <a:ext cx="12106656" cy="1036320"/>
          </a:xfrm>
          <a:prstGeom prst="rect">
            <a:avLst/>
          </a:prstGeom>
          <a:solidFill>
            <a:srgbClr val="0A1428"/>
          </a:solidFill>
          <a:ln w="12700">
            <a:solidFill>
              <a:srgbClr val="0A1428"/>
            </a:solidFill>
            <a:prstDash val="solid"/>
          </a:ln>
        </p:spPr>
      </p:sp>
      <p:sp>
        <p:nvSpPr>
          <p:cNvPr id="4" name="Shape 2"/>
          <p:cNvSpPr/>
          <p:nvPr/>
        </p:nvSpPr>
        <p:spPr>
          <a:xfrm>
            <a:off x="268224" y="170688"/>
            <a:ext cx="1950720" cy="341376"/>
          </a:xfrm>
          <a:prstGeom prst="rect">
            <a:avLst/>
          </a:prstGeom>
          <a:solidFill>
            <a:srgbClr val="38BDF8"/>
          </a:solidFill>
          <a:ln w="12700">
            <a:solidFill>
              <a:srgbClr val="38BDF8"/>
            </a:solidFill>
            <a:prstDash val="solid"/>
          </a:ln>
        </p:spPr>
      </p:sp>
      <p:sp>
        <p:nvSpPr>
          <p:cNvPr id="5" name="Text 3"/>
          <p:cNvSpPr/>
          <p:nvPr/>
        </p:nvSpPr>
        <p:spPr>
          <a:xfrm>
            <a:off x="268224" y="170688"/>
            <a:ext cx="1950720" cy="341376"/>
          </a:xfrm>
          <a:prstGeom prst="rect">
            <a:avLst/>
          </a:prstGeom>
          <a:noFill/>
          <a:ln/>
        </p:spPr>
        <p:txBody>
          <a:bodyPr wrap="square" lIns="0" tIns="0" rIns="0" bIns="0" rtlCol="0" anchor="ctr"/>
          <a:lstStyle/>
          <a:p>
            <a:pPr algn="ctr"/>
            <a:r>
              <a:rPr lang="en-US" sz="1067" b="1" kern="0" spc="267" dirty="0">
                <a:solidFill>
                  <a:srgbClr val="FFFFFF"/>
                </a:solidFill>
                <a:latin typeface="Calibri" pitchFamily="34" charset="0"/>
                <a:ea typeface="Calibri" pitchFamily="34" charset="-122"/>
                <a:cs typeface="Calibri" pitchFamily="34" charset="-120"/>
              </a:rPr>
              <a:t>CASO 1</a:t>
            </a:r>
            <a:endParaRPr lang="en-US" sz="1067" dirty="0"/>
          </a:p>
        </p:txBody>
      </p:sp>
      <p:sp>
        <p:nvSpPr>
          <p:cNvPr id="8" name="Text 6"/>
          <p:cNvSpPr/>
          <p:nvPr/>
        </p:nvSpPr>
        <p:spPr>
          <a:xfrm>
            <a:off x="4046406" y="110948"/>
            <a:ext cx="7071360" cy="487680"/>
          </a:xfrm>
          <a:prstGeom prst="rect">
            <a:avLst/>
          </a:prstGeom>
          <a:noFill/>
          <a:ln/>
        </p:spPr>
        <p:txBody>
          <a:bodyPr wrap="square" lIns="0" tIns="0" rIns="0" bIns="0" rtlCol="0" anchor="ctr"/>
          <a:lstStyle/>
          <a:p>
            <a:r>
              <a:rPr lang="en-US" sz="2400" b="1" dirty="0">
                <a:solidFill>
                  <a:srgbClr val="FFFFFF"/>
                </a:solidFill>
                <a:latin typeface="Calibri" pitchFamily="34" charset="0"/>
                <a:ea typeface="Calibri" pitchFamily="34" charset="-122"/>
                <a:cs typeface="Calibri" pitchFamily="34" charset="-120"/>
              </a:rPr>
              <a:t>Reglas de Negocio Incompletas</a:t>
            </a:r>
            <a:endParaRPr lang="en-US" sz="2400" dirty="0"/>
          </a:p>
        </p:txBody>
      </p:sp>
      <p:sp>
        <p:nvSpPr>
          <p:cNvPr id="9" name="Text 7"/>
          <p:cNvSpPr/>
          <p:nvPr/>
        </p:nvSpPr>
        <p:spPr>
          <a:xfrm>
            <a:off x="268224" y="633984"/>
            <a:ext cx="11655552" cy="292608"/>
          </a:xfrm>
          <a:prstGeom prst="rect">
            <a:avLst/>
          </a:prstGeom>
          <a:noFill/>
          <a:ln/>
        </p:spPr>
        <p:txBody>
          <a:bodyPr wrap="square" lIns="0" tIns="0" rIns="0" bIns="0" rtlCol="0" anchor="ctr"/>
          <a:lstStyle/>
          <a:p>
            <a:r>
              <a:rPr lang="en-US" sz="1133" i="1" dirty="0">
                <a:solidFill>
                  <a:srgbClr val="38BDF8"/>
                </a:solidFill>
                <a:latin typeface="Calibri" pitchFamily="34" charset="0"/>
                <a:ea typeface="Calibri" pitchFamily="34" charset="-122"/>
                <a:cs typeface="Calibri" pitchFamily="34" charset="-120"/>
              </a:rPr>
              <a:t>HU5 – Umbral de gasto ambiguo entre Finanzas (10%) y Operaciones (15%) · Sprint 2–3</a:t>
            </a:r>
            <a:endParaRPr lang="en-US" sz="1133" dirty="0"/>
          </a:p>
        </p:txBody>
      </p:sp>
      <p:sp>
        <p:nvSpPr>
          <p:cNvPr id="10" name="Shape 8"/>
          <p:cNvSpPr/>
          <p:nvPr/>
        </p:nvSpPr>
        <p:spPr>
          <a:xfrm>
            <a:off x="85344" y="1036321"/>
            <a:ext cx="12106656" cy="26823"/>
          </a:xfrm>
          <a:prstGeom prst="rect">
            <a:avLst/>
          </a:prstGeom>
          <a:solidFill>
            <a:srgbClr val="38BDF8"/>
          </a:solidFill>
          <a:ln w="12700">
            <a:solidFill>
              <a:srgbClr val="38BDF8"/>
            </a:solidFill>
            <a:prstDash val="solid"/>
          </a:ln>
        </p:spPr>
      </p:sp>
      <p:sp>
        <p:nvSpPr>
          <p:cNvPr id="11" name="Shape 9"/>
          <p:cNvSpPr/>
          <p:nvPr/>
        </p:nvSpPr>
        <p:spPr>
          <a:xfrm>
            <a:off x="268224" y="1133856"/>
            <a:ext cx="5754624" cy="5382768"/>
          </a:xfrm>
          <a:prstGeom prst="rect">
            <a:avLst/>
          </a:prstGeom>
          <a:solidFill>
            <a:srgbClr val="0B1A3A"/>
          </a:solidFill>
          <a:ln w="12700">
            <a:solidFill>
              <a:srgbClr val="38BDF8"/>
            </a:solidFill>
            <a:prstDash val="solid"/>
          </a:ln>
        </p:spPr>
      </p:sp>
      <p:sp>
        <p:nvSpPr>
          <p:cNvPr id="12" name="Shape 10"/>
          <p:cNvSpPr/>
          <p:nvPr/>
        </p:nvSpPr>
        <p:spPr>
          <a:xfrm>
            <a:off x="268224" y="1133856"/>
            <a:ext cx="5754624" cy="36576"/>
          </a:xfrm>
          <a:prstGeom prst="rect">
            <a:avLst/>
          </a:prstGeom>
          <a:solidFill>
            <a:srgbClr val="38BDF8"/>
          </a:solidFill>
          <a:ln w="12700">
            <a:solidFill>
              <a:srgbClr val="38BDF8"/>
            </a:solidFill>
            <a:prstDash val="solid"/>
          </a:ln>
        </p:spPr>
      </p:sp>
      <p:sp>
        <p:nvSpPr>
          <p:cNvPr id="13" name="Text 11"/>
          <p:cNvSpPr/>
          <p:nvPr/>
        </p:nvSpPr>
        <p:spPr>
          <a:xfrm>
            <a:off x="438912" y="1219200"/>
            <a:ext cx="5449824" cy="268224"/>
          </a:xfrm>
          <a:prstGeom prst="rect">
            <a:avLst/>
          </a:prstGeom>
          <a:noFill/>
          <a:ln/>
        </p:spPr>
        <p:txBody>
          <a:bodyPr wrap="square" lIns="0" tIns="0" rIns="0" bIns="0" rtlCol="0" anchor="ctr"/>
          <a:lstStyle/>
          <a:p>
            <a:r>
              <a:rPr lang="en-US" sz="1000" b="1" kern="0" spc="160" dirty="0">
                <a:solidFill>
                  <a:srgbClr val="38BDF8"/>
                </a:solidFill>
                <a:latin typeface="Calibri" pitchFamily="34" charset="0"/>
                <a:ea typeface="Calibri" pitchFamily="34" charset="-122"/>
                <a:cs typeface="Calibri" pitchFamily="34" charset="-120"/>
              </a:rPr>
              <a:t>PO  ·  DECISIONES Y RAZONAMIENTO</a:t>
            </a:r>
            <a:endParaRPr lang="en-US" sz="1000" dirty="0"/>
          </a:p>
        </p:txBody>
      </p:sp>
      <p:sp>
        <p:nvSpPr>
          <p:cNvPr id="14" name="Text 12"/>
          <p:cNvSpPr/>
          <p:nvPr/>
        </p:nvSpPr>
        <p:spPr>
          <a:xfrm>
            <a:off x="438912" y="1536192"/>
            <a:ext cx="5449824" cy="4895088"/>
          </a:xfrm>
          <a:prstGeom prst="rect">
            <a:avLst/>
          </a:prstGeom>
          <a:noFill/>
          <a:ln/>
        </p:spPr>
        <p:txBody>
          <a:bodyPr wrap="square" lIns="0" tIns="0" rIns="0" bIns="0" rtlCol="0" anchor="t"/>
          <a:lstStyle/>
          <a:p>
            <a:pPr>
              <a:lnSpc>
                <a:spcPct val="128000"/>
              </a:lnSpc>
            </a:pPr>
            <a:r>
              <a:rPr lang="en-US" sz="1600" b="1" dirty="0">
                <a:solidFill>
                  <a:srgbClr val="38BDF8"/>
                </a:solidFill>
                <a:latin typeface="Calibri" pitchFamily="34" charset="0"/>
                <a:ea typeface="Calibri" pitchFamily="34" charset="-122"/>
                <a:cs typeface="Calibri" pitchFamily="34" charset="-120"/>
              </a:rPr>
              <a:t>Identifiqué el bloqueador real. </a:t>
            </a:r>
            <a:r>
              <a:rPr lang="en-US" sz="1600" dirty="0">
                <a:solidFill>
                  <a:srgbClr val="E2E8F0"/>
                </a:solidFill>
                <a:latin typeface="Calibri" pitchFamily="34" charset="0"/>
                <a:ea typeface="Calibri" pitchFamily="34" charset="-122"/>
                <a:cs typeface="Calibri" pitchFamily="34" charset="-120"/>
              </a:rPr>
              <a:t>El equipo no podía programar el motor de reglas porque la regla de negocio no existía como decisión cerrada: existía como opinión de dos áreas. El </a:t>
            </a:r>
            <a:r>
              <a:rPr lang="es-ES_tradnl" sz="1600" dirty="0">
                <a:solidFill>
                  <a:srgbClr val="E2E8F0"/>
                </a:solidFill>
                <a:latin typeface="Calibri" pitchFamily="34" charset="0"/>
                <a:ea typeface="Calibri" pitchFamily="34" charset="-122"/>
                <a:cs typeface="Calibri" pitchFamily="34" charset="-120"/>
              </a:rPr>
              <a:t>objetivo</a:t>
            </a:r>
            <a:r>
              <a:rPr lang="en-US" sz="1600" dirty="0">
                <a:solidFill>
                  <a:srgbClr val="E2E8F0"/>
                </a:solidFill>
                <a:latin typeface="Calibri" pitchFamily="34" charset="0"/>
                <a:ea typeface="Calibri" pitchFamily="34" charset="-122"/>
                <a:cs typeface="Calibri" pitchFamily="34" charset="-120"/>
              </a:rPr>
              <a:t> </a:t>
            </a:r>
            <a:r>
              <a:rPr lang="en-US" sz="1600" dirty="0" err="1">
                <a:solidFill>
                  <a:srgbClr val="E2E8F0"/>
                </a:solidFill>
                <a:latin typeface="Calibri" pitchFamily="34" charset="0"/>
                <a:ea typeface="Calibri" pitchFamily="34" charset="-122"/>
                <a:cs typeface="Calibri" pitchFamily="34" charset="-120"/>
              </a:rPr>
              <a:t>tambien</a:t>
            </a:r>
            <a:r>
              <a:rPr lang="en-US" sz="1600" dirty="0">
                <a:solidFill>
                  <a:srgbClr val="E2E8F0"/>
                </a:solidFill>
                <a:latin typeface="Calibri" pitchFamily="34" charset="0"/>
                <a:ea typeface="Calibri" pitchFamily="34" charset="-122"/>
                <a:cs typeface="Calibri" pitchFamily="34" charset="-120"/>
              </a:rPr>
              <a:t> era no elegir yo el porcentaje, sino forzar a que los dueños del dato decidieran con una fecha límite.
</a:t>
            </a:r>
            <a:r>
              <a:rPr lang="en-US" sz="1600" b="1" dirty="0">
                <a:solidFill>
                  <a:srgbClr val="38BDF8"/>
                </a:solidFill>
                <a:latin typeface="Calibri" pitchFamily="34" charset="0"/>
                <a:ea typeface="Calibri" pitchFamily="34" charset="-122"/>
                <a:cs typeface="Calibri" pitchFamily="34" charset="-120"/>
              </a:rPr>
              <a:t>Gestioné la decision. </a:t>
            </a:r>
            <a:r>
              <a:rPr lang="en-US" sz="1600" dirty="0" err="1">
                <a:solidFill>
                  <a:srgbClr val="E2E8F0"/>
                </a:solidFill>
                <a:latin typeface="Calibri" pitchFamily="34" charset="0"/>
                <a:ea typeface="Calibri" pitchFamily="34" charset="-122"/>
                <a:cs typeface="Calibri" pitchFamily="34" charset="-120"/>
              </a:rPr>
              <a:t>Convocar</a:t>
            </a:r>
            <a:r>
              <a:rPr lang="en-US" sz="1600" dirty="0">
                <a:solidFill>
                  <a:srgbClr val="E2E8F0"/>
                </a:solidFill>
                <a:latin typeface="Calibri" pitchFamily="34" charset="0"/>
                <a:ea typeface="Calibri" pitchFamily="34" charset="-122"/>
                <a:cs typeface="Calibri" pitchFamily="34" charset="-120"/>
              </a:rPr>
              <a:t> a Gerente de </a:t>
            </a:r>
            <a:r>
              <a:rPr lang="en-US" sz="1600" dirty="0" err="1">
                <a:solidFill>
                  <a:srgbClr val="E2E8F0"/>
                </a:solidFill>
                <a:latin typeface="Calibri" pitchFamily="34" charset="0"/>
                <a:ea typeface="Calibri" pitchFamily="34" charset="-122"/>
                <a:cs typeface="Calibri" pitchFamily="34" charset="-120"/>
              </a:rPr>
              <a:t>Finanzas</a:t>
            </a:r>
            <a:r>
              <a:rPr lang="en-US" sz="1600" dirty="0">
                <a:solidFill>
                  <a:srgbClr val="E2E8F0"/>
                </a:solidFill>
                <a:latin typeface="Calibri" pitchFamily="34" charset="0"/>
                <a:ea typeface="Calibri" pitchFamily="34" charset="-122"/>
                <a:cs typeface="Calibri" pitchFamily="34" charset="-120"/>
              </a:rPr>
              <a:t>  y al líder de Operaciones a una reunión de 30 minutos con un único entregable: validar el umbral y firmarlo. Resultado: 110% como valor único y parametrizable. Aprendizaje clave: el PO no resuelve ambigüedades de negocio solo, las escala al dueño correcto con tiempo límite explícito.
</a:t>
            </a:r>
            <a:r>
              <a:rPr lang="en-US" sz="1093" dirty="0">
                <a:solidFill>
                  <a:srgbClr val="E2E8F0"/>
                </a:solidFill>
                <a:latin typeface="Calibri" pitchFamily="34" charset="0"/>
                <a:ea typeface="Calibri" pitchFamily="34" charset="-122"/>
                <a:cs typeface="Calibri" pitchFamily="34" charset="-120"/>
              </a:rPr>
              <a:t>
.</a:t>
            </a:r>
            <a:endParaRPr lang="en-US" sz="1093" dirty="0"/>
          </a:p>
        </p:txBody>
      </p:sp>
      <p:sp>
        <p:nvSpPr>
          <p:cNvPr id="15" name="Shape 13"/>
          <p:cNvSpPr/>
          <p:nvPr/>
        </p:nvSpPr>
        <p:spPr>
          <a:xfrm>
            <a:off x="6169152" y="1133856"/>
            <a:ext cx="5754624" cy="5382768"/>
          </a:xfrm>
          <a:prstGeom prst="rect">
            <a:avLst/>
          </a:prstGeom>
          <a:solidFill>
            <a:srgbClr val="091428"/>
          </a:solidFill>
          <a:ln w="12700">
            <a:solidFill>
              <a:srgbClr val="FBBF24"/>
            </a:solidFill>
            <a:prstDash val="solid"/>
          </a:ln>
        </p:spPr>
      </p:sp>
      <p:sp>
        <p:nvSpPr>
          <p:cNvPr id="16" name="Shape 14"/>
          <p:cNvSpPr/>
          <p:nvPr/>
        </p:nvSpPr>
        <p:spPr>
          <a:xfrm>
            <a:off x="6169152" y="1133856"/>
            <a:ext cx="5754624" cy="36576"/>
          </a:xfrm>
          <a:prstGeom prst="rect">
            <a:avLst/>
          </a:prstGeom>
          <a:solidFill>
            <a:srgbClr val="FBBF24"/>
          </a:solidFill>
          <a:ln w="12700">
            <a:solidFill>
              <a:srgbClr val="FBBF24"/>
            </a:solidFill>
            <a:prstDash val="solid"/>
          </a:ln>
        </p:spPr>
      </p:sp>
      <p:sp>
        <p:nvSpPr>
          <p:cNvPr id="17" name="Text 15"/>
          <p:cNvSpPr/>
          <p:nvPr/>
        </p:nvSpPr>
        <p:spPr>
          <a:xfrm>
            <a:off x="6339840" y="1219200"/>
            <a:ext cx="5449824" cy="268224"/>
          </a:xfrm>
          <a:prstGeom prst="rect">
            <a:avLst/>
          </a:prstGeom>
          <a:noFill/>
          <a:ln/>
        </p:spPr>
        <p:txBody>
          <a:bodyPr wrap="square" lIns="0" tIns="0" rIns="0" bIns="0" rtlCol="0" anchor="ctr"/>
          <a:lstStyle/>
          <a:p>
            <a:r>
              <a:rPr lang="en-US" sz="1000" b="1" kern="0" spc="160" dirty="0">
                <a:solidFill>
                  <a:srgbClr val="FBBF24"/>
                </a:solidFill>
                <a:latin typeface="Calibri" pitchFamily="34" charset="0"/>
                <a:ea typeface="Calibri" pitchFamily="34" charset="-122"/>
                <a:cs typeface="Calibri" pitchFamily="34" charset="-120"/>
              </a:rPr>
              <a:t>PUNTOS CLAVE </a:t>
            </a:r>
            <a:endParaRPr lang="en-US" sz="1000" dirty="0"/>
          </a:p>
        </p:txBody>
      </p:sp>
      <p:sp>
        <p:nvSpPr>
          <p:cNvPr id="18" name="Text 16"/>
          <p:cNvSpPr/>
          <p:nvPr/>
        </p:nvSpPr>
        <p:spPr>
          <a:xfrm>
            <a:off x="6339840" y="1536192"/>
            <a:ext cx="5449824" cy="4895088"/>
          </a:xfrm>
          <a:prstGeom prst="rect">
            <a:avLst/>
          </a:prstGeom>
          <a:noFill/>
          <a:ln/>
        </p:spPr>
        <p:txBody>
          <a:bodyPr wrap="square" lIns="0" tIns="0" rIns="0" bIns="0" rtlCol="0" anchor="t"/>
          <a:lstStyle/>
          <a:p>
            <a:pPr>
              <a:lnSpc>
                <a:spcPct val="128000"/>
              </a:lnSpc>
            </a:pP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Patrón identificado: </a:t>
            </a:r>
            <a:r>
              <a:rPr lang="en-US" sz="1093" dirty="0">
                <a:solidFill>
                  <a:srgbClr val="E2E8F0"/>
                </a:solidFill>
                <a:latin typeface="Calibri" pitchFamily="34" charset="0"/>
                <a:ea typeface="Calibri" pitchFamily="34" charset="-122"/>
                <a:cs typeface="Calibri" pitchFamily="34" charset="-120"/>
              </a:rPr>
              <a:t>Las reglas de negocio 'conocidas' raramente están escritas. Siempre preguntar: ¿quién es el dueño de esta regla y está documentada?
</a:t>
            </a: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Herramienta usada: </a:t>
            </a:r>
            <a:r>
              <a:rPr lang="en-US" sz="1093" dirty="0">
                <a:solidFill>
                  <a:srgbClr val="E2E8F0"/>
                </a:solidFill>
                <a:latin typeface="Calibri" pitchFamily="34" charset="0"/>
                <a:ea typeface="Calibri" pitchFamily="34" charset="-122"/>
                <a:cs typeface="Calibri" pitchFamily="34" charset="-120"/>
              </a:rPr>
              <a:t>Supuesto declarado con fecha límite + escalación al dueño correcto. Sin esto, el Sprint habría esperado indefinidamente.
</a:t>
            </a: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Error a no repetir: </a:t>
            </a:r>
            <a:r>
              <a:rPr lang="en-US" sz="1093" dirty="0">
                <a:solidFill>
                  <a:srgbClr val="E2E8F0"/>
                </a:solidFill>
                <a:latin typeface="Calibri" pitchFamily="34" charset="0"/>
                <a:ea typeface="Calibri" pitchFamily="34" charset="-122"/>
                <a:cs typeface="Calibri" pitchFamily="34" charset="-120"/>
              </a:rPr>
              <a:t>Asumir que Finanzas y Operaciones están alineadas sin verificarlo. Próxima vez: validar reglas de negocio con ambas áreas antes de escribir la HU, no durante el sprint.
</a:t>
            </a: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Decisión que funcionó: </a:t>
            </a:r>
            <a:r>
              <a:rPr lang="en-US" sz="1093" dirty="0">
                <a:solidFill>
                  <a:srgbClr val="E2E8F0"/>
                </a:solidFill>
                <a:latin typeface="Calibri" pitchFamily="34" charset="0"/>
                <a:ea typeface="Calibri" pitchFamily="34" charset="-122"/>
                <a:cs typeface="Calibri" pitchFamily="34" charset="-120"/>
              </a:rPr>
              <a:t>Convertir </a:t>
            </a:r>
            <a:r>
              <a:rPr lang="en-US" sz="1093" dirty="0" err="1">
                <a:solidFill>
                  <a:srgbClr val="E2E8F0"/>
                </a:solidFill>
                <a:latin typeface="Calibri" pitchFamily="34" charset="0"/>
                <a:ea typeface="Calibri" pitchFamily="34" charset="-122"/>
                <a:cs typeface="Calibri" pitchFamily="34" charset="-120"/>
              </a:rPr>
              <a:t>el</a:t>
            </a:r>
            <a:r>
              <a:rPr lang="en-US" sz="1093" dirty="0">
                <a:solidFill>
                  <a:srgbClr val="E2E8F0"/>
                </a:solidFill>
                <a:latin typeface="Calibri" pitchFamily="34" charset="0"/>
                <a:ea typeface="Calibri" pitchFamily="34" charset="-122"/>
                <a:cs typeface="Calibri" pitchFamily="34" charset="-120"/>
              </a:rPr>
              <a:t> threshold en parametrizable desde panel admin. Esto protegió el sistema ante futuros cambios de política sin necesidad de redeploy.
</a:t>
            </a: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Señal de alerta temprana: </a:t>
            </a:r>
            <a:r>
              <a:rPr lang="en-US" sz="1093" dirty="0">
                <a:solidFill>
                  <a:srgbClr val="E2E8F0"/>
                </a:solidFill>
                <a:latin typeface="Calibri" pitchFamily="34" charset="0"/>
                <a:ea typeface="Calibri" pitchFamily="34" charset="-122"/>
                <a:cs typeface="Calibri" pitchFamily="34" charset="-120"/>
              </a:rPr>
              <a:t>Cuando dos áreas dan respuestas distintas a la misma pregunta de negocio, hay una HU que no está lista para entrar al sprint. Criterio de Ready incompleto.</a:t>
            </a:r>
            <a:endParaRPr lang="en-US" sz="1200" dirty="0"/>
          </a:p>
        </p:txBody>
      </p:sp>
      <p:sp>
        <p:nvSpPr>
          <p:cNvPr id="19" name="Shape 17"/>
          <p:cNvSpPr/>
          <p:nvPr/>
        </p:nvSpPr>
        <p:spPr>
          <a:xfrm>
            <a:off x="0" y="6699504"/>
            <a:ext cx="12192000" cy="158496"/>
          </a:xfrm>
          <a:prstGeom prst="rect">
            <a:avLst/>
          </a:prstGeom>
          <a:solidFill>
            <a:srgbClr val="1246B3"/>
          </a:solidFill>
          <a:ln w="12700">
            <a:solidFill>
              <a:srgbClr val="1246B3"/>
            </a:solidFill>
            <a:prstDash val="solid"/>
          </a:ln>
        </p:spPr>
      </p:sp>
      <p:sp>
        <p:nvSpPr>
          <p:cNvPr id="20" name="Text 18"/>
          <p:cNvSpPr/>
          <p:nvPr/>
        </p:nvSpPr>
        <p:spPr>
          <a:xfrm>
            <a:off x="243840" y="6565392"/>
            <a:ext cx="11704320" cy="158496"/>
          </a:xfrm>
          <a:prstGeom prst="rect">
            <a:avLst/>
          </a:prstGeom>
          <a:noFill/>
          <a:ln/>
        </p:spPr>
        <p:txBody>
          <a:bodyPr wrap="square" lIns="0" tIns="0" rIns="0" bIns="0" rtlCol="0" anchor="ctr"/>
          <a:lstStyle/>
          <a:p>
            <a:r>
              <a:rPr lang="en-US" sz="800" i="1" dirty="0">
                <a:solidFill>
                  <a:srgbClr val="475569"/>
                </a:solidFill>
                <a:latin typeface="Calibri" pitchFamily="34" charset="0"/>
                <a:ea typeface="Calibri" pitchFamily="34" charset="-122"/>
                <a:cs typeface="Calibri" pitchFamily="34" charset="-120"/>
              </a:rPr>
              <a:t>Gabriel Sandoval G.  ·  Product Owner  ·  ABP Módulo 5  ·  Rediseño Flujo Viáticos  ·  Caso 1 – Reglas de Negocio Incompletas  ·  Registro de Autofeedback</a:t>
            </a:r>
            <a:endParaRPr lang="en-US" sz="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2286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3 – CASO 1</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Reglas de negocio incompletas</a:t>
            </a:r>
            <a:endParaRPr lang="en-US" sz="2100"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400" i="1" dirty="0">
                <a:solidFill>
                  <a:srgbClr val="38BDF8"/>
                </a:solidFill>
                <a:latin typeface="Calibri" pitchFamily="34" charset="0"/>
                <a:ea typeface="Calibri" pitchFamily="34" charset="-122"/>
                <a:cs typeface="Calibri" pitchFamily="34" charset="-120"/>
              </a:rPr>
              <a:t>Refinamiento del Backlog</a:t>
            </a:r>
            <a:endParaRPr lang="en-US" sz="14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Shape 7"/>
          <p:cNvSpPr/>
          <p:nvPr/>
        </p:nvSpPr>
        <p:spPr>
          <a:xfrm>
            <a:off x="0" y="6720840"/>
            <a:ext cx="12188952" cy="137160"/>
          </a:xfrm>
          <a:prstGeom prst="rect">
            <a:avLst/>
          </a:prstGeom>
          <a:solidFill>
            <a:srgbClr val="1246B3"/>
          </a:solidFill>
          <a:ln w="12700">
            <a:solidFill>
              <a:srgbClr val="1246B3"/>
            </a:solidFill>
            <a:prstDash val="solid"/>
          </a:ln>
        </p:spPr>
      </p:sp>
      <p:sp>
        <p:nvSpPr>
          <p:cNvPr id="10" name="Text 8"/>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14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1400" dirty="0"/>
          </a:p>
        </p:txBody>
      </p:sp>
      <p:sp>
        <p:nvSpPr>
          <p:cNvPr id="11" name="Shape 9"/>
          <p:cNvSpPr/>
          <p:nvPr/>
        </p:nvSpPr>
        <p:spPr>
          <a:xfrm>
            <a:off x="201168" y="1017270"/>
            <a:ext cx="5760720" cy="5559552"/>
          </a:xfrm>
          <a:prstGeom prst="rect">
            <a:avLst/>
          </a:prstGeom>
          <a:solidFill>
            <a:srgbClr val="0D1B3E"/>
          </a:solidFill>
          <a:ln w="12700">
            <a:solidFill>
              <a:srgbClr val="38BDF8"/>
            </a:solidFill>
            <a:prstDash val="solid"/>
          </a:ln>
        </p:spPr>
      </p:sp>
      <p:sp>
        <p:nvSpPr>
          <p:cNvPr id="12" name="Shape 10"/>
          <p:cNvSpPr/>
          <p:nvPr/>
        </p:nvSpPr>
        <p:spPr>
          <a:xfrm>
            <a:off x="201168" y="1005840"/>
            <a:ext cx="5760720" cy="32004"/>
          </a:xfrm>
          <a:prstGeom prst="rect">
            <a:avLst/>
          </a:prstGeom>
          <a:solidFill>
            <a:srgbClr val="38BDF8"/>
          </a:solidFill>
          <a:ln w="12700">
            <a:solidFill>
              <a:srgbClr val="38BDF8"/>
            </a:solidFill>
            <a:prstDash val="solid"/>
          </a:ln>
        </p:spPr>
      </p:sp>
      <p:sp>
        <p:nvSpPr>
          <p:cNvPr id="13" name="Text 11"/>
          <p:cNvSpPr/>
          <p:nvPr/>
        </p:nvSpPr>
        <p:spPr>
          <a:xfrm>
            <a:off x="347472" y="1078992"/>
            <a:ext cx="5486400" cy="237744"/>
          </a:xfrm>
          <a:prstGeom prst="rect">
            <a:avLst/>
          </a:prstGeom>
          <a:noFill/>
          <a:ln/>
        </p:spPr>
        <p:txBody>
          <a:bodyPr wrap="square" lIns="0" tIns="0" rIns="0" bIns="0" rtlCol="0" anchor="ctr"/>
          <a:lstStyle/>
          <a:p>
            <a:pPr marL="0" indent="0">
              <a:buNone/>
            </a:pPr>
            <a:r>
              <a:rPr lang="en-US" sz="1400" b="1" kern="0" spc="120" dirty="0">
                <a:solidFill>
                  <a:srgbClr val="38BDF8"/>
                </a:solidFill>
                <a:latin typeface="Calibri" pitchFamily="34" charset="0"/>
                <a:ea typeface="Calibri" pitchFamily="34" charset="-122"/>
                <a:cs typeface="Calibri" pitchFamily="34" charset="-120"/>
              </a:rPr>
              <a:t>RESOLUCIÓN APLICADA AL PROYECTO</a:t>
            </a:r>
            <a:endParaRPr lang="en-US" sz="1400" dirty="0"/>
          </a:p>
        </p:txBody>
      </p:sp>
      <p:sp>
        <p:nvSpPr>
          <p:cNvPr id="14" name="Text 12"/>
          <p:cNvSpPr/>
          <p:nvPr/>
        </p:nvSpPr>
        <p:spPr>
          <a:xfrm>
            <a:off x="347472" y="1371600"/>
            <a:ext cx="5486400" cy="5029200"/>
          </a:xfrm>
          <a:prstGeom prst="rect">
            <a:avLst/>
          </a:prstGeom>
          <a:noFill/>
          <a:ln/>
        </p:spPr>
        <p:txBody>
          <a:bodyPr wrap="square" lIns="0" tIns="0" rIns="0" bIns="0" rtlCol="0" anchor="t"/>
          <a:lstStyle/>
          <a:p>
            <a:pPr marL="0" indent="0">
              <a:lnSpc>
                <a:spcPct val="128000"/>
              </a:lnSpc>
              <a:buNone/>
            </a:pPr>
            <a:r>
              <a:rPr lang="en-US" sz="1400" b="1" dirty="0">
                <a:solidFill>
                  <a:srgbClr val="38BDF8"/>
                </a:solidFill>
                <a:latin typeface="Calibri" pitchFamily="34" charset="0"/>
                <a:ea typeface="Calibri" pitchFamily="34" charset="-122"/>
                <a:cs typeface="Calibri" pitchFamily="34" charset="-120"/>
              </a:rPr>
              <a:t>Resolución: </a:t>
            </a:r>
            <a:r>
              <a:rPr lang="en-US" sz="1400" dirty="0">
                <a:solidFill>
                  <a:srgbClr val="E2E8F0"/>
                </a:solidFill>
                <a:latin typeface="Calibri" pitchFamily="34" charset="0"/>
                <a:ea typeface="Calibri" pitchFamily="34" charset="-122"/>
                <a:cs typeface="Calibri" pitchFamily="34" charset="-120"/>
              </a:rPr>
              <a:t> HU5 tenía regla ambigua sobre exceso de gasto. Finanzas decía &gt;10%, Operaciones &gt;15%. El equipo no podía programar el motor de reglas sin una decisión cerrada.
</a:t>
            </a:r>
            <a:r>
              <a:rPr lang="en-US" sz="1400" b="1" dirty="0">
                <a:solidFill>
                  <a:srgbClr val="38BDF8"/>
                </a:solidFill>
                <a:latin typeface="Calibri" pitchFamily="34" charset="0"/>
                <a:ea typeface="Calibri" pitchFamily="34" charset="-122"/>
                <a:cs typeface="Calibri" pitchFamily="34" charset="-120"/>
              </a:rPr>
              <a:t>Escenarios definidos: </a:t>
            </a:r>
            <a:r>
              <a:rPr lang="en-US" sz="1400" dirty="0">
                <a:solidFill>
                  <a:srgbClr val="E2E8F0"/>
                </a:solidFill>
                <a:latin typeface="Calibri" pitchFamily="34" charset="0"/>
                <a:ea typeface="Calibri" pitchFamily="34" charset="-122"/>
                <a:cs typeface="Calibri" pitchFamily="34" charset="-120"/>
              </a:rPr>
              <a:t> Estándar: gasto ≤ límite → aprobación automática &lt;5 seg. Excepción: 100%-110% → notificación supervisor, 24h plazo. Bloqueo: &gt;110% → rechazo automático + notificación con timestamp.
</a:t>
            </a:r>
            <a:r>
              <a:rPr lang="en-US" sz="1400" b="1" dirty="0">
                <a:solidFill>
                  <a:srgbClr val="38BDF8"/>
                </a:solidFill>
                <a:latin typeface="Calibri" pitchFamily="34" charset="0"/>
                <a:ea typeface="Calibri" pitchFamily="34" charset="-122"/>
                <a:cs typeface="Calibri" pitchFamily="34" charset="-120"/>
              </a:rPr>
              <a:t>Supuesto declarado: </a:t>
            </a:r>
            <a:r>
              <a:rPr lang="en-US" sz="1400" dirty="0">
                <a:solidFill>
                  <a:srgbClr val="E2E8F0"/>
                </a:solidFill>
                <a:latin typeface="Calibri" pitchFamily="34" charset="0"/>
                <a:ea typeface="Calibri" pitchFamily="34" charset="-122"/>
                <a:cs typeface="Calibri" pitchFamily="34" charset="-120"/>
              </a:rPr>
              <a:t> Si la definición no llega antes del Sprint 3, se implementa umbral 110% como valor por defecto configurable (parametrizable ).</a:t>
            </a:r>
            <a:endParaRPr lang="en-US" sz="1400" dirty="0"/>
          </a:p>
        </p:txBody>
      </p:sp>
      <p:sp>
        <p:nvSpPr>
          <p:cNvPr id="15" name="Shape 13"/>
          <p:cNvSpPr/>
          <p:nvPr/>
        </p:nvSpPr>
        <p:spPr>
          <a:xfrm>
            <a:off x="6144768" y="1005840"/>
            <a:ext cx="5852160" cy="5559552"/>
          </a:xfrm>
          <a:prstGeom prst="rect">
            <a:avLst/>
          </a:prstGeom>
          <a:solidFill>
            <a:srgbClr val="091428"/>
          </a:solidFill>
          <a:ln w="12700">
            <a:solidFill>
              <a:srgbClr val="FBBF24"/>
            </a:solidFill>
            <a:prstDash val="solid"/>
          </a:ln>
        </p:spPr>
      </p:sp>
      <p:sp>
        <p:nvSpPr>
          <p:cNvPr id="16" name="Shape 14"/>
          <p:cNvSpPr/>
          <p:nvPr/>
        </p:nvSpPr>
        <p:spPr>
          <a:xfrm>
            <a:off x="6144768" y="1005840"/>
            <a:ext cx="5852160" cy="32004"/>
          </a:xfrm>
          <a:prstGeom prst="rect">
            <a:avLst/>
          </a:prstGeom>
          <a:solidFill>
            <a:srgbClr val="FBBF24"/>
          </a:solidFill>
          <a:ln w="12700">
            <a:solidFill>
              <a:srgbClr val="FBBF24"/>
            </a:solidFill>
            <a:prstDash val="solid"/>
          </a:ln>
        </p:spPr>
      </p:sp>
      <p:sp>
        <p:nvSpPr>
          <p:cNvPr id="17" name="Text 15"/>
          <p:cNvSpPr/>
          <p:nvPr/>
        </p:nvSpPr>
        <p:spPr>
          <a:xfrm>
            <a:off x="6291072" y="1078992"/>
            <a:ext cx="5623560" cy="237744"/>
          </a:xfrm>
          <a:prstGeom prst="rect">
            <a:avLst/>
          </a:prstGeom>
          <a:noFill/>
          <a:ln/>
        </p:spPr>
        <p:txBody>
          <a:bodyPr wrap="square" lIns="0" tIns="0" rIns="0" bIns="0" rtlCol="0" anchor="ctr"/>
          <a:lstStyle/>
          <a:p>
            <a:pPr marL="0" indent="0">
              <a:buNone/>
            </a:pPr>
            <a:r>
              <a:rPr lang="en-US" sz="1400" b="1" kern="0" spc="120" dirty="0">
                <a:solidFill>
                  <a:srgbClr val="FBBF24"/>
                </a:solidFill>
                <a:latin typeface="Calibri" pitchFamily="34" charset="0"/>
                <a:ea typeface="Calibri" pitchFamily="34" charset="-122"/>
                <a:cs typeface="Calibri" pitchFamily="34" charset="-120"/>
              </a:rPr>
              <a:t>BACKLOG ACTUALIZADO </a:t>
            </a:r>
            <a:endParaRPr lang="en-US" sz="1400" dirty="0"/>
          </a:p>
        </p:txBody>
      </p:sp>
      <p:sp>
        <p:nvSpPr>
          <p:cNvPr id="18" name="Text 16"/>
          <p:cNvSpPr/>
          <p:nvPr/>
        </p:nvSpPr>
        <p:spPr>
          <a:xfrm>
            <a:off x="6291072" y="1371600"/>
            <a:ext cx="5623560" cy="5029200"/>
          </a:xfrm>
          <a:prstGeom prst="rect">
            <a:avLst/>
          </a:prstGeom>
          <a:noFill/>
          <a:ln/>
        </p:spPr>
        <p:txBody>
          <a:bodyPr wrap="square" lIns="0" tIns="0" rIns="0" bIns="0" rtlCol="0" anchor="t"/>
          <a:lstStyle/>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HU5 – Story Points: </a:t>
            </a:r>
            <a:r>
              <a:rPr lang="en-US" sz="1400" dirty="0">
                <a:solidFill>
                  <a:srgbClr val="E2E8F0"/>
                </a:solidFill>
                <a:latin typeface="Calibri" pitchFamily="34" charset="0"/>
                <a:ea typeface="Calibri" pitchFamily="34" charset="-122"/>
                <a:cs typeface="Calibri" pitchFamily="34" charset="-120"/>
              </a:rPr>
              <a:t> ajustados de 8 SP a 10 SP por complejidad de 3 escenarios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HU5 – CA-01 ACTUALIZADO: </a:t>
            </a:r>
            <a:r>
              <a:rPr lang="en-US" sz="1400" dirty="0">
                <a:solidFill>
                  <a:srgbClr val="E2E8F0"/>
                </a:solidFill>
                <a:latin typeface="Calibri" pitchFamily="34" charset="0"/>
                <a:ea typeface="Calibri" pitchFamily="34" charset="-122"/>
                <a:cs typeface="Calibri" pitchFamily="34" charset="-120"/>
              </a:rPr>
              <a:t> 'Si gasto &gt;110% → rechazo automático &lt;5 seg + notificación push + log auditoría con timestamp'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HU5 – CA-02 NUEVO: </a:t>
            </a:r>
            <a:r>
              <a:rPr lang="en-US" sz="1400" dirty="0">
                <a:solidFill>
                  <a:srgbClr val="E2E8F0"/>
                </a:solidFill>
                <a:latin typeface="Calibri" pitchFamily="34" charset="0"/>
                <a:ea typeface="Calibri" pitchFamily="34" charset="-122"/>
                <a:cs typeface="Calibri" pitchFamily="34" charset="-120"/>
              </a:rPr>
              <a:t> 'Si gasto entre 100%-110% → notificación supervisor en &lt;2 min; 24h para aprobar; escala automáticamente al cargo superior </a:t>
            </a:r>
            <a:r>
              <a:rPr lang="en-US" sz="1400" dirty="0" err="1">
                <a:solidFill>
                  <a:srgbClr val="E2E8F0"/>
                </a:solidFill>
                <a:latin typeface="Calibri" pitchFamily="34" charset="0"/>
                <a:ea typeface="Calibri" pitchFamily="34" charset="-122"/>
                <a:cs typeface="Calibri" pitchFamily="34" charset="-120"/>
              </a:rPr>
              <a:t>siguiente</a:t>
            </a:r>
            <a:r>
              <a:rPr lang="en-US" sz="1400" dirty="0">
                <a:solidFill>
                  <a:srgbClr val="E2E8F0"/>
                </a:solidFill>
                <a:latin typeface="Calibri" pitchFamily="34" charset="0"/>
                <a:ea typeface="Calibri" pitchFamily="34" charset="-122"/>
                <a:cs typeface="Calibri" pitchFamily="34" charset="-120"/>
              </a:rPr>
              <a:t> si no responde'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Tarea SMART nueva: </a:t>
            </a:r>
            <a:r>
              <a:rPr lang="en-US" sz="1400" dirty="0">
                <a:solidFill>
                  <a:srgbClr val="E2E8F0"/>
                </a:solidFill>
                <a:latin typeface="Calibri" pitchFamily="34" charset="0"/>
                <a:ea typeface="Calibri" pitchFamily="34" charset="-122"/>
                <a:cs typeface="Calibri" pitchFamily="34" charset="-120"/>
              </a:rPr>
              <a:t> Panel de configuración de umbrales parametrizable – Dev Backend – 3 SP – Sprint 3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Decisión pendiente cerrada: </a:t>
            </a:r>
            <a:r>
              <a:rPr lang="en-US" sz="1400" dirty="0">
                <a:solidFill>
                  <a:srgbClr val="E2E8F0"/>
                </a:solidFill>
                <a:latin typeface="Calibri" pitchFamily="34" charset="0"/>
                <a:ea typeface="Calibri" pitchFamily="34" charset="-122"/>
                <a:cs typeface="Calibri" pitchFamily="34" charset="-120"/>
              </a:rPr>
              <a:t> </a:t>
            </a:r>
            <a:r>
              <a:rPr lang="en-US" sz="1400" dirty="0" err="1">
                <a:solidFill>
                  <a:srgbClr val="E2E8F0"/>
                </a:solidFill>
                <a:latin typeface="Calibri" pitchFamily="34" charset="0"/>
                <a:ea typeface="Calibri" pitchFamily="34" charset="-122"/>
                <a:cs typeface="Calibri" pitchFamily="34" charset="-120"/>
              </a:rPr>
              <a:t>Trheshold</a:t>
            </a:r>
            <a:r>
              <a:rPr lang="en-US" sz="1400" dirty="0">
                <a:solidFill>
                  <a:srgbClr val="E2E8F0"/>
                </a:solidFill>
                <a:latin typeface="Calibri" pitchFamily="34" charset="0"/>
                <a:ea typeface="Calibri" pitchFamily="34" charset="-122"/>
                <a:cs typeface="Calibri" pitchFamily="34" charset="-120"/>
              </a:rPr>
              <a:t> 110% validado por </a:t>
            </a:r>
            <a:r>
              <a:rPr lang="en-US" sz="1400" dirty="0" err="1">
                <a:solidFill>
                  <a:srgbClr val="E2E8F0"/>
                </a:solidFill>
                <a:latin typeface="Calibri" pitchFamily="34" charset="0"/>
                <a:ea typeface="Calibri" pitchFamily="34" charset="-122"/>
                <a:cs typeface="Calibri" pitchFamily="34" charset="-120"/>
              </a:rPr>
              <a:t>Gerente</a:t>
            </a:r>
            <a:r>
              <a:rPr lang="en-US" sz="1400" dirty="0">
                <a:solidFill>
                  <a:srgbClr val="E2E8F0"/>
                </a:solidFill>
                <a:latin typeface="Calibri" pitchFamily="34" charset="0"/>
                <a:ea typeface="Calibri" pitchFamily="34" charset="-122"/>
                <a:cs typeface="Calibri" pitchFamily="34" charset="-120"/>
              </a:rPr>
              <a:t> de </a:t>
            </a:r>
            <a:r>
              <a:rPr lang="en-US" sz="1400" dirty="0" err="1">
                <a:solidFill>
                  <a:srgbClr val="E2E8F0"/>
                </a:solidFill>
                <a:latin typeface="Calibri" pitchFamily="34" charset="0"/>
                <a:ea typeface="Calibri" pitchFamily="34" charset="-122"/>
                <a:cs typeface="Calibri" pitchFamily="34" charset="-120"/>
              </a:rPr>
              <a:t>Administracion</a:t>
            </a:r>
            <a:r>
              <a:rPr lang="en-US" sz="1400" dirty="0">
                <a:solidFill>
                  <a:srgbClr val="E2E8F0"/>
                </a:solidFill>
                <a:latin typeface="Calibri" pitchFamily="34" charset="0"/>
                <a:ea typeface="Calibri" pitchFamily="34" charset="-122"/>
                <a:cs typeface="Calibri" pitchFamily="34" charset="-120"/>
              </a:rPr>
              <a:t> </a:t>
            </a:r>
            <a:r>
              <a:rPr lang="en-US" sz="1400" dirty="0" err="1">
                <a:solidFill>
                  <a:srgbClr val="E2E8F0"/>
                </a:solidFill>
                <a:latin typeface="Calibri" pitchFamily="34" charset="0"/>
                <a:ea typeface="Calibri" pitchFamily="34" charset="-122"/>
                <a:cs typeface="Calibri" pitchFamily="34" charset="-120"/>
              </a:rPr>
              <a:t>Finanzas</a:t>
            </a:r>
            <a:r>
              <a:rPr lang="en-US" sz="1400" dirty="0">
                <a:solidFill>
                  <a:srgbClr val="E2E8F0"/>
                </a:solidFill>
                <a:latin typeface="Calibri" pitchFamily="34" charset="0"/>
                <a:ea typeface="Calibri" pitchFamily="34" charset="-122"/>
                <a:cs typeface="Calibri" pitchFamily="34" charset="-120"/>
              </a:rPr>
              <a:t>, registrado en Jira </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85344" cy="6858000"/>
          </a:xfrm>
          <a:prstGeom prst="rect">
            <a:avLst/>
          </a:prstGeom>
          <a:solidFill>
            <a:srgbClr val="34D399"/>
          </a:solidFill>
          <a:ln w="12700">
            <a:solidFill>
              <a:srgbClr val="34D399"/>
            </a:solidFill>
            <a:prstDash val="solid"/>
          </a:ln>
        </p:spPr>
      </p:sp>
      <p:sp>
        <p:nvSpPr>
          <p:cNvPr id="3" name="Shape 1"/>
          <p:cNvSpPr/>
          <p:nvPr/>
        </p:nvSpPr>
        <p:spPr>
          <a:xfrm>
            <a:off x="85344" y="0"/>
            <a:ext cx="12106656" cy="1036320"/>
          </a:xfrm>
          <a:prstGeom prst="rect">
            <a:avLst/>
          </a:prstGeom>
          <a:solidFill>
            <a:srgbClr val="0A1428"/>
          </a:solidFill>
          <a:ln w="12700">
            <a:solidFill>
              <a:srgbClr val="0A1428"/>
            </a:solidFill>
            <a:prstDash val="solid"/>
          </a:ln>
        </p:spPr>
      </p:sp>
      <p:sp>
        <p:nvSpPr>
          <p:cNvPr id="4" name="Shape 2"/>
          <p:cNvSpPr/>
          <p:nvPr/>
        </p:nvSpPr>
        <p:spPr>
          <a:xfrm>
            <a:off x="268224" y="170688"/>
            <a:ext cx="1950720" cy="341376"/>
          </a:xfrm>
          <a:prstGeom prst="rect">
            <a:avLst/>
          </a:prstGeom>
          <a:solidFill>
            <a:srgbClr val="34D399"/>
          </a:solidFill>
          <a:ln w="12700">
            <a:solidFill>
              <a:srgbClr val="34D399"/>
            </a:solidFill>
            <a:prstDash val="solid"/>
          </a:ln>
        </p:spPr>
      </p:sp>
      <p:sp>
        <p:nvSpPr>
          <p:cNvPr id="5" name="Text 3"/>
          <p:cNvSpPr/>
          <p:nvPr/>
        </p:nvSpPr>
        <p:spPr>
          <a:xfrm>
            <a:off x="268224" y="170688"/>
            <a:ext cx="1950720" cy="341376"/>
          </a:xfrm>
          <a:prstGeom prst="rect">
            <a:avLst/>
          </a:prstGeom>
          <a:noFill/>
          <a:ln/>
        </p:spPr>
        <p:txBody>
          <a:bodyPr wrap="square" lIns="0" tIns="0" rIns="0" bIns="0" rtlCol="0" anchor="ctr"/>
          <a:lstStyle/>
          <a:p>
            <a:pPr algn="ctr"/>
            <a:r>
              <a:rPr lang="en-US" sz="1067" b="1" kern="0" spc="267" dirty="0">
                <a:solidFill>
                  <a:srgbClr val="FFFFFF"/>
                </a:solidFill>
                <a:latin typeface="Calibri" pitchFamily="34" charset="0"/>
                <a:ea typeface="Calibri" pitchFamily="34" charset="-122"/>
                <a:cs typeface="Calibri" pitchFamily="34" charset="-120"/>
              </a:rPr>
              <a:t>CASO 2</a:t>
            </a:r>
            <a:endParaRPr lang="en-US" sz="1067" dirty="0"/>
          </a:p>
        </p:txBody>
      </p:sp>
      <p:sp>
        <p:nvSpPr>
          <p:cNvPr id="8" name="Text 6"/>
          <p:cNvSpPr/>
          <p:nvPr/>
        </p:nvSpPr>
        <p:spPr>
          <a:xfrm>
            <a:off x="3489960" y="146303"/>
            <a:ext cx="7071360" cy="487680"/>
          </a:xfrm>
          <a:prstGeom prst="rect">
            <a:avLst/>
          </a:prstGeom>
          <a:noFill/>
          <a:ln/>
        </p:spPr>
        <p:txBody>
          <a:bodyPr wrap="square" lIns="0" tIns="0" rIns="0" bIns="0" rtlCol="0" anchor="ctr"/>
          <a:lstStyle/>
          <a:p>
            <a:r>
              <a:rPr lang="en-US" sz="2400" b="1" dirty="0">
                <a:solidFill>
                  <a:srgbClr val="FFFFFF"/>
                </a:solidFill>
                <a:latin typeface="Calibri" pitchFamily="34" charset="0"/>
                <a:ea typeface="Calibri" pitchFamily="34" charset="-122"/>
                <a:cs typeface="Calibri" pitchFamily="34" charset="-120"/>
              </a:rPr>
              <a:t>Dependencia Externa sin API ni Ambiente</a:t>
            </a:r>
            <a:endParaRPr lang="en-US" sz="2400" dirty="0"/>
          </a:p>
        </p:txBody>
      </p:sp>
      <p:sp>
        <p:nvSpPr>
          <p:cNvPr id="9" name="Text 7"/>
          <p:cNvSpPr/>
          <p:nvPr/>
        </p:nvSpPr>
        <p:spPr>
          <a:xfrm>
            <a:off x="268224" y="633984"/>
            <a:ext cx="11655552" cy="292608"/>
          </a:xfrm>
          <a:prstGeom prst="rect">
            <a:avLst/>
          </a:prstGeom>
          <a:noFill/>
          <a:ln/>
        </p:spPr>
        <p:txBody>
          <a:bodyPr wrap="square" lIns="0" tIns="0" rIns="0" bIns="0" rtlCol="0" anchor="ctr"/>
          <a:lstStyle/>
          <a:p>
            <a:r>
              <a:rPr lang="en-US" sz="1133" i="1" dirty="0">
                <a:solidFill>
                  <a:srgbClr val="38BDF8"/>
                </a:solidFill>
                <a:latin typeface="Calibri" pitchFamily="34" charset="0"/>
                <a:ea typeface="Calibri" pitchFamily="34" charset="-122"/>
                <a:cs typeface="Calibri" pitchFamily="34" charset="-120"/>
              </a:rPr>
              <a:t>HU1/HU2 – Integración bancaria TCC sin sandbox disponible al inicio del Sprint 2</a:t>
            </a:r>
            <a:endParaRPr lang="en-US" sz="1133" dirty="0"/>
          </a:p>
        </p:txBody>
      </p:sp>
      <p:sp>
        <p:nvSpPr>
          <p:cNvPr id="10" name="Shape 8"/>
          <p:cNvSpPr/>
          <p:nvPr/>
        </p:nvSpPr>
        <p:spPr>
          <a:xfrm>
            <a:off x="85344" y="1036321"/>
            <a:ext cx="12106656" cy="26823"/>
          </a:xfrm>
          <a:prstGeom prst="rect">
            <a:avLst/>
          </a:prstGeom>
          <a:solidFill>
            <a:srgbClr val="34D399"/>
          </a:solidFill>
          <a:ln w="12700">
            <a:solidFill>
              <a:srgbClr val="34D399"/>
            </a:solidFill>
            <a:prstDash val="solid"/>
          </a:ln>
        </p:spPr>
      </p:sp>
      <p:sp>
        <p:nvSpPr>
          <p:cNvPr id="11" name="Shape 9"/>
          <p:cNvSpPr/>
          <p:nvPr/>
        </p:nvSpPr>
        <p:spPr>
          <a:xfrm>
            <a:off x="268224" y="1133856"/>
            <a:ext cx="5754624" cy="5382768"/>
          </a:xfrm>
          <a:prstGeom prst="rect">
            <a:avLst/>
          </a:prstGeom>
          <a:solidFill>
            <a:srgbClr val="0B1A3A"/>
          </a:solidFill>
          <a:ln w="12700">
            <a:solidFill>
              <a:srgbClr val="34D399"/>
            </a:solidFill>
            <a:prstDash val="solid"/>
          </a:ln>
        </p:spPr>
      </p:sp>
      <p:sp>
        <p:nvSpPr>
          <p:cNvPr id="12" name="Shape 10"/>
          <p:cNvSpPr/>
          <p:nvPr/>
        </p:nvSpPr>
        <p:spPr>
          <a:xfrm>
            <a:off x="268224" y="1133856"/>
            <a:ext cx="5754624" cy="36576"/>
          </a:xfrm>
          <a:prstGeom prst="rect">
            <a:avLst/>
          </a:prstGeom>
          <a:solidFill>
            <a:srgbClr val="34D399"/>
          </a:solidFill>
          <a:ln w="12700">
            <a:solidFill>
              <a:srgbClr val="34D399"/>
            </a:solidFill>
            <a:prstDash val="solid"/>
          </a:ln>
        </p:spPr>
      </p:sp>
      <p:sp>
        <p:nvSpPr>
          <p:cNvPr id="13" name="Text 11"/>
          <p:cNvSpPr/>
          <p:nvPr/>
        </p:nvSpPr>
        <p:spPr>
          <a:xfrm>
            <a:off x="438912" y="1219200"/>
            <a:ext cx="5449824" cy="268224"/>
          </a:xfrm>
          <a:prstGeom prst="rect">
            <a:avLst/>
          </a:prstGeom>
          <a:noFill/>
          <a:ln/>
        </p:spPr>
        <p:txBody>
          <a:bodyPr wrap="square" lIns="0" tIns="0" rIns="0" bIns="0" rtlCol="0" anchor="ctr"/>
          <a:lstStyle/>
          <a:p>
            <a:r>
              <a:rPr lang="en-US" sz="1000" b="1" kern="0" spc="160" dirty="0">
                <a:solidFill>
                  <a:srgbClr val="34D399"/>
                </a:solidFill>
                <a:latin typeface="Calibri" pitchFamily="34" charset="0"/>
                <a:ea typeface="Calibri" pitchFamily="34" charset="-122"/>
                <a:cs typeface="Calibri" pitchFamily="34" charset="-120"/>
              </a:rPr>
              <a:t>PO  ·  DECISIONES Y RAZONAMIENTO</a:t>
            </a:r>
            <a:endParaRPr lang="en-US" sz="1000" dirty="0"/>
          </a:p>
        </p:txBody>
      </p:sp>
      <p:sp>
        <p:nvSpPr>
          <p:cNvPr id="14" name="Text 12"/>
          <p:cNvSpPr/>
          <p:nvPr/>
        </p:nvSpPr>
        <p:spPr>
          <a:xfrm>
            <a:off x="438912" y="1536192"/>
            <a:ext cx="5449824" cy="4895088"/>
          </a:xfrm>
          <a:prstGeom prst="rect">
            <a:avLst/>
          </a:prstGeom>
          <a:noFill/>
          <a:ln/>
        </p:spPr>
        <p:txBody>
          <a:bodyPr wrap="square" lIns="0" tIns="0" rIns="0" bIns="0" rtlCol="0" anchor="t"/>
          <a:lstStyle/>
          <a:p>
            <a:pPr>
              <a:lnSpc>
                <a:spcPct val="128000"/>
              </a:lnSpc>
            </a:pPr>
            <a:r>
              <a:rPr lang="en-US" sz="1093" b="1" dirty="0">
                <a:solidFill>
                  <a:srgbClr val="34D399"/>
                </a:solidFill>
                <a:latin typeface="Calibri" pitchFamily="34" charset="0"/>
                <a:ea typeface="Calibri" pitchFamily="34" charset="-122"/>
                <a:cs typeface="Calibri" pitchFamily="34" charset="-120"/>
              </a:rPr>
              <a:t>Separé lo que podía avanzar de lo que no. </a:t>
            </a:r>
            <a:r>
              <a:rPr lang="en-US" sz="1093" dirty="0">
                <a:solidFill>
                  <a:srgbClr val="E2E8F0"/>
                </a:solidFill>
                <a:latin typeface="Calibri" pitchFamily="34" charset="0"/>
                <a:ea typeface="Calibri" pitchFamily="34" charset="-122"/>
                <a:cs typeface="Calibri" pitchFamily="34" charset="-120"/>
              </a:rPr>
              <a:t>El error común es bloquear todo el sprint porque una dependencia no está lista. Lo que hice fue dividir el trabajo en dos tracks paralelos: Track A (lógica interna TCC sin banco) que avanzaba igual, y Track B (integración real) condicionada a que el banco entregara sandbox + credenciales + contacto técnico. El equipo no perdió ni un día de velocidad.
</a:t>
            </a:r>
            <a:r>
              <a:rPr lang="en-US" sz="1093" b="1" dirty="0">
                <a:solidFill>
                  <a:srgbClr val="34D399"/>
                </a:solidFill>
                <a:latin typeface="Calibri" pitchFamily="34" charset="0"/>
                <a:ea typeface="Calibri" pitchFamily="34" charset="-122"/>
                <a:cs typeface="Calibri" pitchFamily="34" charset="-120"/>
              </a:rPr>
              <a:t>Definí una precondición explícita de entrada. </a:t>
            </a:r>
            <a:r>
              <a:rPr lang="en-US" sz="1093" dirty="0">
                <a:solidFill>
                  <a:srgbClr val="E2E8F0"/>
                </a:solidFill>
                <a:latin typeface="Calibri" pitchFamily="34" charset="0"/>
                <a:ea typeface="Calibri" pitchFamily="34" charset="-122"/>
                <a:cs typeface="Calibri" pitchFamily="34" charset="-120"/>
              </a:rPr>
              <a:t>Agregué al criterio de Ready de HU2 una condición de entrada no negociable: 'Esta HU solo entra a Sprint Planning cuando sandbox disponible + credenciales entregadas + contacto técnico banco asignado'. Esto transformó la incertidumbre en una lista de verificación manejable. Lección: las dependencias externas necesitan precondiciones escritas, no esperanzas.
</a:t>
            </a:r>
            <a:r>
              <a:rPr lang="en-US" sz="1093" b="1" dirty="0">
                <a:solidFill>
                  <a:srgbClr val="34D399"/>
                </a:solidFill>
                <a:latin typeface="Calibri" pitchFamily="34" charset="0"/>
                <a:ea typeface="Calibri" pitchFamily="34" charset="-122"/>
                <a:cs typeface="Calibri" pitchFamily="34" charset="-120"/>
              </a:rPr>
              <a:t>Gestioné la dependencia proactivamente desde el lado del negocio. </a:t>
            </a:r>
            <a:r>
              <a:rPr lang="en-US" sz="1093" dirty="0">
                <a:solidFill>
                  <a:srgbClr val="E2E8F0"/>
                </a:solidFill>
                <a:latin typeface="Calibri" pitchFamily="34" charset="0"/>
                <a:ea typeface="Calibri" pitchFamily="34" charset="-122"/>
                <a:cs typeface="Calibri" pitchFamily="34" charset="-120"/>
              </a:rPr>
              <a:t>Asumí como PO la gestión del banco: llamada de seguimiento en 72 horas, escalación a Sponsor si no había respuesta. No delegué esto al equipo técnico. El PO es el que tiene el poder de escalación con el cliente y los proveedores; el equipo debe enfocarse en construir.
</a:t>
            </a:r>
            <a:r>
              <a:rPr lang="en-US" sz="1093" b="1" dirty="0">
                <a:solidFill>
                  <a:srgbClr val="34D399"/>
                </a:solidFill>
                <a:latin typeface="Calibri" pitchFamily="34" charset="0"/>
                <a:ea typeface="Calibri" pitchFamily="34" charset="-122"/>
                <a:cs typeface="Calibri" pitchFamily="34" charset="-120"/>
              </a:rPr>
              <a:t>Documenté el plan B claramente. </a:t>
            </a:r>
            <a:r>
              <a:rPr lang="en-US" sz="1093" dirty="0">
                <a:solidFill>
                  <a:srgbClr val="E2E8F0"/>
                </a:solidFill>
                <a:latin typeface="Calibri" pitchFamily="34" charset="0"/>
                <a:ea typeface="Calibri" pitchFamily="34" charset="-122"/>
                <a:cs typeface="Calibri" pitchFamily="34" charset="-120"/>
              </a:rPr>
              <a:t>Si la API bancaria no llegaba en Sprint 3, el go-live de TCC se retrasaba 2 semanas y el piloto usaría tarjeta prepago física mientras se resolvía la integración. Autofeedback: tener un plan B explícito reduce el pánico en el equipo y da confianza al Sponsor de que el PO tiene el control.</a:t>
            </a:r>
            <a:endParaRPr lang="en-US" sz="1093" dirty="0"/>
          </a:p>
        </p:txBody>
      </p:sp>
      <p:sp>
        <p:nvSpPr>
          <p:cNvPr id="15" name="Shape 13"/>
          <p:cNvSpPr/>
          <p:nvPr/>
        </p:nvSpPr>
        <p:spPr>
          <a:xfrm>
            <a:off x="6169152" y="1133856"/>
            <a:ext cx="5754624" cy="5382768"/>
          </a:xfrm>
          <a:prstGeom prst="rect">
            <a:avLst/>
          </a:prstGeom>
          <a:solidFill>
            <a:srgbClr val="091428"/>
          </a:solidFill>
          <a:ln w="12700">
            <a:solidFill>
              <a:srgbClr val="38BDF8"/>
            </a:solidFill>
            <a:prstDash val="solid"/>
          </a:ln>
        </p:spPr>
      </p:sp>
      <p:sp>
        <p:nvSpPr>
          <p:cNvPr id="16" name="Shape 14"/>
          <p:cNvSpPr/>
          <p:nvPr/>
        </p:nvSpPr>
        <p:spPr>
          <a:xfrm>
            <a:off x="6169152" y="1133856"/>
            <a:ext cx="5754624" cy="36576"/>
          </a:xfrm>
          <a:prstGeom prst="rect">
            <a:avLst/>
          </a:prstGeom>
          <a:solidFill>
            <a:srgbClr val="38BDF8"/>
          </a:solidFill>
          <a:ln w="12700">
            <a:solidFill>
              <a:srgbClr val="38BDF8"/>
            </a:solidFill>
            <a:prstDash val="solid"/>
          </a:ln>
        </p:spPr>
      </p:sp>
      <p:sp>
        <p:nvSpPr>
          <p:cNvPr id="17" name="Text 15"/>
          <p:cNvSpPr/>
          <p:nvPr/>
        </p:nvSpPr>
        <p:spPr>
          <a:xfrm>
            <a:off x="6339840" y="1219200"/>
            <a:ext cx="5449824" cy="268224"/>
          </a:xfrm>
          <a:prstGeom prst="rect">
            <a:avLst/>
          </a:prstGeom>
          <a:noFill/>
          <a:ln/>
        </p:spPr>
        <p:txBody>
          <a:bodyPr wrap="square" lIns="0" tIns="0" rIns="0" bIns="0" rtlCol="0" anchor="ctr"/>
          <a:lstStyle/>
          <a:p>
            <a:r>
              <a:rPr lang="en-US" sz="1000" b="1" kern="0" spc="160" dirty="0">
                <a:solidFill>
                  <a:srgbClr val="38BDF8"/>
                </a:solidFill>
                <a:latin typeface="Calibri" pitchFamily="34" charset="0"/>
                <a:ea typeface="Calibri" pitchFamily="34" charset="-122"/>
                <a:cs typeface="Calibri" pitchFamily="34" charset="-120"/>
              </a:rPr>
              <a:t>PUNTOS CLAVE A RECORDAR</a:t>
            </a:r>
            <a:endParaRPr lang="en-US" sz="1000" dirty="0"/>
          </a:p>
        </p:txBody>
      </p:sp>
      <p:sp>
        <p:nvSpPr>
          <p:cNvPr id="18" name="Text 16"/>
          <p:cNvSpPr/>
          <p:nvPr/>
        </p:nvSpPr>
        <p:spPr>
          <a:xfrm>
            <a:off x="6339840" y="1536192"/>
            <a:ext cx="5449824" cy="4895088"/>
          </a:xfrm>
          <a:prstGeom prst="rect">
            <a:avLst/>
          </a:prstGeom>
          <a:noFill/>
          <a:ln/>
        </p:spPr>
        <p:txBody>
          <a:bodyPr wrap="square" lIns="0" tIns="0" rIns="0" bIns="0" rtlCol="0" anchor="t"/>
          <a:lstStyle/>
          <a:p>
            <a:pPr>
              <a:lnSpc>
                <a:spcPct val="128000"/>
              </a:lnSpc>
            </a:pP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Patrón identificado: </a:t>
            </a:r>
            <a:r>
              <a:rPr lang="en-US" sz="1093" dirty="0">
                <a:solidFill>
                  <a:srgbClr val="E2E8F0"/>
                </a:solidFill>
                <a:latin typeface="Calibri" pitchFamily="34" charset="0"/>
                <a:ea typeface="Calibri" pitchFamily="34" charset="-122"/>
                <a:cs typeface="Calibri" pitchFamily="34" charset="-120"/>
              </a:rPr>
              <a:t>Las dependencias externas son predecibles si se mapean antes del Sprint Planning. Nunca planificar un sprint con dependencias no confirmadas.
</a:t>
            </a: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Técnica que funcionó: </a:t>
            </a:r>
            <a:r>
              <a:rPr lang="en-US" sz="1093" dirty="0">
                <a:solidFill>
                  <a:srgbClr val="E2E8F0"/>
                </a:solidFill>
                <a:latin typeface="Calibri" pitchFamily="34" charset="0"/>
                <a:ea typeface="Calibri" pitchFamily="34" charset="-122"/>
                <a:cs typeface="Calibri" pitchFamily="34" charset="-120"/>
              </a:rPr>
              <a:t>División en HU1a (mock) + HU1b (real condicionada). Permite avanzar velocidad y mantener la Demo Sprint con valor real demostrable.
</a:t>
            </a: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Gestión de proveedores: </a:t>
            </a:r>
            <a:r>
              <a:rPr lang="en-US" sz="1093" dirty="0">
                <a:solidFill>
                  <a:srgbClr val="E2E8F0"/>
                </a:solidFill>
                <a:latin typeface="Calibri" pitchFamily="34" charset="0"/>
                <a:ea typeface="Calibri" pitchFamily="34" charset="-122"/>
                <a:cs typeface="Calibri" pitchFamily="34" charset="-120"/>
              </a:rPr>
              <a:t>El PO debe ser el punto de contacto con proveedores externos, no el equipo técnico. El equipo pierde foco cuando gestiona relaciones con terceros.
</a:t>
            </a: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Error a no repetir: </a:t>
            </a:r>
            <a:r>
              <a:rPr lang="en-US" sz="1093" dirty="0">
                <a:solidFill>
                  <a:srgbClr val="E2E8F0"/>
                </a:solidFill>
                <a:latin typeface="Calibri" pitchFamily="34" charset="0"/>
                <a:ea typeface="Calibri" pitchFamily="34" charset="-122"/>
                <a:cs typeface="Calibri" pitchFamily="34" charset="-120"/>
              </a:rPr>
              <a:t>Planificar sprints con integraciones externas sin un acuerdo escrito de fecha de entrega. Siempre pedir: fecha confirmada + SLA + nombre del contacto técnico.
</a:t>
            </a: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Aprendizaje de liderazgo: </a:t>
            </a:r>
            <a:r>
              <a:rPr lang="en-US" sz="1093" dirty="0">
                <a:solidFill>
                  <a:srgbClr val="E2E8F0"/>
                </a:solidFill>
                <a:latin typeface="Calibri" pitchFamily="34" charset="0"/>
                <a:ea typeface="Calibri" pitchFamily="34" charset="-122"/>
                <a:cs typeface="Calibri" pitchFamily="34" charset="-120"/>
              </a:rPr>
              <a:t>Mostrar al equipo que hay un camino alternativo cuando la dependencia falla es parte del rol del PO. La calma del PO es contagiosa; el pánico también.</a:t>
            </a:r>
            <a:endParaRPr lang="en-US" sz="1200" dirty="0"/>
          </a:p>
        </p:txBody>
      </p:sp>
      <p:sp>
        <p:nvSpPr>
          <p:cNvPr id="19" name="Shape 17"/>
          <p:cNvSpPr/>
          <p:nvPr/>
        </p:nvSpPr>
        <p:spPr>
          <a:xfrm>
            <a:off x="0" y="6699504"/>
            <a:ext cx="12192000" cy="158496"/>
          </a:xfrm>
          <a:prstGeom prst="rect">
            <a:avLst/>
          </a:prstGeom>
          <a:solidFill>
            <a:srgbClr val="1246B3"/>
          </a:solidFill>
          <a:ln w="12700">
            <a:solidFill>
              <a:srgbClr val="1246B3"/>
            </a:solidFill>
            <a:prstDash val="solid"/>
          </a:ln>
        </p:spPr>
      </p:sp>
      <p:sp>
        <p:nvSpPr>
          <p:cNvPr id="20" name="Text 18"/>
          <p:cNvSpPr/>
          <p:nvPr/>
        </p:nvSpPr>
        <p:spPr>
          <a:xfrm>
            <a:off x="243840" y="6565392"/>
            <a:ext cx="11704320" cy="158496"/>
          </a:xfrm>
          <a:prstGeom prst="rect">
            <a:avLst/>
          </a:prstGeom>
          <a:noFill/>
          <a:ln/>
        </p:spPr>
        <p:txBody>
          <a:bodyPr wrap="square" lIns="0" tIns="0" rIns="0" bIns="0" rtlCol="0" anchor="ctr"/>
          <a:lstStyle/>
          <a:p>
            <a:r>
              <a:rPr lang="en-US" sz="800" i="1" dirty="0">
                <a:solidFill>
                  <a:srgbClr val="475569"/>
                </a:solidFill>
                <a:latin typeface="Calibri" pitchFamily="34" charset="0"/>
                <a:ea typeface="Calibri" pitchFamily="34" charset="-122"/>
                <a:cs typeface="Calibri" pitchFamily="34" charset="-120"/>
              </a:rPr>
              <a:t>Gabriel Sandoval G.  ·  Product Owner  ·  ABP Módulo 5  ·  Rediseño Flujo Viáticos  ·  Caso 2 – Dependencia Externa sin API  ·  Registro de Autofeedback</a:t>
            </a:r>
            <a:endParaRPr lang="en-US" sz="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39189"/>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3 – CASO 2</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Dependencia externa sin API y Ambiente</a:t>
            </a:r>
            <a:endParaRPr lang="en-US" sz="2100"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000" i="1" dirty="0">
                <a:solidFill>
                  <a:srgbClr val="38BDF8"/>
                </a:solidFill>
                <a:latin typeface="Calibri" pitchFamily="34" charset="0"/>
                <a:ea typeface="Calibri" pitchFamily="34" charset="-122"/>
                <a:cs typeface="Calibri" pitchFamily="34" charset="-120"/>
              </a:rPr>
              <a:t>Refinamiento del Backlog</a:t>
            </a:r>
            <a:endParaRPr lang="en-US" sz="10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Shape 7"/>
          <p:cNvSpPr/>
          <p:nvPr/>
        </p:nvSpPr>
        <p:spPr>
          <a:xfrm>
            <a:off x="0" y="6720840"/>
            <a:ext cx="12188952" cy="137160"/>
          </a:xfrm>
          <a:prstGeom prst="rect">
            <a:avLst/>
          </a:prstGeom>
          <a:solidFill>
            <a:srgbClr val="1246B3"/>
          </a:solidFill>
          <a:ln w="12700">
            <a:solidFill>
              <a:srgbClr val="1246B3"/>
            </a:solidFill>
            <a:prstDash val="solid"/>
          </a:ln>
        </p:spPr>
      </p:sp>
      <p:sp>
        <p:nvSpPr>
          <p:cNvPr id="10" name="Text 8"/>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7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700" dirty="0"/>
          </a:p>
        </p:txBody>
      </p:sp>
      <p:sp>
        <p:nvSpPr>
          <p:cNvPr id="11" name="Shape 9"/>
          <p:cNvSpPr/>
          <p:nvPr/>
        </p:nvSpPr>
        <p:spPr>
          <a:xfrm>
            <a:off x="201168" y="1005840"/>
            <a:ext cx="5760720" cy="5559552"/>
          </a:xfrm>
          <a:prstGeom prst="rect">
            <a:avLst/>
          </a:prstGeom>
          <a:solidFill>
            <a:srgbClr val="0D1B3E"/>
          </a:solidFill>
          <a:ln w="12700">
            <a:solidFill>
              <a:srgbClr val="38BDF8"/>
            </a:solidFill>
            <a:prstDash val="solid"/>
          </a:ln>
        </p:spPr>
      </p:sp>
      <p:sp>
        <p:nvSpPr>
          <p:cNvPr id="12" name="Shape 10"/>
          <p:cNvSpPr/>
          <p:nvPr/>
        </p:nvSpPr>
        <p:spPr>
          <a:xfrm>
            <a:off x="201168" y="1005840"/>
            <a:ext cx="5760720" cy="32004"/>
          </a:xfrm>
          <a:prstGeom prst="rect">
            <a:avLst/>
          </a:prstGeom>
          <a:solidFill>
            <a:srgbClr val="38BDF8"/>
          </a:solidFill>
          <a:ln w="12700">
            <a:solidFill>
              <a:srgbClr val="38BDF8"/>
            </a:solidFill>
            <a:prstDash val="solid"/>
          </a:ln>
        </p:spPr>
      </p:sp>
      <p:sp>
        <p:nvSpPr>
          <p:cNvPr id="13" name="Text 11"/>
          <p:cNvSpPr/>
          <p:nvPr/>
        </p:nvSpPr>
        <p:spPr>
          <a:xfrm>
            <a:off x="347472" y="1078992"/>
            <a:ext cx="5486400" cy="237744"/>
          </a:xfrm>
          <a:prstGeom prst="rect">
            <a:avLst/>
          </a:prstGeom>
          <a:noFill/>
          <a:ln/>
        </p:spPr>
        <p:txBody>
          <a:bodyPr wrap="square" lIns="0" tIns="0" rIns="0" bIns="0" rtlCol="0" anchor="ctr"/>
          <a:lstStyle/>
          <a:p>
            <a:pPr marL="0" indent="0">
              <a:buNone/>
            </a:pPr>
            <a:r>
              <a:rPr lang="en-US" sz="1400" b="1" kern="0" spc="120" dirty="0">
                <a:solidFill>
                  <a:srgbClr val="38BDF8"/>
                </a:solidFill>
                <a:latin typeface="Calibri" pitchFamily="34" charset="0"/>
                <a:ea typeface="Calibri" pitchFamily="34" charset="-122"/>
                <a:cs typeface="Calibri" pitchFamily="34" charset="-120"/>
              </a:rPr>
              <a:t>RESOLUCIÓN APLICADA AL PROYECTO</a:t>
            </a:r>
            <a:endParaRPr lang="en-US" sz="1400" dirty="0"/>
          </a:p>
        </p:txBody>
      </p:sp>
      <p:sp>
        <p:nvSpPr>
          <p:cNvPr id="14" name="Text 12"/>
          <p:cNvSpPr/>
          <p:nvPr/>
        </p:nvSpPr>
        <p:spPr>
          <a:xfrm>
            <a:off x="347472" y="1371600"/>
            <a:ext cx="5486400" cy="5029200"/>
          </a:xfrm>
          <a:prstGeom prst="rect">
            <a:avLst/>
          </a:prstGeom>
          <a:noFill/>
          <a:ln/>
        </p:spPr>
        <p:txBody>
          <a:bodyPr wrap="square" lIns="0" tIns="0" rIns="0" bIns="0" rtlCol="0" anchor="t"/>
          <a:lstStyle/>
          <a:p>
            <a:pPr marL="0" indent="0">
              <a:lnSpc>
                <a:spcPct val="128000"/>
              </a:lnSpc>
              <a:buNone/>
            </a:pPr>
            <a:r>
              <a:rPr lang="en-US" sz="1400" b="1" dirty="0">
                <a:solidFill>
                  <a:srgbClr val="38BDF8"/>
                </a:solidFill>
                <a:latin typeface="Calibri" pitchFamily="34" charset="0"/>
                <a:ea typeface="Calibri" pitchFamily="34" charset="-122"/>
                <a:cs typeface="Calibri" pitchFamily="34" charset="-120"/>
              </a:rPr>
              <a:t>Resolución: </a:t>
            </a:r>
            <a:r>
              <a:rPr lang="en-US" sz="1400" dirty="0">
                <a:solidFill>
                  <a:srgbClr val="E2E8F0"/>
                </a:solidFill>
                <a:latin typeface="Calibri" pitchFamily="34" charset="0"/>
                <a:ea typeface="Calibri" pitchFamily="34" charset="-122"/>
                <a:cs typeface="Calibri" pitchFamily="34" charset="-120"/>
              </a:rPr>
              <a:t> Para integrar TCC Digital con API bancaria, no había sandbox, credenciales ni fecha. El Sprint 2 asumía integración disponible desde el día 1.
</a:t>
            </a:r>
            <a:r>
              <a:rPr lang="en-US" sz="1400" b="1" dirty="0">
                <a:solidFill>
                  <a:srgbClr val="38BDF8"/>
                </a:solidFill>
                <a:latin typeface="Calibri" pitchFamily="34" charset="0"/>
                <a:ea typeface="Calibri" pitchFamily="34" charset="-122"/>
                <a:cs typeface="Calibri" pitchFamily="34" charset="-120"/>
              </a:rPr>
              <a:t>Separación de trabajo: </a:t>
            </a:r>
            <a:r>
              <a:rPr lang="en-US" sz="1400" dirty="0">
                <a:solidFill>
                  <a:srgbClr val="E2E8F0"/>
                </a:solidFill>
                <a:latin typeface="Calibri" pitchFamily="34" charset="0"/>
                <a:ea typeface="Calibri" pitchFamily="34" charset="-122"/>
                <a:cs typeface="Calibri" pitchFamily="34" charset="-120"/>
              </a:rPr>
              <a:t> Track A (sin banco): lógica TCC, perfiles, UI, mock. Track B (con banco): bloqueado hasta confirmar sandbox. Precondición: credenciales + documentación API + contacto técnico asignado.
</a:t>
            </a:r>
            <a:r>
              <a:rPr lang="en-US" sz="1400" b="1" dirty="0">
                <a:solidFill>
                  <a:srgbClr val="38BDF8"/>
                </a:solidFill>
                <a:latin typeface="Calibri" pitchFamily="34" charset="0"/>
                <a:ea typeface="Calibri" pitchFamily="34" charset="-122"/>
                <a:cs typeface="Calibri" pitchFamily="34" charset="-120"/>
              </a:rPr>
              <a:t>Validación incremental: </a:t>
            </a:r>
            <a:r>
              <a:rPr lang="en-US" sz="1400" dirty="0">
                <a:solidFill>
                  <a:srgbClr val="E2E8F0"/>
                </a:solidFill>
                <a:latin typeface="Calibri" pitchFamily="34" charset="0"/>
                <a:ea typeface="Calibri" pitchFamily="34" charset="-122"/>
                <a:cs typeface="Calibri" pitchFamily="34" charset="-120"/>
              </a:rPr>
              <a:t> Sprint 2 entrega TCC con mock 100%. Sprint 3: integración real si sandbox disponible; si no, sprint dedicado. KPI: 'Reglas TCC funcionan sobre mock; UI aprobada por PO'.</a:t>
            </a:r>
            <a:endParaRPr lang="en-US" sz="1400" dirty="0"/>
          </a:p>
        </p:txBody>
      </p:sp>
      <p:sp>
        <p:nvSpPr>
          <p:cNvPr id="15" name="Shape 13"/>
          <p:cNvSpPr/>
          <p:nvPr/>
        </p:nvSpPr>
        <p:spPr>
          <a:xfrm>
            <a:off x="6144768" y="1005840"/>
            <a:ext cx="5852160" cy="5559552"/>
          </a:xfrm>
          <a:prstGeom prst="rect">
            <a:avLst/>
          </a:prstGeom>
          <a:solidFill>
            <a:srgbClr val="091428"/>
          </a:solidFill>
          <a:ln w="12700">
            <a:solidFill>
              <a:srgbClr val="FBBF24"/>
            </a:solidFill>
            <a:prstDash val="solid"/>
          </a:ln>
        </p:spPr>
        <p:txBody>
          <a:bodyPr/>
          <a:lstStyle/>
          <a:p>
            <a:endParaRPr lang="es-ES_tradnl" dirty="0"/>
          </a:p>
        </p:txBody>
      </p:sp>
      <p:sp>
        <p:nvSpPr>
          <p:cNvPr id="16" name="Shape 14"/>
          <p:cNvSpPr/>
          <p:nvPr/>
        </p:nvSpPr>
        <p:spPr>
          <a:xfrm>
            <a:off x="6144768" y="1005840"/>
            <a:ext cx="5852160" cy="32004"/>
          </a:xfrm>
          <a:prstGeom prst="rect">
            <a:avLst/>
          </a:prstGeom>
          <a:solidFill>
            <a:srgbClr val="FBBF24"/>
          </a:solidFill>
          <a:ln w="12700">
            <a:solidFill>
              <a:srgbClr val="FBBF24"/>
            </a:solidFill>
            <a:prstDash val="solid"/>
          </a:ln>
        </p:spPr>
      </p:sp>
      <p:sp>
        <p:nvSpPr>
          <p:cNvPr id="17" name="Text 15"/>
          <p:cNvSpPr/>
          <p:nvPr/>
        </p:nvSpPr>
        <p:spPr>
          <a:xfrm>
            <a:off x="6291072" y="1078992"/>
            <a:ext cx="5623560" cy="237744"/>
          </a:xfrm>
          <a:prstGeom prst="rect">
            <a:avLst/>
          </a:prstGeom>
          <a:noFill/>
          <a:ln/>
        </p:spPr>
        <p:txBody>
          <a:bodyPr wrap="square" lIns="0" tIns="0" rIns="0" bIns="0" rtlCol="0" anchor="ctr"/>
          <a:lstStyle/>
          <a:p>
            <a:pPr marL="0" indent="0">
              <a:buNone/>
            </a:pPr>
            <a:r>
              <a:rPr lang="en-US" sz="1400" b="1" kern="0" spc="120" dirty="0">
                <a:solidFill>
                  <a:srgbClr val="FBBF24"/>
                </a:solidFill>
                <a:latin typeface="Calibri" pitchFamily="34" charset="0"/>
                <a:ea typeface="Calibri" pitchFamily="34" charset="-122"/>
                <a:cs typeface="Calibri" pitchFamily="34" charset="-120"/>
              </a:rPr>
              <a:t>BACKLOG ACTUALIZADO </a:t>
            </a:r>
            <a:endParaRPr lang="en-US" sz="1400" dirty="0"/>
          </a:p>
        </p:txBody>
      </p:sp>
      <p:sp>
        <p:nvSpPr>
          <p:cNvPr id="18" name="Text 16"/>
          <p:cNvSpPr/>
          <p:nvPr/>
        </p:nvSpPr>
        <p:spPr>
          <a:xfrm>
            <a:off x="6291072" y="1371600"/>
            <a:ext cx="5623560" cy="5029200"/>
          </a:xfrm>
          <a:prstGeom prst="rect">
            <a:avLst/>
          </a:prstGeom>
          <a:noFill/>
          <a:ln/>
        </p:spPr>
        <p:txBody>
          <a:bodyPr wrap="square" lIns="0" tIns="0" rIns="0" bIns="0" rtlCol="0" anchor="t"/>
          <a:lstStyle/>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HU1 – TCC Digital: </a:t>
            </a:r>
            <a:r>
              <a:rPr lang="en-US" sz="1400" dirty="0">
                <a:solidFill>
                  <a:srgbClr val="E2E8F0"/>
                </a:solidFill>
                <a:latin typeface="Calibri" pitchFamily="34" charset="0"/>
                <a:ea typeface="Calibri" pitchFamily="34" charset="-122"/>
                <a:cs typeface="Calibri" pitchFamily="34" charset="-120"/>
              </a:rPr>
              <a:t> DIVIDIDA en HU1a (lógica + mock, 5 SP) y HU1b (integración real, 5 SP, condicionada a sandbox)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HU2 – API bancaria: </a:t>
            </a:r>
            <a:r>
              <a:rPr lang="en-US" sz="1400" dirty="0">
                <a:solidFill>
                  <a:srgbClr val="E2E8F0"/>
                </a:solidFill>
                <a:latin typeface="Calibri" pitchFamily="34" charset="0"/>
                <a:ea typeface="Calibri" pitchFamily="34" charset="-122"/>
                <a:cs typeface="Calibri" pitchFamily="34" charset="-120"/>
              </a:rPr>
              <a:t> CONDICIÓN DE ENTRADA: solo entra a Sprint Planning cuando sandbox + credenciales + contacto técnico disponibles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Tarea nueva: </a:t>
            </a:r>
            <a:r>
              <a:rPr lang="en-US" sz="1400" dirty="0">
                <a:solidFill>
                  <a:srgbClr val="E2E8F0"/>
                </a:solidFill>
                <a:latin typeface="Calibri" pitchFamily="34" charset="0"/>
                <a:ea typeface="Calibri" pitchFamily="34" charset="-122"/>
                <a:cs typeface="Calibri" pitchFamily="34" charset="-120"/>
              </a:rPr>
              <a:t> PO gestiona fecha sandbox antes del día 5 del Sprint 2. Escalación a Sponsor si no hay respuesta en 72h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CA HU1a ACTUALIZADO: </a:t>
            </a:r>
            <a:r>
              <a:rPr lang="en-US" sz="1400" dirty="0">
                <a:solidFill>
                  <a:srgbClr val="E2E8F0"/>
                </a:solidFill>
                <a:latin typeface="Calibri" pitchFamily="34" charset="0"/>
                <a:ea typeface="Calibri" pitchFamily="34" charset="-122"/>
                <a:cs typeface="Calibri" pitchFamily="34" charset="-120"/>
              </a:rPr>
              <a:t> 'TCC funciona 100% sobre mock bancario. Demostrable en Sprint Review sin conexión real al banco'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Riesgo en Jira: </a:t>
            </a:r>
            <a:r>
              <a:rPr lang="en-US" sz="1400" dirty="0">
                <a:solidFill>
                  <a:srgbClr val="E2E8F0"/>
                </a:solidFill>
                <a:latin typeface="Calibri" pitchFamily="34" charset="0"/>
                <a:ea typeface="Calibri" pitchFamily="34" charset="-122"/>
                <a:cs typeface="Calibri" pitchFamily="34" charset="-120"/>
              </a:rPr>
              <a:t> Si API no disponible en Sprint 3 → TCC se retrasa 2 semanas. Plan B: tarjeta prepago física</a:t>
            </a:r>
            <a:endParaRPr lang="en-US" sz="1400"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85344" cy="6858000"/>
          </a:xfrm>
          <a:prstGeom prst="rect">
            <a:avLst/>
          </a:prstGeom>
          <a:solidFill>
            <a:srgbClr val="A78BFA"/>
          </a:solidFill>
          <a:ln w="12700">
            <a:solidFill>
              <a:srgbClr val="A78BFA"/>
            </a:solidFill>
            <a:prstDash val="solid"/>
          </a:ln>
        </p:spPr>
      </p:sp>
      <p:sp>
        <p:nvSpPr>
          <p:cNvPr id="3" name="Shape 1"/>
          <p:cNvSpPr/>
          <p:nvPr/>
        </p:nvSpPr>
        <p:spPr>
          <a:xfrm>
            <a:off x="85344" y="0"/>
            <a:ext cx="12106656" cy="1036320"/>
          </a:xfrm>
          <a:prstGeom prst="rect">
            <a:avLst/>
          </a:prstGeom>
          <a:solidFill>
            <a:srgbClr val="0A1428"/>
          </a:solidFill>
          <a:ln w="12700">
            <a:solidFill>
              <a:srgbClr val="0A1428"/>
            </a:solidFill>
            <a:prstDash val="solid"/>
          </a:ln>
        </p:spPr>
      </p:sp>
      <p:sp>
        <p:nvSpPr>
          <p:cNvPr id="4" name="Shape 2"/>
          <p:cNvSpPr/>
          <p:nvPr/>
        </p:nvSpPr>
        <p:spPr>
          <a:xfrm>
            <a:off x="268224" y="170688"/>
            <a:ext cx="1950720" cy="341376"/>
          </a:xfrm>
          <a:prstGeom prst="rect">
            <a:avLst/>
          </a:prstGeom>
          <a:solidFill>
            <a:srgbClr val="A78BFA"/>
          </a:solidFill>
          <a:ln w="12700">
            <a:solidFill>
              <a:srgbClr val="A78BFA"/>
            </a:solidFill>
            <a:prstDash val="solid"/>
          </a:ln>
        </p:spPr>
      </p:sp>
      <p:sp>
        <p:nvSpPr>
          <p:cNvPr id="5" name="Text 3"/>
          <p:cNvSpPr/>
          <p:nvPr/>
        </p:nvSpPr>
        <p:spPr>
          <a:xfrm>
            <a:off x="268224" y="170688"/>
            <a:ext cx="1950720" cy="341376"/>
          </a:xfrm>
          <a:prstGeom prst="rect">
            <a:avLst/>
          </a:prstGeom>
          <a:noFill/>
          <a:ln/>
        </p:spPr>
        <p:txBody>
          <a:bodyPr wrap="square" lIns="0" tIns="0" rIns="0" bIns="0" rtlCol="0" anchor="ctr"/>
          <a:lstStyle/>
          <a:p>
            <a:pPr algn="ctr"/>
            <a:r>
              <a:rPr lang="en-US" sz="1067" b="1" kern="0" spc="267" dirty="0">
                <a:solidFill>
                  <a:srgbClr val="FFFFFF"/>
                </a:solidFill>
                <a:latin typeface="Calibri" pitchFamily="34" charset="0"/>
                <a:ea typeface="Calibri" pitchFamily="34" charset="-122"/>
                <a:cs typeface="Calibri" pitchFamily="34" charset="-120"/>
              </a:rPr>
              <a:t>CASO 3</a:t>
            </a:r>
            <a:endParaRPr lang="en-US" sz="1067" dirty="0"/>
          </a:p>
        </p:txBody>
      </p:sp>
      <p:sp>
        <p:nvSpPr>
          <p:cNvPr id="8" name="Text 6"/>
          <p:cNvSpPr/>
          <p:nvPr/>
        </p:nvSpPr>
        <p:spPr>
          <a:xfrm>
            <a:off x="3669792" y="167640"/>
            <a:ext cx="7071360" cy="487680"/>
          </a:xfrm>
          <a:prstGeom prst="rect">
            <a:avLst/>
          </a:prstGeom>
          <a:noFill/>
          <a:ln/>
        </p:spPr>
        <p:txBody>
          <a:bodyPr wrap="square" lIns="0" tIns="0" rIns="0" bIns="0" rtlCol="0" anchor="ctr"/>
          <a:lstStyle/>
          <a:p>
            <a:r>
              <a:rPr lang="en-US" sz="2400" b="1" dirty="0">
                <a:solidFill>
                  <a:srgbClr val="FFFFFF"/>
                </a:solidFill>
                <a:latin typeface="Calibri" pitchFamily="34" charset="0"/>
                <a:ea typeface="Calibri" pitchFamily="34" charset="-122"/>
                <a:cs typeface="Calibri" pitchFamily="34" charset="-120"/>
              </a:rPr>
              <a:t>Deuda Técnica u Operativa Acumulada</a:t>
            </a:r>
            <a:endParaRPr lang="en-US" sz="2400" dirty="0"/>
          </a:p>
        </p:txBody>
      </p:sp>
      <p:sp>
        <p:nvSpPr>
          <p:cNvPr id="9" name="Text 7"/>
          <p:cNvSpPr/>
          <p:nvPr/>
        </p:nvSpPr>
        <p:spPr>
          <a:xfrm>
            <a:off x="268224" y="633984"/>
            <a:ext cx="11655552" cy="292608"/>
          </a:xfrm>
          <a:prstGeom prst="rect">
            <a:avLst/>
          </a:prstGeom>
          <a:noFill/>
          <a:ln/>
        </p:spPr>
        <p:txBody>
          <a:bodyPr wrap="square" lIns="0" tIns="0" rIns="0" bIns="0" rtlCol="0" anchor="ctr"/>
          <a:lstStyle/>
          <a:p>
            <a:r>
              <a:rPr lang="en-US" sz="1133" i="1" dirty="0">
                <a:solidFill>
                  <a:srgbClr val="38BDF8"/>
                </a:solidFill>
                <a:latin typeface="Calibri" pitchFamily="34" charset="0"/>
                <a:ea typeface="Calibri" pitchFamily="34" charset="-122"/>
                <a:cs typeface="Calibri" pitchFamily="34" charset="-120"/>
              </a:rPr>
              <a:t>OCR sin cobertura · endpoints sin logs · integración TCC sin manejo de errores · Sprint 4</a:t>
            </a:r>
            <a:endParaRPr lang="en-US" sz="1133" dirty="0"/>
          </a:p>
        </p:txBody>
      </p:sp>
      <p:sp>
        <p:nvSpPr>
          <p:cNvPr id="10" name="Shape 8"/>
          <p:cNvSpPr/>
          <p:nvPr/>
        </p:nvSpPr>
        <p:spPr>
          <a:xfrm>
            <a:off x="85344" y="1036321"/>
            <a:ext cx="12106656" cy="26823"/>
          </a:xfrm>
          <a:prstGeom prst="rect">
            <a:avLst/>
          </a:prstGeom>
          <a:solidFill>
            <a:srgbClr val="A78BFA"/>
          </a:solidFill>
          <a:ln w="12700">
            <a:solidFill>
              <a:srgbClr val="A78BFA"/>
            </a:solidFill>
            <a:prstDash val="solid"/>
          </a:ln>
        </p:spPr>
      </p:sp>
      <p:sp>
        <p:nvSpPr>
          <p:cNvPr id="11" name="Shape 9"/>
          <p:cNvSpPr/>
          <p:nvPr/>
        </p:nvSpPr>
        <p:spPr>
          <a:xfrm>
            <a:off x="268224" y="1133856"/>
            <a:ext cx="5754624" cy="5382768"/>
          </a:xfrm>
          <a:prstGeom prst="rect">
            <a:avLst/>
          </a:prstGeom>
          <a:solidFill>
            <a:srgbClr val="0B1A3A"/>
          </a:solidFill>
          <a:ln w="12700">
            <a:solidFill>
              <a:srgbClr val="A78BFA"/>
            </a:solidFill>
            <a:prstDash val="solid"/>
          </a:ln>
        </p:spPr>
      </p:sp>
      <p:sp>
        <p:nvSpPr>
          <p:cNvPr id="12" name="Shape 10"/>
          <p:cNvSpPr/>
          <p:nvPr/>
        </p:nvSpPr>
        <p:spPr>
          <a:xfrm>
            <a:off x="268224" y="1133856"/>
            <a:ext cx="5754624" cy="36576"/>
          </a:xfrm>
          <a:prstGeom prst="rect">
            <a:avLst/>
          </a:prstGeom>
          <a:solidFill>
            <a:srgbClr val="A78BFA"/>
          </a:solidFill>
          <a:ln w="12700">
            <a:solidFill>
              <a:srgbClr val="A78BFA"/>
            </a:solidFill>
            <a:prstDash val="solid"/>
          </a:ln>
        </p:spPr>
      </p:sp>
      <p:sp>
        <p:nvSpPr>
          <p:cNvPr id="13" name="Text 11"/>
          <p:cNvSpPr/>
          <p:nvPr/>
        </p:nvSpPr>
        <p:spPr>
          <a:xfrm>
            <a:off x="438912" y="1219200"/>
            <a:ext cx="5449824" cy="268224"/>
          </a:xfrm>
          <a:prstGeom prst="rect">
            <a:avLst/>
          </a:prstGeom>
          <a:noFill/>
          <a:ln/>
        </p:spPr>
        <p:txBody>
          <a:bodyPr wrap="square" lIns="0" tIns="0" rIns="0" bIns="0" rtlCol="0" anchor="ctr"/>
          <a:lstStyle/>
          <a:p>
            <a:r>
              <a:rPr lang="en-US" sz="1000" b="1" kern="0" spc="160" dirty="0">
                <a:solidFill>
                  <a:srgbClr val="A78BFA"/>
                </a:solidFill>
                <a:latin typeface="Calibri" pitchFamily="34" charset="0"/>
                <a:ea typeface="Calibri" pitchFamily="34" charset="-122"/>
                <a:cs typeface="Calibri" pitchFamily="34" charset="-120"/>
              </a:rPr>
              <a:t>DECISIONES Y RAZONAMIENTO</a:t>
            </a:r>
            <a:endParaRPr lang="en-US" sz="1000" dirty="0"/>
          </a:p>
        </p:txBody>
      </p:sp>
      <p:sp>
        <p:nvSpPr>
          <p:cNvPr id="14" name="Text 12"/>
          <p:cNvSpPr/>
          <p:nvPr/>
        </p:nvSpPr>
        <p:spPr>
          <a:xfrm>
            <a:off x="438912" y="1536192"/>
            <a:ext cx="5449824" cy="4895088"/>
          </a:xfrm>
          <a:prstGeom prst="rect">
            <a:avLst/>
          </a:prstGeom>
          <a:noFill/>
          <a:ln/>
        </p:spPr>
        <p:txBody>
          <a:bodyPr wrap="square" lIns="0" tIns="0" rIns="0" bIns="0" rtlCol="0" anchor="t"/>
          <a:lstStyle/>
          <a:p>
            <a:pPr>
              <a:lnSpc>
                <a:spcPct val="128000"/>
              </a:lnSpc>
            </a:pPr>
            <a:r>
              <a:rPr lang="en-US" sz="1093" b="1" dirty="0">
                <a:solidFill>
                  <a:srgbClr val="A78BFA"/>
                </a:solidFill>
                <a:latin typeface="Calibri" pitchFamily="34" charset="0"/>
                <a:ea typeface="Calibri" pitchFamily="34" charset="-122"/>
                <a:cs typeface="Calibri" pitchFamily="34" charset="-120"/>
              </a:rPr>
              <a:t>Reconocí la deuda como riesgo de negocio, no solo técnico. </a:t>
            </a:r>
            <a:r>
              <a:rPr lang="en-US" sz="1093" dirty="0">
                <a:solidFill>
                  <a:srgbClr val="E2E8F0"/>
                </a:solidFill>
                <a:latin typeface="Calibri" pitchFamily="34" charset="0"/>
                <a:ea typeface="Calibri" pitchFamily="34" charset="-122"/>
                <a:cs typeface="Calibri" pitchFamily="34" charset="-120"/>
              </a:rPr>
              <a:t>Cuando el equipo reportó la deuda acumulada, mi primer instinto fue proteger la velocidad de entrega. Pero los logs de auditoría faltantes eran un riesgo de compliance real, y el manejo de errores incompleto en la integración bancaria podía generar estados inconsistentes en producción. Reencuadré la conversación: no es deuda técnica, es riesgo operacional.
</a:t>
            </a:r>
            <a:r>
              <a:rPr lang="en-US" sz="1093" b="1" dirty="0">
                <a:solidFill>
                  <a:srgbClr val="A78BFA"/>
                </a:solidFill>
                <a:latin typeface="Calibri" pitchFamily="34" charset="0"/>
                <a:ea typeface="Calibri" pitchFamily="34" charset="-122"/>
                <a:cs typeface="Calibri" pitchFamily="34" charset="-120"/>
              </a:rPr>
              <a:t>Negocié capacidad explícita, no horas . </a:t>
            </a:r>
            <a:r>
              <a:rPr lang="en-US" sz="1093" dirty="0">
                <a:solidFill>
                  <a:srgbClr val="E2E8F0"/>
                </a:solidFill>
                <a:latin typeface="Calibri" pitchFamily="34" charset="0"/>
                <a:ea typeface="Calibri" pitchFamily="34" charset="-122"/>
                <a:cs typeface="Calibri" pitchFamily="34" charset="-120"/>
              </a:rPr>
              <a:t>En lugar de decir 'dediquen tiempo a mejorar calidad', acordé con el equipo reservar 20% de la capacidad del Sprint 4 (8 SP de 40 totales) exclusivamente para deuda técnica. Esto es concreto, medible y defendible ante el Sponsor. Autofeedback: nunca hablar de deuda técnica en términos de tiempo vago; siempre traducirlo a Story Points específicos con criterio de done.
</a:t>
            </a:r>
            <a:r>
              <a:rPr lang="en-US" sz="1093" b="1" dirty="0">
                <a:solidFill>
                  <a:srgbClr val="A78BFA"/>
                </a:solidFill>
                <a:latin typeface="Calibri" pitchFamily="34" charset="0"/>
                <a:ea typeface="Calibri" pitchFamily="34" charset="-122"/>
                <a:cs typeface="Calibri" pitchFamily="34" charset="-120"/>
              </a:rPr>
              <a:t>Prioricé por impacto en el negocio, no por preferencia técnica. </a:t>
            </a:r>
            <a:r>
              <a:rPr lang="en-US" sz="1093" dirty="0">
                <a:solidFill>
                  <a:srgbClr val="E2E8F0"/>
                </a:solidFill>
                <a:latin typeface="Calibri" pitchFamily="34" charset="0"/>
                <a:ea typeface="Calibri" pitchFamily="34" charset="-122"/>
                <a:cs typeface="Calibri" pitchFamily="34" charset="-120"/>
              </a:rPr>
              <a:t>De toda la deuda identificada, prioricé en orden: logs de auditoría (compliance, crítico), manejo de errores TCC (integridad financiera, crítico), documentación de usuario (operación go-live, urgente). La cobertura de tests OCR quedó en segundo ciclo. Lección: el PO decide qué deuda se paga primero según su impacto en el producto, no el equipo.
</a:t>
            </a:r>
            <a:r>
              <a:rPr lang="en-US" sz="1093" b="1" dirty="0">
                <a:solidFill>
                  <a:srgbClr val="A78BFA"/>
                </a:solidFill>
                <a:latin typeface="Calibri" pitchFamily="34" charset="0"/>
                <a:ea typeface="Calibri" pitchFamily="34" charset="-122"/>
                <a:cs typeface="Calibri" pitchFamily="34" charset="-120"/>
              </a:rPr>
              <a:t>Actualicé la Definición de Done para evitar deuda futura. </a:t>
            </a:r>
            <a:r>
              <a:rPr lang="en-US" sz="1093" dirty="0">
                <a:solidFill>
                  <a:srgbClr val="E2E8F0"/>
                </a:solidFill>
                <a:latin typeface="Calibri" pitchFamily="34" charset="0"/>
                <a:ea typeface="Calibri" pitchFamily="34" charset="-122"/>
                <a:cs typeface="Calibri" pitchFamily="34" charset="-120"/>
              </a:rPr>
              <a:t>Desde Sprint 4, el DoD incluye: cobertura ≥70%, logs de auditoría implementados, manejo de error documentado, sin deuda nueva sin registrar en Jira. Esto es prevención sistémica, no solo reparación. Autofeedback clave: si la deuda vuelve a acumularse, el problema es el DoD, no el equipo.</a:t>
            </a:r>
            <a:endParaRPr lang="en-US" sz="1093" dirty="0"/>
          </a:p>
        </p:txBody>
      </p:sp>
      <p:sp>
        <p:nvSpPr>
          <p:cNvPr id="15" name="Shape 13"/>
          <p:cNvSpPr/>
          <p:nvPr/>
        </p:nvSpPr>
        <p:spPr>
          <a:xfrm>
            <a:off x="6169152" y="1133856"/>
            <a:ext cx="5754624" cy="5382768"/>
          </a:xfrm>
          <a:prstGeom prst="rect">
            <a:avLst/>
          </a:prstGeom>
          <a:solidFill>
            <a:srgbClr val="091428"/>
          </a:solidFill>
          <a:ln w="12700">
            <a:solidFill>
              <a:srgbClr val="FBBF24"/>
            </a:solidFill>
            <a:prstDash val="solid"/>
          </a:ln>
        </p:spPr>
      </p:sp>
      <p:sp>
        <p:nvSpPr>
          <p:cNvPr id="16" name="Shape 14"/>
          <p:cNvSpPr/>
          <p:nvPr/>
        </p:nvSpPr>
        <p:spPr>
          <a:xfrm>
            <a:off x="6169152" y="1133856"/>
            <a:ext cx="5754624" cy="36576"/>
          </a:xfrm>
          <a:prstGeom prst="rect">
            <a:avLst/>
          </a:prstGeom>
          <a:solidFill>
            <a:srgbClr val="FBBF24"/>
          </a:solidFill>
          <a:ln w="12700">
            <a:solidFill>
              <a:srgbClr val="FBBF24"/>
            </a:solidFill>
            <a:prstDash val="solid"/>
          </a:ln>
        </p:spPr>
      </p:sp>
      <p:sp>
        <p:nvSpPr>
          <p:cNvPr id="17" name="Text 15"/>
          <p:cNvSpPr/>
          <p:nvPr/>
        </p:nvSpPr>
        <p:spPr>
          <a:xfrm>
            <a:off x="6339840" y="1219200"/>
            <a:ext cx="5449824" cy="268224"/>
          </a:xfrm>
          <a:prstGeom prst="rect">
            <a:avLst/>
          </a:prstGeom>
          <a:noFill/>
          <a:ln/>
        </p:spPr>
        <p:txBody>
          <a:bodyPr wrap="square" lIns="0" tIns="0" rIns="0" bIns="0" rtlCol="0" anchor="ctr"/>
          <a:lstStyle/>
          <a:p>
            <a:r>
              <a:rPr lang="en-US" sz="1000" b="1" kern="0" spc="160" dirty="0">
                <a:solidFill>
                  <a:srgbClr val="FBBF24"/>
                </a:solidFill>
                <a:latin typeface="Calibri" pitchFamily="34" charset="0"/>
                <a:ea typeface="Calibri" pitchFamily="34" charset="-122"/>
                <a:cs typeface="Calibri" pitchFamily="34" charset="-120"/>
              </a:rPr>
              <a:t>PUNTOS CLAVE A RECORDAR</a:t>
            </a:r>
            <a:endParaRPr lang="en-US" sz="1000" dirty="0"/>
          </a:p>
        </p:txBody>
      </p:sp>
      <p:sp>
        <p:nvSpPr>
          <p:cNvPr id="18" name="Text 16"/>
          <p:cNvSpPr/>
          <p:nvPr/>
        </p:nvSpPr>
        <p:spPr>
          <a:xfrm>
            <a:off x="6339840" y="1536192"/>
            <a:ext cx="5449824" cy="4895088"/>
          </a:xfrm>
          <a:prstGeom prst="rect">
            <a:avLst/>
          </a:prstGeom>
          <a:noFill/>
          <a:ln/>
        </p:spPr>
        <p:txBody>
          <a:bodyPr wrap="square" lIns="0" tIns="0" rIns="0" bIns="0" rtlCol="0" anchor="t"/>
          <a:lstStyle/>
          <a:p>
            <a:pPr>
              <a:lnSpc>
                <a:spcPct val="128000"/>
              </a:lnSpc>
            </a:pP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Patrón identificado: </a:t>
            </a:r>
            <a:r>
              <a:rPr lang="en-US" sz="1093" dirty="0">
                <a:solidFill>
                  <a:srgbClr val="E2E8F0"/>
                </a:solidFill>
                <a:latin typeface="Calibri" pitchFamily="34" charset="0"/>
                <a:ea typeface="Calibri" pitchFamily="34" charset="-122"/>
                <a:cs typeface="Calibri" pitchFamily="34" charset="-120"/>
              </a:rPr>
              <a:t>La deuda técnica se acumula cuando el DoD es débil. Reforzar DoD desde el primer sprint es más barato que pagar deuda después.
</a:t>
            </a: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Decisión correcta: </a:t>
            </a:r>
            <a:r>
              <a:rPr lang="en-US" sz="1093" dirty="0">
                <a:solidFill>
                  <a:srgbClr val="E2E8F0"/>
                </a:solidFill>
                <a:latin typeface="Calibri" pitchFamily="34" charset="0"/>
                <a:ea typeface="Calibri" pitchFamily="34" charset="-122"/>
                <a:cs typeface="Calibri" pitchFamily="34" charset="-120"/>
              </a:rPr>
              <a:t>Crear Épica 5 – Calidad y Deuda Técnica con HUs propias. Le da visibilidad al Sponsor y al equipo de que la deuda es trabajo real, no un detalle.
</a:t>
            </a: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Error a no repetir: </a:t>
            </a:r>
            <a:r>
              <a:rPr lang="en-US" sz="1093" dirty="0">
                <a:solidFill>
                  <a:srgbClr val="E2E8F0"/>
                </a:solidFill>
                <a:latin typeface="Calibri" pitchFamily="34" charset="0"/>
                <a:ea typeface="Calibri" pitchFamily="34" charset="-122"/>
                <a:cs typeface="Calibri" pitchFamily="34" charset="-120"/>
              </a:rPr>
              <a:t>Dejar que el equipo decida internamente qué deuda pagar. El PO debe ser parte de esa priorización porque la deuda técnica tiene consecuencias de negocio.
</a:t>
            </a: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Indicador de alerta: </a:t>
            </a:r>
            <a:r>
              <a:rPr lang="en-US" sz="1093" dirty="0">
                <a:solidFill>
                  <a:srgbClr val="E2E8F0"/>
                </a:solidFill>
                <a:latin typeface="Calibri" pitchFamily="34" charset="0"/>
                <a:ea typeface="Calibri" pitchFamily="34" charset="-122"/>
                <a:cs typeface="Calibri" pitchFamily="34" charset="-120"/>
              </a:rPr>
              <a:t>Si más del 30% del tiempo de un sprint es retrabajo o bugs, hay deuda técnica no registrada. Medir tasa de retrabajo sprint a sprint.
</a:t>
            </a: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Frase de recordatorio: </a:t>
            </a:r>
            <a:r>
              <a:rPr lang="en-US" sz="1093" dirty="0">
                <a:solidFill>
                  <a:srgbClr val="E2E8F0"/>
                </a:solidFill>
                <a:latin typeface="Calibri" pitchFamily="34" charset="0"/>
                <a:ea typeface="Calibri" pitchFamily="34" charset="-122"/>
                <a:cs typeface="Calibri" pitchFamily="34" charset="-120"/>
              </a:rPr>
              <a:t>'La deuda técnica es un préstamo con interés. Cada sprint que no se paga, los intereses suben.' Usarla como argumento ante Sponsor.</a:t>
            </a:r>
            <a:endParaRPr lang="en-US" sz="1200" dirty="0"/>
          </a:p>
        </p:txBody>
      </p:sp>
      <p:sp>
        <p:nvSpPr>
          <p:cNvPr id="19" name="Shape 17"/>
          <p:cNvSpPr/>
          <p:nvPr/>
        </p:nvSpPr>
        <p:spPr>
          <a:xfrm>
            <a:off x="0" y="6699504"/>
            <a:ext cx="12192000" cy="158496"/>
          </a:xfrm>
          <a:prstGeom prst="rect">
            <a:avLst/>
          </a:prstGeom>
          <a:solidFill>
            <a:srgbClr val="1246B3"/>
          </a:solidFill>
          <a:ln w="12700">
            <a:solidFill>
              <a:srgbClr val="1246B3"/>
            </a:solidFill>
            <a:prstDash val="solid"/>
          </a:ln>
        </p:spPr>
      </p:sp>
      <p:sp>
        <p:nvSpPr>
          <p:cNvPr id="20" name="Text 18"/>
          <p:cNvSpPr/>
          <p:nvPr/>
        </p:nvSpPr>
        <p:spPr>
          <a:xfrm>
            <a:off x="243840" y="6565392"/>
            <a:ext cx="11704320" cy="158496"/>
          </a:xfrm>
          <a:prstGeom prst="rect">
            <a:avLst/>
          </a:prstGeom>
          <a:noFill/>
          <a:ln/>
        </p:spPr>
        <p:txBody>
          <a:bodyPr wrap="square" lIns="0" tIns="0" rIns="0" bIns="0" rtlCol="0" anchor="ctr"/>
          <a:lstStyle/>
          <a:p>
            <a:r>
              <a:rPr lang="en-US" sz="800" i="1" dirty="0">
                <a:solidFill>
                  <a:srgbClr val="475569"/>
                </a:solidFill>
                <a:latin typeface="Calibri" pitchFamily="34" charset="0"/>
                <a:ea typeface="Calibri" pitchFamily="34" charset="-122"/>
                <a:cs typeface="Calibri" pitchFamily="34" charset="-120"/>
              </a:rPr>
              <a:t>Gabriel Sandoval G.  ·  Product Owner  ·  ABP Módulo 5  ·  Rediseño Flujo Viáticos  ·  Caso 3 – Deuda Técnica Acumulada  ·  Registro de Autofeedback</a:t>
            </a:r>
            <a:endParaRPr lang="en-US" sz="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13">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3 – CASO 3</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Deuda Técnica u Operativa</a:t>
            </a:r>
            <a:endParaRPr lang="en-US" sz="2100"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000" i="1" dirty="0">
                <a:solidFill>
                  <a:srgbClr val="38BDF8"/>
                </a:solidFill>
                <a:latin typeface="Calibri" pitchFamily="34" charset="0"/>
                <a:ea typeface="Calibri" pitchFamily="34" charset="-122"/>
                <a:cs typeface="Calibri" pitchFamily="34" charset="-120"/>
              </a:rPr>
              <a:t>Refinamiento del Backlog</a:t>
            </a:r>
            <a:endParaRPr lang="en-US" sz="10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Shape 7"/>
          <p:cNvSpPr/>
          <p:nvPr/>
        </p:nvSpPr>
        <p:spPr>
          <a:xfrm>
            <a:off x="0" y="6720840"/>
            <a:ext cx="12188952" cy="137160"/>
          </a:xfrm>
          <a:prstGeom prst="rect">
            <a:avLst/>
          </a:prstGeom>
          <a:solidFill>
            <a:srgbClr val="1246B3"/>
          </a:solidFill>
          <a:ln w="12700">
            <a:solidFill>
              <a:srgbClr val="1246B3"/>
            </a:solidFill>
            <a:prstDash val="solid"/>
          </a:ln>
        </p:spPr>
      </p:sp>
      <p:sp>
        <p:nvSpPr>
          <p:cNvPr id="10" name="Text 8"/>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14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1400" dirty="0"/>
          </a:p>
        </p:txBody>
      </p:sp>
      <p:sp>
        <p:nvSpPr>
          <p:cNvPr id="11" name="Shape 9"/>
          <p:cNvSpPr/>
          <p:nvPr/>
        </p:nvSpPr>
        <p:spPr>
          <a:xfrm>
            <a:off x="201168" y="1005840"/>
            <a:ext cx="5760720" cy="5559552"/>
          </a:xfrm>
          <a:prstGeom prst="rect">
            <a:avLst/>
          </a:prstGeom>
          <a:solidFill>
            <a:srgbClr val="0D1B3E"/>
          </a:solidFill>
          <a:ln w="12700">
            <a:solidFill>
              <a:srgbClr val="38BDF8"/>
            </a:solidFill>
            <a:prstDash val="solid"/>
          </a:ln>
        </p:spPr>
      </p:sp>
      <p:sp>
        <p:nvSpPr>
          <p:cNvPr id="12" name="Shape 10"/>
          <p:cNvSpPr/>
          <p:nvPr/>
        </p:nvSpPr>
        <p:spPr>
          <a:xfrm>
            <a:off x="201168" y="1005840"/>
            <a:ext cx="5760720" cy="32004"/>
          </a:xfrm>
          <a:prstGeom prst="rect">
            <a:avLst/>
          </a:prstGeom>
          <a:solidFill>
            <a:srgbClr val="38BDF8"/>
          </a:solidFill>
          <a:ln w="12700">
            <a:solidFill>
              <a:srgbClr val="38BDF8"/>
            </a:solidFill>
            <a:prstDash val="solid"/>
          </a:ln>
        </p:spPr>
      </p:sp>
      <p:sp>
        <p:nvSpPr>
          <p:cNvPr id="13" name="Text 11"/>
          <p:cNvSpPr/>
          <p:nvPr/>
        </p:nvSpPr>
        <p:spPr>
          <a:xfrm>
            <a:off x="347472" y="1078992"/>
            <a:ext cx="5486400" cy="237744"/>
          </a:xfrm>
          <a:prstGeom prst="rect">
            <a:avLst/>
          </a:prstGeom>
          <a:noFill/>
          <a:ln/>
        </p:spPr>
        <p:txBody>
          <a:bodyPr wrap="square" lIns="0" tIns="0" rIns="0" bIns="0" rtlCol="0" anchor="ctr"/>
          <a:lstStyle/>
          <a:p>
            <a:pPr marL="0" indent="0">
              <a:buNone/>
            </a:pPr>
            <a:r>
              <a:rPr lang="en-US" sz="1400" b="1" kern="0" spc="120" dirty="0">
                <a:solidFill>
                  <a:srgbClr val="38BDF8"/>
                </a:solidFill>
                <a:latin typeface="Calibri" pitchFamily="34" charset="0"/>
                <a:ea typeface="Calibri" pitchFamily="34" charset="-122"/>
                <a:cs typeface="Calibri" pitchFamily="34" charset="-120"/>
              </a:rPr>
              <a:t>RESOLUCIÓN APLICADA AL PROYECTO</a:t>
            </a:r>
            <a:endParaRPr lang="en-US" sz="1400" dirty="0"/>
          </a:p>
        </p:txBody>
      </p:sp>
      <p:sp>
        <p:nvSpPr>
          <p:cNvPr id="14" name="Text 12"/>
          <p:cNvSpPr/>
          <p:nvPr/>
        </p:nvSpPr>
        <p:spPr>
          <a:xfrm>
            <a:off x="347472" y="1371600"/>
            <a:ext cx="5486400" cy="5029200"/>
          </a:xfrm>
          <a:prstGeom prst="rect">
            <a:avLst/>
          </a:prstGeom>
          <a:noFill/>
          <a:ln/>
        </p:spPr>
        <p:txBody>
          <a:bodyPr wrap="square" lIns="0" tIns="0" rIns="0" bIns="0" rtlCol="0" anchor="t"/>
          <a:lstStyle/>
          <a:p>
            <a:pPr marL="0" indent="0">
              <a:lnSpc>
                <a:spcPct val="128000"/>
              </a:lnSpc>
              <a:buNone/>
            </a:pPr>
            <a:r>
              <a:rPr lang="en-US" sz="1400" b="1" dirty="0">
                <a:solidFill>
                  <a:srgbClr val="38BDF8"/>
                </a:solidFill>
                <a:latin typeface="Calibri" pitchFamily="34" charset="0"/>
                <a:ea typeface="Calibri" pitchFamily="34" charset="-122"/>
                <a:cs typeface="Calibri" pitchFamily="34" charset="-120"/>
              </a:rPr>
              <a:t>Resolución: </a:t>
            </a:r>
            <a:r>
              <a:rPr lang="en-US" sz="1400" dirty="0">
                <a:solidFill>
                  <a:srgbClr val="E2E8F0"/>
                </a:solidFill>
                <a:latin typeface="Calibri" pitchFamily="34" charset="0"/>
                <a:ea typeface="Calibri" pitchFamily="34" charset="-122"/>
                <a:cs typeface="Calibri" pitchFamily="34" charset="-120"/>
              </a:rPr>
              <a:t> Sprints 2-3: sin pruebas en OCR, sin logs de auditoría en endpoints, código TCC solo happy path. Deuda operativa: sin documentación de usuario ni protocolo soporte nivel 1.
</a:t>
            </a:r>
            <a:r>
              <a:rPr lang="en-US" sz="1400" b="1" dirty="0">
                <a:solidFill>
                  <a:srgbClr val="38BDF8"/>
                </a:solidFill>
                <a:latin typeface="Calibri" pitchFamily="34" charset="0"/>
                <a:ea typeface="Calibri" pitchFamily="34" charset="-122"/>
                <a:cs typeface="Calibri" pitchFamily="34" charset="-120"/>
              </a:rPr>
              <a:t>Deuda priorizada: </a:t>
            </a:r>
            <a:r>
              <a:rPr lang="en-US" sz="1400" dirty="0">
                <a:solidFill>
                  <a:srgbClr val="E2E8F0"/>
                </a:solidFill>
                <a:latin typeface="Calibri" pitchFamily="34" charset="0"/>
                <a:ea typeface="Calibri" pitchFamily="34" charset="-122"/>
                <a:cs typeface="Calibri" pitchFamily="34" charset="-120"/>
              </a:rPr>
              <a:t> 1° Logs auditoría en endpoints TCC (compliance). 2° Manejo errores integración bancaria. 3° Cobertura pruebas OCR &lt;30%. 4° Documentación usuario para soporte nivel 1.
</a:t>
            </a:r>
            <a:r>
              <a:rPr lang="en-US" sz="1400" b="1" dirty="0">
                <a:solidFill>
                  <a:srgbClr val="38BDF8"/>
                </a:solidFill>
                <a:latin typeface="Calibri" pitchFamily="34" charset="0"/>
                <a:ea typeface="Calibri" pitchFamily="34" charset="-122"/>
                <a:cs typeface="Calibri" pitchFamily="34" charset="-120"/>
              </a:rPr>
              <a:t>Balance acordado: </a:t>
            </a:r>
            <a:r>
              <a:rPr lang="en-US" sz="1400" dirty="0">
                <a:solidFill>
                  <a:srgbClr val="E2E8F0"/>
                </a:solidFill>
                <a:latin typeface="Calibri" pitchFamily="34" charset="0"/>
                <a:ea typeface="Calibri" pitchFamily="34" charset="-122"/>
                <a:cs typeface="Calibri" pitchFamily="34" charset="-120"/>
              </a:rPr>
              <a:t> Sprint 4 reserva 20% capacidad (8 SP) para deuda: logs auditoría (3 SP) + manejo errores TCC (3 SP) + documentación usuario (2 SP).</a:t>
            </a:r>
            <a:endParaRPr lang="en-US" sz="1400" dirty="0"/>
          </a:p>
        </p:txBody>
      </p:sp>
      <p:sp>
        <p:nvSpPr>
          <p:cNvPr id="15" name="Shape 13"/>
          <p:cNvSpPr/>
          <p:nvPr/>
        </p:nvSpPr>
        <p:spPr>
          <a:xfrm>
            <a:off x="6144768" y="1005840"/>
            <a:ext cx="5852160" cy="5559552"/>
          </a:xfrm>
          <a:prstGeom prst="rect">
            <a:avLst/>
          </a:prstGeom>
          <a:solidFill>
            <a:srgbClr val="091428"/>
          </a:solidFill>
          <a:ln w="12700">
            <a:solidFill>
              <a:srgbClr val="FBBF24"/>
            </a:solidFill>
            <a:prstDash val="solid"/>
          </a:ln>
        </p:spPr>
      </p:sp>
      <p:sp>
        <p:nvSpPr>
          <p:cNvPr id="16" name="Shape 14"/>
          <p:cNvSpPr/>
          <p:nvPr/>
        </p:nvSpPr>
        <p:spPr>
          <a:xfrm>
            <a:off x="6144768" y="1005840"/>
            <a:ext cx="5852160" cy="32004"/>
          </a:xfrm>
          <a:prstGeom prst="rect">
            <a:avLst/>
          </a:prstGeom>
          <a:solidFill>
            <a:srgbClr val="FBBF24"/>
          </a:solidFill>
          <a:ln w="12700">
            <a:solidFill>
              <a:srgbClr val="FBBF24"/>
            </a:solidFill>
            <a:prstDash val="solid"/>
          </a:ln>
        </p:spPr>
      </p:sp>
      <p:sp>
        <p:nvSpPr>
          <p:cNvPr id="17" name="Text 15"/>
          <p:cNvSpPr/>
          <p:nvPr/>
        </p:nvSpPr>
        <p:spPr>
          <a:xfrm>
            <a:off x="6291072" y="1078992"/>
            <a:ext cx="5623560" cy="237744"/>
          </a:xfrm>
          <a:prstGeom prst="rect">
            <a:avLst/>
          </a:prstGeom>
          <a:noFill/>
          <a:ln/>
        </p:spPr>
        <p:txBody>
          <a:bodyPr wrap="square" lIns="0" tIns="0" rIns="0" bIns="0" rtlCol="0" anchor="ctr"/>
          <a:lstStyle/>
          <a:p>
            <a:pPr marL="0" indent="0">
              <a:buNone/>
            </a:pPr>
            <a:r>
              <a:rPr lang="en-US" sz="1400" b="1" kern="0" spc="120" dirty="0">
                <a:solidFill>
                  <a:srgbClr val="FBBF24"/>
                </a:solidFill>
                <a:latin typeface="Calibri" pitchFamily="34" charset="0"/>
                <a:ea typeface="Calibri" pitchFamily="34" charset="-122"/>
                <a:cs typeface="Calibri" pitchFamily="34" charset="-120"/>
              </a:rPr>
              <a:t>BACKLOG ACTUALIZADO </a:t>
            </a:r>
            <a:endParaRPr lang="en-US" sz="1400" dirty="0"/>
          </a:p>
        </p:txBody>
      </p:sp>
      <p:sp>
        <p:nvSpPr>
          <p:cNvPr id="18" name="Text 16"/>
          <p:cNvSpPr/>
          <p:nvPr/>
        </p:nvSpPr>
        <p:spPr>
          <a:xfrm>
            <a:off x="6291072" y="1371600"/>
            <a:ext cx="5623560" cy="5029200"/>
          </a:xfrm>
          <a:prstGeom prst="rect">
            <a:avLst/>
          </a:prstGeom>
          <a:noFill/>
          <a:ln/>
        </p:spPr>
        <p:txBody>
          <a:bodyPr wrap="square" lIns="0" tIns="0" rIns="0" bIns="0" rtlCol="0" anchor="t"/>
          <a:lstStyle/>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Épica 5 – Calidad: </a:t>
            </a:r>
            <a:r>
              <a:rPr lang="en-US" sz="1400" dirty="0">
                <a:solidFill>
                  <a:srgbClr val="E2E8F0"/>
                </a:solidFill>
                <a:latin typeface="Calibri" pitchFamily="34" charset="0"/>
                <a:ea typeface="Calibri" pitchFamily="34" charset="-122"/>
                <a:cs typeface="Calibri" pitchFamily="34" charset="-120"/>
              </a:rPr>
              <a:t> CREADA con 4 HUs técnicas priorizadas Sprint 4 y Sprint 5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HU-T01 – Logs auditoría: </a:t>
            </a:r>
            <a:r>
              <a:rPr lang="en-US" sz="1400" dirty="0">
                <a:solidFill>
                  <a:srgbClr val="E2E8F0"/>
                </a:solidFill>
                <a:latin typeface="Calibri" pitchFamily="34" charset="0"/>
                <a:ea typeface="Calibri" pitchFamily="34" charset="-122"/>
                <a:cs typeface="Calibri" pitchFamily="34" charset="-120"/>
              </a:rPr>
              <a:t> NUEVA (3 SP, Sprint 4): log inmutable con user_id, timestamp, acción y resultado en aprobación/rechazo TCC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HU-T02 – Manejo errores TCC: </a:t>
            </a:r>
            <a:r>
              <a:rPr lang="en-US" sz="1400" dirty="0">
                <a:solidFill>
                  <a:srgbClr val="E2E8F0"/>
                </a:solidFill>
                <a:latin typeface="Calibri" pitchFamily="34" charset="0"/>
                <a:ea typeface="Calibri" pitchFamily="34" charset="-122"/>
                <a:cs typeface="Calibri" pitchFamily="34" charset="-120"/>
              </a:rPr>
              <a:t> NUEVA (3 SP, Sprint 4): retry automático máx. 3 intentos + rollback si falla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HU-T03 – Cobertura OCR: </a:t>
            </a:r>
            <a:r>
              <a:rPr lang="en-US" sz="1400" dirty="0">
                <a:solidFill>
                  <a:srgbClr val="E2E8F0"/>
                </a:solidFill>
                <a:latin typeface="Calibri" pitchFamily="34" charset="0"/>
                <a:ea typeface="Calibri" pitchFamily="34" charset="-122"/>
                <a:cs typeface="Calibri" pitchFamily="34" charset="-120"/>
              </a:rPr>
              <a:t> NUEVA (3 SP, Sprint 5): aumentar cobertura de 30% a &gt;=70% con pruebas de imágenes borrosas y rotadas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DoD ACTUALIZADA: </a:t>
            </a:r>
            <a:r>
              <a:rPr lang="en-US" sz="1400" dirty="0">
                <a:solidFill>
                  <a:srgbClr val="E2E8F0"/>
                </a:solidFill>
                <a:latin typeface="Calibri" pitchFamily="34" charset="0"/>
                <a:ea typeface="Calibri" pitchFamily="34" charset="-122"/>
                <a:cs typeface="Calibri" pitchFamily="34" charset="-120"/>
              </a:rPr>
              <a:t> Desde Sprint 4: cobertura &gt;=70% + logs + manejo error + sin deuda nueva sin registrar en Jira</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85344" cy="6858000"/>
          </a:xfrm>
          <a:prstGeom prst="rect">
            <a:avLst/>
          </a:prstGeom>
          <a:solidFill>
            <a:srgbClr val="FBBF24"/>
          </a:solidFill>
          <a:ln w="12700">
            <a:solidFill>
              <a:srgbClr val="FBBF24"/>
            </a:solidFill>
            <a:prstDash val="solid"/>
          </a:ln>
        </p:spPr>
      </p:sp>
      <p:sp>
        <p:nvSpPr>
          <p:cNvPr id="3" name="Shape 1"/>
          <p:cNvSpPr/>
          <p:nvPr/>
        </p:nvSpPr>
        <p:spPr>
          <a:xfrm>
            <a:off x="85344" y="0"/>
            <a:ext cx="12106656" cy="1036320"/>
          </a:xfrm>
          <a:prstGeom prst="rect">
            <a:avLst/>
          </a:prstGeom>
          <a:solidFill>
            <a:srgbClr val="0A1428"/>
          </a:solidFill>
          <a:ln w="12700">
            <a:solidFill>
              <a:srgbClr val="0A1428"/>
            </a:solidFill>
            <a:prstDash val="solid"/>
          </a:ln>
        </p:spPr>
      </p:sp>
      <p:sp>
        <p:nvSpPr>
          <p:cNvPr id="4" name="Shape 2"/>
          <p:cNvSpPr/>
          <p:nvPr/>
        </p:nvSpPr>
        <p:spPr>
          <a:xfrm>
            <a:off x="268224" y="170688"/>
            <a:ext cx="1950720" cy="341376"/>
          </a:xfrm>
          <a:prstGeom prst="rect">
            <a:avLst/>
          </a:prstGeom>
          <a:solidFill>
            <a:srgbClr val="FBBF24"/>
          </a:solidFill>
          <a:ln w="12700">
            <a:solidFill>
              <a:srgbClr val="FBBF24"/>
            </a:solidFill>
            <a:prstDash val="solid"/>
          </a:ln>
        </p:spPr>
      </p:sp>
      <p:sp>
        <p:nvSpPr>
          <p:cNvPr id="5" name="Text 3"/>
          <p:cNvSpPr/>
          <p:nvPr/>
        </p:nvSpPr>
        <p:spPr>
          <a:xfrm>
            <a:off x="268224" y="170688"/>
            <a:ext cx="1950720" cy="341376"/>
          </a:xfrm>
          <a:prstGeom prst="rect">
            <a:avLst/>
          </a:prstGeom>
          <a:noFill/>
          <a:ln/>
        </p:spPr>
        <p:txBody>
          <a:bodyPr wrap="square" lIns="0" tIns="0" rIns="0" bIns="0" rtlCol="0" anchor="ctr"/>
          <a:lstStyle/>
          <a:p>
            <a:pPr algn="ctr"/>
            <a:r>
              <a:rPr lang="en-US" sz="1067" b="1" kern="0" spc="267" dirty="0">
                <a:solidFill>
                  <a:srgbClr val="FFFFFF"/>
                </a:solidFill>
                <a:latin typeface="Calibri" pitchFamily="34" charset="0"/>
                <a:ea typeface="Calibri" pitchFamily="34" charset="-122"/>
                <a:cs typeface="Calibri" pitchFamily="34" charset="-120"/>
              </a:rPr>
              <a:t>CASO 4</a:t>
            </a:r>
            <a:endParaRPr lang="en-US" sz="1067" dirty="0"/>
          </a:p>
        </p:txBody>
      </p:sp>
      <p:sp>
        <p:nvSpPr>
          <p:cNvPr id="8" name="Text 6"/>
          <p:cNvSpPr/>
          <p:nvPr/>
        </p:nvSpPr>
        <p:spPr>
          <a:xfrm>
            <a:off x="3787140" y="145542"/>
            <a:ext cx="7071360" cy="487680"/>
          </a:xfrm>
          <a:prstGeom prst="rect">
            <a:avLst/>
          </a:prstGeom>
          <a:noFill/>
          <a:ln/>
        </p:spPr>
        <p:txBody>
          <a:bodyPr wrap="square" lIns="0" tIns="0" rIns="0" bIns="0" rtlCol="0" anchor="ctr"/>
          <a:lstStyle/>
          <a:p>
            <a:r>
              <a:rPr lang="en-US" sz="2400" b="1" dirty="0">
                <a:solidFill>
                  <a:srgbClr val="FFFFFF"/>
                </a:solidFill>
                <a:latin typeface="Calibri" pitchFamily="34" charset="0"/>
                <a:ea typeface="Calibri" pitchFamily="34" charset="-122"/>
                <a:cs typeface="Calibri" pitchFamily="34" charset="-120"/>
              </a:rPr>
              <a:t>Cambio de Mercado a Mitad del Proyecto</a:t>
            </a:r>
            <a:endParaRPr lang="en-US" sz="2400" dirty="0"/>
          </a:p>
        </p:txBody>
      </p:sp>
      <p:sp>
        <p:nvSpPr>
          <p:cNvPr id="9" name="Text 7"/>
          <p:cNvSpPr/>
          <p:nvPr/>
        </p:nvSpPr>
        <p:spPr>
          <a:xfrm>
            <a:off x="268224" y="633984"/>
            <a:ext cx="11655552" cy="292608"/>
          </a:xfrm>
          <a:prstGeom prst="rect">
            <a:avLst/>
          </a:prstGeom>
          <a:noFill/>
          <a:ln/>
        </p:spPr>
        <p:txBody>
          <a:bodyPr wrap="square" lIns="0" tIns="0" rIns="0" bIns="0" rtlCol="0" anchor="ctr"/>
          <a:lstStyle/>
          <a:p>
            <a:r>
              <a:rPr lang="en-US" sz="1133" i="1" dirty="0">
                <a:solidFill>
                  <a:srgbClr val="38BDF8"/>
                </a:solidFill>
                <a:latin typeface="Calibri" pitchFamily="34" charset="0"/>
                <a:ea typeface="Calibri" pitchFamily="34" charset="-122"/>
                <a:cs typeface="Calibri" pitchFamily="34" charset="-120"/>
              </a:rPr>
              <a:t>Nuevos límites +18% · categoría Peaje/Estacionamiento · doble firma zonas extremas · Sprint 3</a:t>
            </a:r>
            <a:endParaRPr lang="en-US" sz="1133" dirty="0"/>
          </a:p>
        </p:txBody>
      </p:sp>
      <p:sp>
        <p:nvSpPr>
          <p:cNvPr id="10" name="Shape 8"/>
          <p:cNvSpPr/>
          <p:nvPr/>
        </p:nvSpPr>
        <p:spPr>
          <a:xfrm>
            <a:off x="85344" y="1036321"/>
            <a:ext cx="12106656" cy="26823"/>
          </a:xfrm>
          <a:prstGeom prst="rect">
            <a:avLst/>
          </a:prstGeom>
          <a:solidFill>
            <a:srgbClr val="FBBF24"/>
          </a:solidFill>
          <a:ln w="12700">
            <a:solidFill>
              <a:srgbClr val="FBBF24"/>
            </a:solidFill>
            <a:prstDash val="solid"/>
          </a:ln>
        </p:spPr>
      </p:sp>
      <p:sp>
        <p:nvSpPr>
          <p:cNvPr id="11" name="Shape 9"/>
          <p:cNvSpPr/>
          <p:nvPr/>
        </p:nvSpPr>
        <p:spPr>
          <a:xfrm>
            <a:off x="268224" y="1133856"/>
            <a:ext cx="5754624" cy="5382768"/>
          </a:xfrm>
          <a:prstGeom prst="rect">
            <a:avLst/>
          </a:prstGeom>
          <a:solidFill>
            <a:srgbClr val="0B1A3A"/>
          </a:solidFill>
          <a:ln w="12700">
            <a:solidFill>
              <a:srgbClr val="FBBF24"/>
            </a:solidFill>
            <a:prstDash val="solid"/>
          </a:ln>
        </p:spPr>
      </p:sp>
      <p:sp>
        <p:nvSpPr>
          <p:cNvPr id="12" name="Shape 10"/>
          <p:cNvSpPr/>
          <p:nvPr/>
        </p:nvSpPr>
        <p:spPr>
          <a:xfrm>
            <a:off x="268224" y="1133856"/>
            <a:ext cx="5754624" cy="36576"/>
          </a:xfrm>
          <a:prstGeom prst="rect">
            <a:avLst/>
          </a:prstGeom>
          <a:solidFill>
            <a:srgbClr val="FBBF24"/>
          </a:solidFill>
          <a:ln w="12700">
            <a:solidFill>
              <a:srgbClr val="FBBF24"/>
            </a:solidFill>
            <a:prstDash val="solid"/>
          </a:ln>
        </p:spPr>
      </p:sp>
      <p:sp>
        <p:nvSpPr>
          <p:cNvPr id="13" name="Text 11"/>
          <p:cNvSpPr/>
          <p:nvPr/>
        </p:nvSpPr>
        <p:spPr>
          <a:xfrm>
            <a:off x="438912" y="1219200"/>
            <a:ext cx="5449824" cy="268224"/>
          </a:xfrm>
          <a:prstGeom prst="rect">
            <a:avLst/>
          </a:prstGeom>
          <a:noFill/>
          <a:ln/>
        </p:spPr>
        <p:txBody>
          <a:bodyPr wrap="square" lIns="0" tIns="0" rIns="0" bIns="0" rtlCol="0" anchor="ctr"/>
          <a:lstStyle/>
          <a:p>
            <a:r>
              <a:rPr lang="en-US" sz="1000" b="1" kern="0" spc="160" dirty="0">
                <a:solidFill>
                  <a:srgbClr val="FBBF24"/>
                </a:solidFill>
                <a:latin typeface="Calibri" pitchFamily="34" charset="0"/>
                <a:ea typeface="Calibri" pitchFamily="34" charset="-122"/>
                <a:cs typeface="Calibri" pitchFamily="34" charset="-120"/>
              </a:rPr>
              <a:t>DECISIONES Y RAZONAMIENTO</a:t>
            </a:r>
            <a:endParaRPr lang="en-US" sz="1000" dirty="0"/>
          </a:p>
        </p:txBody>
      </p:sp>
      <p:sp>
        <p:nvSpPr>
          <p:cNvPr id="14" name="Text 12"/>
          <p:cNvSpPr/>
          <p:nvPr/>
        </p:nvSpPr>
        <p:spPr>
          <a:xfrm>
            <a:off x="438912" y="1536192"/>
            <a:ext cx="5449824" cy="4895088"/>
          </a:xfrm>
          <a:prstGeom prst="rect">
            <a:avLst/>
          </a:prstGeom>
          <a:noFill/>
          <a:ln/>
        </p:spPr>
        <p:txBody>
          <a:bodyPr wrap="square" lIns="0" tIns="0" rIns="0" bIns="0" rtlCol="0" anchor="t"/>
          <a:lstStyle/>
          <a:p>
            <a:pPr>
              <a:lnSpc>
                <a:spcPct val="128000"/>
              </a:lnSpc>
            </a:pPr>
            <a:r>
              <a:rPr lang="en-US" b="1" dirty="0">
                <a:solidFill>
                  <a:srgbClr val="FBBF24"/>
                </a:solidFill>
                <a:latin typeface="Calibri" pitchFamily="34" charset="0"/>
                <a:ea typeface="Calibri" pitchFamily="34" charset="-122"/>
                <a:cs typeface="Calibri" pitchFamily="34" charset="-120"/>
              </a:rPr>
              <a:t>Absorbí el cambio sin dramatizar ni negar. </a:t>
            </a:r>
            <a:r>
              <a:rPr lang="en-US" dirty="0">
                <a:solidFill>
                  <a:srgbClr val="E2E8F0"/>
                </a:solidFill>
                <a:latin typeface="Calibri" pitchFamily="34" charset="0"/>
                <a:ea typeface="Calibri" pitchFamily="34" charset="-122"/>
                <a:cs typeface="Calibri" pitchFamily="34" charset="-120"/>
              </a:rPr>
              <a:t>Cuando Gerencia Operaciones informó el cambio de política en mitad del Sprint 3, mi primera reacción fue escuchar completo antes de responder. . </a:t>
            </a:r>
            <a:r>
              <a:rPr lang="en-US" dirty="0" err="1">
                <a:solidFill>
                  <a:srgbClr val="E2E8F0"/>
                </a:solidFill>
                <a:latin typeface="Calibri" pitchFamily="34" charset="0"/>
                <a:ea typeface="Calibri" pitchFamily="34" charset="-122"/>
                <a:cs typeface="Calibri" pitchFamily="34" charset="-120"/>
              </a:rPr>
              <a:t>Dije</a:t>
            </a:r>
            <a:r>
              <a:rPr lang="en-US" dirty="0">
                <a:solidFill>
                  <a:srgbClr val="E2E8F0"/>
                </a:solidFill>
                <a:latin typeface="Calibri" pitchFamily="34" charset="0"/>
                <a:ea typeface="Calibri" pitchFamily="34" charset="-122"/>
                <a:cs typeface="Calibri" pitchFamily="34" charset="-120"/>
              </a:rPr>
              <a:t> …”</a:t>
            </a:r>
            <a:r>
              <a:rPr lang="en-US" dirty="0" err="1">
                <a:solidFill>
                  <a:srgbClr val="E2E8F0"/>
                </a:solidFill>
                <a:latin typeface="Calibri" pitchFamily="34" charset="0"/>
                <a:ea typeface="Calibri" pitchFamily="34" charset="-122"/>
                <a:cs typeface="Calibri" pitchFamily="34" charset="-120"/>
              </a:rPr>
              <a:t>entendido</a:t>
            </a:r>
            <a:r>
              <a:rPr lang="en-US" dirty="0">
                <a:solidFill>
                  <a:srgbClr val="E2E8F0"/>
                </a:solidFill>
                <a:latin typeface="Calibri" pitchFamily="34" charset="0"/>
                <a:ea typeface="Calibri" pitchFamily="34" charset="-122"/>
                <a:cs typeface="Calibri" pitchFamily="34" charset="-120"/>
              </a:rPr>
              <a:t>, déjame analizar el impacto y vuelvo </a:t>
            </a:r>
            <a:r>
              <a:rPr lang="en-US" dirty="0" err="1">
                <a:solidFill>
                  <a:srgbClr val="E2E8F0"/>
                </a:solidFill>
                <a:latin typeface="Calibri" pitchFamily="34" charset="0"/>
                <a:ea typeface="Calibri" pitchFamily="34" charset="-122"/>
                <a:cs typeface="Calibri" pitchFamily="34" charset="-120"/>
              </a:rPr>
              <a:t>en</a:t>
            </a:r>
            <a:r>
              <a:rPr lang="en-US" dirty="0">
                <a:solidFill>
                  <a:srgbClr val="E2E8F0"/>
                </a:solidFill>
                <a:latin typeface="Calibri" pitchFamily="34" charset="0"/>
                <a:ea typeface="Calibri" pitchFamily="34" charset="-122"/>
                <a:cs typeface="Calibri" pitchFamily="34" charset="-120"/>
              </a:rPr>
              <a:t> 3 horas con </a:t>
            </a:r>
            <a:r>
              <a:rPr lang="en-US" dirty="0" err="1">
                <a:solidFill>
                  <a:srgbClr val="E2E8F0"/>
                </a:solidFill>
                <a:latin typeface="Calibri" pitchFamily="34" charset="0"/>
                <a:ea typeface="Calibri" pitchFamily="34" charset="-122"/>
                <a:cs typeface="Calibri" pitchFamily="34" charset="-120"/>
              </a:rPr>
              <a:t>una</a:t>
            </a:r>
            <a:r>
              <a:rPr lang="en-US" dirty="0">
                <a:solidFill>
                  <a:srgbClr val="E2E8F0"/>
                </a:solidFill>
                <a:latin typeface="Calibri" pitchFamily="34" charset="0"/>
                <a:ea typeface="Calibri" pitchFamily="34" charset="-122"/>
                <a:cs typeface="Calibri" pitchFamily="34" charset="-120"/>
              </a:rPr>
              <a:t> </a:t>
            </a:r>
            <a:r>
              <a:rPr lang="en-US" dirty="0" err="1">
                <a:solidFill>
                  <a:srgbClr val="E2E8F0"/>
                </a:solidFill>
                <a:latin typeface="Calibri" pitchFamily="34" charset="0"/>
                <a:ea typeface="Calibri" pitchFamily="34" charset="-122"/>
                <a:cs typeface="Calibri" pitchFamily="34" charset="-120"/>
              </a:rPr>
              <a:t>propuesta</a:t>
            </a:r>
            <a:r>
              <a:rPr lang="en-US" dirty="0">
                <a:solidFill>
                  <a:srgbClr val="E2E8F0"/>
                </a:solidFill>
                <a:latin typeface="Calibri" pitchFamily="34" charset="0"/>
                <a:ea typeface="Calibri" pitchFamily="34" charset="-122"/>
                <a:cs typeface="Calibri" pitchFamily="34" charset="-120"/>
              </a:rPr>
              <a:t>”. El </a:t>
            </a:r>
            <a:r>
              <a:rPr lang="en-US" dirty="0" err="1">
                <a:solidFill>
                  <a:srgbClr val="E2E8F0"/>
                </a:solidFill>
                <a:latin typeface="Calibri" pitchFamily="34" charset="0"/>
                <a:ea typeface="Calibri" pitchFamily="34" charset="-122"/>
                <a:cs typeface="Calibri" pitchFamily="34" charset="-120"/>
              </a:rPr>
              <a:t>aprendizaje</a:t>
            </a:r>
            <a:r>
              <a:rPr lang="en-US" dirty="0">
                <a:solidFill>
                  <a:srgbClr val="E2E8F0"/>
                </a:solidFill>
                <a:latin typeface="Calibri" pitchFamily="34" charset="0"/>
                <a:ea typeface="Calibri" pitchFamily="34" charset="-122"/>
                <a:cs typeface="Calibri" pitchFamily="34" charset="-120"/>
              </a:rPr>
              <a:t> de no </a:t>
            </a:r>
            <a:r>
              <a:rPr lang="en-US" dirty="0" err="1">
                <a:solidFill>
                  <a:srgbClr val="E2E8F0"/>
                </a:solidFill>
                <a:latin typeface="Calibri" pitchFamily="34" charset="0"/>
                <a:ea typeface="Calibri" pitchFamily="34" charset="-122"/>
                <a:cs typeface="Calibri" pitchFamily="34" charset="-120"/>
              </a:rPr>
              <a:t>poder</a:t>
            </a:r>
            <a:r>
              <a:rPr lang="en-US" dirty="0">
                <a:solidFill>
                  <a:srgbClr val="E2E8F0"/>
                </a:solidFill>
                <a:latin typeface="Calibri" pitchFamily="34" charset="0"/>
                <a:ea typeface="Calibri" pitchFamily="34" charset="-122"/>
                <a:cs typeface="Calibri" pitchFamily="34" charset="-120"/>
              </a:rPr>
              <a:t> controlarlo todo, </a:t>
            </a:r>
            <a:r>
              <a:rPr lang="en-US" dirty="0" err="1">
                <a:solidFill>
                  <a:srgbClr val="E2E8F0"/>
                </a:solidFill>
                <a:latin typeface="Calibri" pitchFamily="34" charset="0"/>
                <a:ea typeface="Calibri" pitchFamily="34" charset="-122"/>
                <a:cs typeface="Calibri" pitchFamily="34" charset="-120"/>
              </a:rPr>
              <a:t>pero</a:t>
            </a:r>
            <a:r>
              <a:rPr lang="en-US" dirty="0">
                <a:solidFill>
                  <a:srgbClr val="E2E8F0"/>
                </a:solidFill>
                <a:latin typeface="Calibri" pitchFamily="34" charset="0"/>
                <a:ea typeface="Calibri" pitchFamily="34" charset="-122"/>
                <a:cs typeface="Calibri" pitchFamily="34" charset="-120"/>
              </a:rPr>
              <a:t> </a:t>
            </a:r>
            <a:r>
              <a:rPr lang="en-US" dirty="0" err="1">
                <a:solidFill>
                  <a:srgbClr val="E2E8F0"/>
                </a:solidFill>
                <a:latin typeface="Calibri" pitchFamily="34" charset="0"/>
                <a:ea typeface="Calibri" pitchFamily="34" charset="-122"/>
                <a:cs typeface="Calibri" pitchFamily="34" charset="-120"/>
              </a:rPr>
              <a:t>sí</a:t>
            </a:r>
            <a:r>
              <a:rPr lang="en-US" dirty="0">
                <a:solidFill>
                  <a:srgbClr val="E2E8F0"/>
                </a:solidFill>
                <a:latin typeface="Calibri" pitchFamily="34" charset="0"/>
                <a:ea typeface="Calibri" pitchFamily="34" charset="-122"/>
                <a:cs typeface="Calibri" pitchFamily="34" charset="-120"/>
              </a:rPr>
              <a:t> controlar </a:t>
            </a:r>
            <a:r>
              <a:rPr lang="en-US" dirty="0" err="1">
                <a:solidFill>
                  <a:srgbClr val="E2E8F0"/>
                </a:solidFill>
                <a:latin typeface="Calibri" pitchFamily="34" charset="0"/>
                <a:ea typeface="Calibri" pitchFamily="34" charset="-122"/>
                <a:cs typeface="Calibri" pitchFamily="34" charset="-120"/>
              </a:rPr>
              <a:t>cómo</a:t>
            </a:r>
            <a:r>
              <a:rPr lang="en-US" dirty="0">
                <a:solidFill>
                  <a:srgbClr val="E2E8F0"/>
                </a:solidFill>
                <a:latin typeface="Calibri" pitchFamily="34" charset="0"/>
                <a:ea typeface="Calibri" pitchFamily="34" charset="-122"/>
                <a:cs typeface="Calibri" pitchFamily="34" charset="-120"/>
              </a:rPr>
              <a:t> </a:t>
            </a:r>
            <a:r>
              <a:rPr lang="en-US" dirty="0" err="1">
                <a:solidFill>
                  <a:srgbClr val="E2E8F0"/>
                </a:solidFill>
                <a:latin typeface="Calibri" pitchFamily="34" charset="0"/>
                <a:ea typeface="Calibri" pitchFamily="34" charset="-122"/>
                <a:cs typeface="Calibri" pitchFamily="34" charset="-120"/>
              </a:rPr>
              <a:t>respondemos</a:t>
            </a:r>
            <a:r>
              <a:rPr lang="en-US" dirty="0">
                <a:solidFill>
                  <a:srgbClr val="E2E8F0"/>
                </a:solidFill>
                <a:latin typeface="Calibri" pitchFamily="34" charset="0"/>
                <a:ea typeface="Calibri" pitchFamily="34" charset="-122"/>
                <a:cs typeface="Calibri" pitchFamily="34" charset="-120"/>
              </a:rPr>
              <a:t> y </a:t>
            </a:r>
            <a:r>
              <a:rPr lang="en-US" dirty="0" err="1">
                <a:solidFill>
                  <a:srgbClr val="E2E8F0"/>
                </a:solidFill>
                <a:latin typeface="Calibri" pitchFamily="34" charset="0"/>
                <a:ea typeface="Calibri" pitchFamily="34" charset="-122"/>
                <a:cs typeface="Calibri" pitchFamily="34" charset="-120"/>
              </a:rPr>
              <a:t>reaccionamos</a:t>
            </a:r>
            <a:r>
              <a:rPr lang="en-US" dirty="0">
                <a:solidFill>
                  <a:srgbClr val="E2E8F0"/>
                </a:solidFill>
                <a:latin typeface="Calibri" pitchFamily="34" charset="0"/>
                <a:ea typeface="Calibri" pitchFamily="34" charset="-122"/>
                <a:cs typeface="Calibri" pitchFamily="34" charset="-120"/>
              </a:rPr>
              <a:t> a </a:t>
            </a:r>
            <a:r>
              <a:rPr lang="en-US" dirty="0" err="1">
                <a:solidFill>
                  <a:srgbClr val="E2E8F0"/>
                </a:solidFill>
                <a:latin typeface="Calibri" pitchFamily="34" charset="0"/>
                <a:ea typeface="Calibri" pitchFamily="34" charset="-122"/>
                <a:cs typeface="Calibri" pitchFamily="34" charset="-120"/>
              </a:rPr>
              <a:t>una</a:t>
            </a:r>
            <a:r>
              <a:rPr lang="en-US" dirty="0">
                <a:solidFill>
                  <a:srgbClr val="E2E8F0"/>
                </a:solidFill>
                <a:latin typeface="Calibri" pitchFamily="34" charset="0"/>
                <a:ea typeface="Calibri" pitchFamily="34" charset="-122"/>
                <a:cs typeface="Calibri" pitchFamily="34" charset="-120"/>
              </a:rPr>
              <a:t> </a:t>
            </a:r>
            <a:r>
              <a:rPr lang="en-US" dirty="0" err="1">
                <a:solidFill>
                  <a:srgbClr val="E2E8F0"/>
                </a:solidFill>
                <a:latin typeface="Calibri" pitchFamily="34" charset="0"/>
                <a:ea typeface="Calibri" pitchFamily="34" charset="-122"/>
                <a:cs typeface="Calibri" pitchFamily="34" charset="-120"/>
              </a:rPr>
              <a:t>situacion</a:t>
            </a:r>
            <a:r>
              <a:rPr lang="en-US" dirty="0">
                <a:solidFill>
                  <a:srgbClr val="E2E8F0"/>
                </a:solidFill>
                <a:latin typeface="Calibri" pitchFamily="34" charset="0"/>
                <a:ea typeface="Calibri" pitchFamily="34" charset="-122"/>
                <a:cs typeface="Calibri" pitchFamily="34" charset="-120"/>
              </a:rPr>
              <a:t>
</a:t>
            </a:r>
            <a:r>
              <a:rPr lang="en-US" sz="1093" dirty="0">
                <a:solidFill>
                  <a:srgbClr val="E2E8F0"/>
                </a:solidFill>
                <a:latin typeface="Calibri" pitchFamily="34" charset="0"/>
                <a:ea typeface="Calibri" pitchFamily="34" charset="-122"/>
                <a:cs typeface="Calibri" pitchFamily="34" charset="-120"/>
              </a:rPr>
              <a:t>
</a:t>
            </a:r>
            <a:endParaRPr lang="en-US" sz="1093" dirty="0"/>
          </a:p>
        </p:txBody>
      </p:sp>
      <p:sp>
        <p:nvSpPr>
          <p:cNvPr id="15" name="Shape 13"/>
          <p:cNvSpPr/>
          <p:nvPr/>
        </p:nvSpPr>
        <p:spPr>
          <a:xfrm>
            <a:off x="6169152" y="1133856"/>
            <a:ext cx="5754624" cy="5382768"/>
          </a:xfrm>
          <a:prstGeom prst="rect">
            <a:avLst/>
          </a:prstGeom>
          <a:solidFill>
            <a:srgbClr val="091428"/>
          </a:solidFill>
          <a:ln w="12700">
            <a:solidFill>
              <a:srgbClr val="38BDF8"/>
            </a:solidFill>
            <a:prstDash val="solid"/>
          </a:ln>
        </p:spPr>
      </p:sp>
      <p:sp>
        <p:nvSpPr>
          <p:cNvPr id="16" name="Shape 14"/>
          <p:cNvSpPr/>
          <p:nvPr/>
        </p:nvSpPr>
        <p:spPr>
          <a:xfrm>
            <a:off x="6169152" y="1133856"/>
            <a:ext cx="5754624" cy="36576"/>
          </a:xfrm>
          <a:prstGeom prst="rect">
            <a:avLst/>
          </a:prstGeom>
          <a:solidFill>
            <a:srgbClr val="38BDF8"/>
          </a:solidFill>
          <a:ln w="12700">
            <a:solidFill>
              <a:srgbClr val="38BDF8"/>
            </a:solidFill>
            <a:prstDash val="solid"/>
          </a:ln>
        </p:spPr>
      </p:sp>
      <p:sp>
        <p:nvSpPr>
          <p:cNvPr id="17" name="Text 15"/>
          <p:cNvSpPr/>
          <p:nvPr/>
        </p:nvSpPr>
        <p:spPr>
          <a:xfrm>
            <a:off x="6339840" y="1219200"/>
            <a:ext cx="5449824" cy="268224"/>
          </a:xfrm>
          <a:prstGeom prst="rect">
            <a:avLst/>
          </a:prstGeom>
          <a:noFill/>
          <a:ln/>
        </p:spPr>
        <p:txBody>
          <a:bodyPr wrap="square" lIns="0" tIns="0" rIns="0" bIns="0" rtlCol="0" anchor="ctr"/>
          <a:lstStyle/>
          <a:p>
            <a:r>
              <a:rPr lang="en-US" sz="1000" b="1" kern="0" spc="160" dirty="0">
                <a:solidFill>
                  <a:srgbClr val="38BDF8"/>
                </a:solidFill>
                <a:latin typeface="Calibri" pitchFamily="34" charset="0"/>
                <a:ea typeface="Calibri" pitchFamily="34" charset="-122"/>
                <a:cs typeface="Calibri" pitchFamily="34" charset="-120"/>
              </a:rPr>
              <a:t> PUNTOS CLAVE A RECORDAR</a:t>
            </a:r>
            <a:endParaRPr lang="en-US" sz="1000" dirty="0"/>
          </a:p>
        </p:txBody>
      </p:sp>
      <p:sp>
        <p:nvSpPr>
          <p:cNvPr id="18" name="Text 16"/>
          <p:cNvSpPr/>
          <p:nvPr/>
        </p:nvSpPr>
        <p:spPr>
          <a:xfrm>
            <a:off x="6339840" y="1536192"/>
            <a:ext cx="5449824" cy="4895088"/>
          </a:xfrm>
          <a:prstGeom prst="rect">
            <a:avLst/>
          </a:prstGeom>
          <a:noFill/>
          <a:ln/>
        </p:spPr>
        <p:txBody>
          <a:bodyPr wrap="square" lIns="0" tIns="0" rIns="0" bIns="0" rtlCol="0" anchor="t"/>
          <a:lstStyle/>
          <a:p>
            <a:pPr>
              <a:lnSpc>
                <a:spcPct val="128000"/>
              </a:lnSpc>
            </a:pP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Patrón identificado: </a:t>
            </a:r>
            <a:r>
              <a:rPr lang="en-US" sz="1093" dirty="0">
                <a:solidFill>
                  <a:srgbClr val="E2E8F0"/>
                </a:solidFill>
                <a:latin typeface="Calibri" pitchFamily="34" charset="0"/>
                <a:ea typeface="Calibri" pitchFamily="34" charset="-122"/>
                <a:cs typeface="Calibri" pitchFamily="34" charset="-120"/>
              </a:rPr>
              <a:t>Los cambios de mercado no son excepciones, son parte del trabajo del PO. Agilidad real significa absorber cambios sin perder el norte estratégico.
</a:t>
            </a: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Decisión que funcionó: </a:t>
            </a:r>
            <a:r>
              <a:rPr lang="en-US" sz="1093" dirty="0">
                <a:solidFill>
                  <a:srgbClr val="E2E8F0"/>
                </a:solidFill>
                <a:latin typeface="Calibri" pitchFamily="34" charset="0"/>
                <a:ea typeface="Calibri" pitchFamily="34" charset="-122"/>
                <a:cs typeface="Calibri" pitchFamily="34" charset="-120"/>
              </a:rPr>
              <a:t>Parametrizar los límites TCC desde panel de administración. Transforma un cambio de mercado puntual en una capacidad permanente del sistema.
</a:t>
            </a: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Error a no repetir: </a:t>
            </a:r>
            <a:r>
              <a:rPr lang="en-US" sz="1093" dirty="0">
                <a:solidFill>
                  <a:srgbClr val="E2E8F0"/>
                </a:solidFill>
                <a:latin typeface="Calibri" pitchFamily="34" charset="0"/>
                <a:ea typeface="Calibri" pitchFamily="34" charset="-122"/>
                <a:cs typeface="Calibri" pitchFamily="34" charset="-120"/>
              </a:rPr>
              <a:t>Hardcodear cualquier valor de negocio que pueda cambiar por política, inflación o regulación. Todo umbral de negocio debe ser configurable desde el primer diseño.
</a:t>
            </a: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Gestión del Sponsor: </a:t>
            </a:r>
            <a:r>
              <a:rPr lang="en-US" sz="1093" dirty="0">
                <a:solidFill>
                  <a:srgbClr val="E2E8F0"/>
                </a:solidFill>
                <a:latin typeface="Calibri" pitchFamily="34" charset="0"/>
                <a:ea typeface="Calibri" pitchFamily="34" charset="-122"/>
                <a:cs typeface="Calibri" pitchFamily="34" charset="-120"/>
              </a:rPr>
              <a:t>Informar el cambio y la solución en el mismo mensaje, no solo el problema. 'Hubo un cambio de política. El impacto es X. Mi propuesta es Y. Necesito tu aprobación para Z.'
</a:t>
            </a: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Aprendizaje de producto: </a:t>
            </a:r>
            <a:r>
              <a:rPr lang="en-US" sz="1093" dirty="0">
                <a:solidFill>
                  <a:srgbClr val="E2E8F0"/>
                </a:solidFill>
                <a:latin typeface="Calibri" pitchFamily="34" charset="0"/>
                <a:ea typeface="Calibri" pitchFamily="34" charset="-122"/>
                <a:cs typeface="Calibri" pitchFamily="34" charset="-120"/>
              </a:rPr>
              <a:t>Un buen producto anticipa que las políticas cambian. Diseñar para la configurabilidad desde el inicio es más barato que rediseñar después.</a:t>
            </a:r>
            <a:endParaRPr lang="en-US" sz="1200" dirty="0"/>
          </a:p>
        </p:txBody>
      </p:sp>
      <p:sp>
        <p:nvSpPr>
          <p:cNvPr id="19" name="Shape 17"/>
          <p:cNvSpPr/>
          <p:nvPr/>
        </p:nvSpPr>
        <p:spPr>
          <a:xfrm>
            <a:off x="0" y="6699504"/>
            <a:ext cx="12192000" cy="158496"/>
          </a:xfrm>
          <a:prstGeom prst="rect">
            <a:avLst/>
          </a:prstGeom>
          <a:solidFill>
            <a:srgbClr val="1246B3"/>
          </a:solidFill>
          <a:ln w="12700">
            <a:solidFill>
              <a:srgbClr val="1246B3"/>
            </a:solidFill>
            <a:prstDash val="solid"/>
          </a:ln>
        </p:spPr>
      </p:sp>
      <p:sp>
        <p:nvSpPr>
          <p:cNvPr id="20" name="Text 18"/>
          <p:cNvSpPr/>
          <p:nvPr/>
        </p:nvSpPr>
        <p:spPr>
          <a:xfrm>
            <a:off x="243840" y="6565392"/>
            <a:ext cx="11704320" cy="158496"/>
          </a:xfrm>
          <a:prstGeom prst="rect">
            <a:avLst/>
          </a:prstGeom>
          <a:noFill/>
          <a:ln/>
        </p:spPr>
        <p:txBody>
          <a:bodyPr wrap="square" lIns="0" tIns="0" rIns="0" bIns="0" rtlCol="0" anchor="ctr"/>
          <a:lstStyle/>
          <a:p>
            <a:r>
              <a:rPr lang="en-US" sz="800" i="1" dirty="0">
                <a:solidFill>
                  <a:srgbClr val="475569"/>
                </a:solidFill>
                <a:latin typeface="Calibri" pitchFamily="34" charset="0"/>
                <a:ea typeface="Calibri" pitchFamily="34" charset="-122"/>
                <a:cs typeface="Calibri" pitchFamily="34" charset="-120"/>
              </a:rPr>
              <a:t>Gabriel Sandoval G.  ·  Product Owner  ·  ABP Módulo 5  ·  Rediseño Flujo Viáticos  ·  Caso 4 – Cambio de Mercado  ·  Registro de Autofeedback</a:t>
            </a:r>
            <a:endParaRPr lang="en-US" sz="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3 – CASO 4</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Cambio de Mercado</a:t>
            </a:r>
            <a:endParaRPr lang="en-US" sz="2100"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000" i="1" dirty="0">
                <a:solidFill>
                  <a:srgbClr val="38BDF8"/>
                </a:solidFill>
                <a:latin typeface="Calibri" pitchFamily="34" charset="0"/>
                <a:ea typeface="Calibri" pitchFamily="34" charset="-122"/>
                <a:cs typeface="Calibri" pitchFamily="34" charset="-120"/>
              </a:rPr>
              <a:t>Refinamiento del Backlog</a:t>
            </a:r>
            <a:endParaRPr lang="en-US" sz="10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Shape 7"/>
          <p:cNvSpPr/>
          <p:nvPr/>
        </p:nvSpPr>
        <p:spPr>
          <a:xfrm>
            <a:off x="0" y="6720840"/>
            <a:ext cx="12188952" cy="137160"/>
          </a:xfrm>
          <a:prstGeom prst="rect">
            <a:avLst/>
          </a:prstGeom>
          <a:solidFill>
            <a:srgbClr val="1246B3"/>
          </a:solidFill>
          <a:ln w="12700">
            <a:solidFill>
              <a:srgbClr val="1246B3"/>
            </a:solidFill>
            <a:prstDash val="solid"/>
          </a:ln>
        </p:spPr>
      </p:sp>
      <p:sp>
        <p:nvSpPr>
          <p:cNvPr id="10" name="Text 8"/>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14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1400" dirty="0"/>
          </a:p>
        </p:txBody>
      </p:sp>
      <p:sp>
        <p:nvSpPr>
          <p:cNvPr id="11" name="Shape 9"/>
          <p:cNvSpPr/>
          <p:nvPr/>
        </p:nvSpPr>
        <p:spPr>
          <a:xfrm>
            <a:off x="201168" y="1005840"/>
            <a:ext cx="5760720" cy="5559552"/>
          </a:xfrm>
          <a:prstGeom prst="rect">
            <a:avLst/>
          </a:prstGeom>
          <a:solidFill>
            <a:srgbClr val="0D1B3E"/>
          </a:solidFill>
          <a:ln w="12700">
            <a:solidFill>
              <a:srgbClr val="38BDF8"/>
            </a:solidFill>
            <a:prstDash val="solid"/>
          </a:ln>
        </p:spPr>
      </p:sp>
      <p:sp>
        <p:nvSpPr>
          <p:cNvPr id="12" name="Shape 10"/>
          <p:cNvSpPr/>
          <p:nvPr/>
        </p:nvSpPr>
        <p:spPr>
          <a:xfrm>
            <a:off x="201168" y="1005840"/>
            <a:ext cx="5760720" cy="32004"/>
          </a:xfrm>
          <a:prstGeom prst="rect">
            <a:avLst/>
          </a:prstGeom>
          <a:solidFill>
            <a:srgbClr val="38BDF8"/>
          </a:solidFill>
          <a:ln w="12700">
            <a:solidFill>
              <a:srgbClr val="38BDF8"/>
            </a:solidFill>
            <a:prstDash val="solid"/>
          </a:ln>
        </p:spPr>
      </p:sp>
      <p:sp>
        <p:nvSpPr>
          <p:cNvPr id="13" name="Text 11"/>
          <p:cNvSpPr/>
          <p:nvPr/>
        </p:nvSpPr>
        <p:spPr>
          <a:xfrm>
            <a:off x="347472" y="1078992"/>
            <a:ext cx="5486400" cy="237744"/>
          </a:xfrm>
          <a:prstGeom prst="rect">
            <a:avLst/>
          </a:prstGeom>
          <a:noFill/>
          <a:ln/>
        </p:spPr>
        <p:txBody>
          <a:bodyPr wrap="square" lIns="0" tIns="0" rIns="0" bIns="0" rtlCol="0" anchor="ctr"/>
          <a:lstStyle/>
          <a:p>
            <a:pPr marL="0" indent="0">
              <a:buNone/>
            </a:pPr>
            <a:r>
              <a:rPr lang="en-US" sz="1400" b="1" kern="0" spc="120" dirty="0">
                <a:solidFill>
                  <a:srgbClr val="38BDF8"/>
                </a:solidFill>
                <a:latin typeface="Calibri" pitchFamily="34" charset="0"/>
                <a:ea typeface="Calibri" pitchFamily="34" charset="-122"/>
                <a:cs typeface="Calibri" pitchFamily="34" charset="-120"/>
              </a:rPr>
              <a:t>RESOLUCIÓN APLICADA AL PROYECTO</a:t>
            </a:r>
            <a:endParaRPr lang="en-US" sz="1400" dirty="0"/>
          </a:p>
        </p:txBody>
      </p:sp>
      <p:sp>
        <p:nvSpPr>
          <p:cNvPr id="14" name="Text 12"/>
          <p:cNvSpPr/>
          <p:nvPr/>
        </p:nvSpPr>
        <p:spPr>
          <a:xfrm>
            <a:off x="347472" y="1371600"/>
            <a:ext cx="5486400" cy="5029200"/>
          </a:xfrm>
          <a:prstGeom prst="rect">
            <a:avLst/>
          </a:prstGeom>
          <a:noFill/>
          <a:ln/>
        </p:spPr>
        <p:txBody>
          <a:bodyPr wrap="square" lIns="0" tIns="0" rIns="0" bIns="0" rtlCol="0" anchor="t"/>
          <a:lstStyle/>
          <a:p>
            <a:pPr marL="0" indent="0">
              <a:lnSpc>
                <a:spcPct val="128000"/>
              </a:lnSpc>
              <a:buNone/>
            </a:pPr>
            <a:r>
              <a:rPr lang="en-US" sz="1400" b="1" dirty="0">
                <a:solidFill>
                  <a:srgbClr val="38BDF8"/>
                </a:solidFill>
                <a:latin typeface="Calibri" pitchFamily="34" charset="0"/>
                <a:ea typeface="Calibri" pitchFamily="34" charset="-122"/>
                <a:cs typeface="Calibri" pitchFamily="34" charset="-120"/>
              </a:rPr>
              <a:t>Resolución: </a:t>
            </a:r>
            <a:r>
              <a:rPr lang="en-US" sz="1400" dirty="0">
                <a:solidFill>
                  <a:srgbClr val="E2E8F0"/>
                </a:solidFill>
                <a:latin typeface="Calibri" pitchFamily="34" charset="0"/>
                <a:ea typeface="Calibri" pitchFamily="34" charset="-122"/>
                <a:cs typeface="Calibri" pitchFamily="34" charset="-120"/>
              </a:rPr>
              <a:t> Gerencia Operaciones informa actualización de política de viáticos por inflación: límites +18%, nueva categoría 'Peaje y Estacionamiento', y doble firma para zonas extremas.
</a:t>
            </a:r>
            <a:r>
              <a:rPr lang="en-US" sz="1400" b="1" dirty="0">
                <a:solidFill>
                  <a:srgbClr val="38BDF8"/>
                </a:solidFill>
                <a:latin typeface="Calibri" pitchFamily="34" charset="0"/>
                <a:ea typeface="Calibri" pitchFamily="34" charset="-122"/>
                <a:cs typeface="Calibri" pitchFamily="34" charset="-120"/>
              </a:rPr>
              <a:t>Impacto identificado: </a:t>
            </a:r>
            <a:r>
              <a:rPr lang="en-US" sz="1400" dirty="0">
                <a:solidFill>
                  <a:srgbClr val="E2E8F0"/>
                </a:solidFill>
                <a:latin typeface="Calibri" pitchFamily="34" charset="0"/>
                <a:ea typeface="Calibri" pitchFamily="34" charset="-122"/>
                <a:cs typeface="Calibri" pitchFamily="34" charset="-120"/>
              </a:rPr>
              <a:t> Afecta HU1 (límites TCC hardcodeados), HU5 (flujo aprobación), HU6 (categorías OCR). El modelo IA fue entrenado sin la nueva categoría.
</a:t>
            </a:r>
            <a:r>
              <a:rPr lang="en-US" sz="1400" b="1" dirty="0">
                <a:solidFill>
                  <a:srgbClr val="38BDF8"/>
                </a:solidFill>
                <a:latin typeface="Calibri" pitchFamily="34" charset="0"/>
                <a:ea typeface="Calibri" pitchFamily="34" charset="-122"/>
                <a:cs typeface="Calibri" pitchFamily="34" charset="-120"/>
              </a:rPr>
              <a:t>Ajuste PO en Sprint Review: </a:t>
            </a:r>
            <a:r>
              <a:rPr lang="en-US" sz="1400" dirty="0">
                <a:solidFill>
                  <a:srgbClr val="E2E8F0"/>
                </a:solidFill>
                <a:latin typeface="Calibri" pitchFamily="34" charset="0"/>
                <a:ea typeface="Calibri" pitchFamily="34" charset="-122"/>
                <a:cs typeface="Calibri" pitchFamily="34" charset="-120"/>
              </a:rPr>
              <a:t> (1) Límites TCC parametrizables desde panel admin – Sprint 4. (2) Nueva categoría OCR en dataset Sprint 4. (3) Doble firma zonas extremas como HU21 – Sprint 5. Go-live Sprint 6 sin cambio.</a:t>
            </a:r>
            <a:endParaRPr lang="en-US" sz="1400" dirty="0"/>
          </a:p>
        </p:txBody>
      </p:sp>
      <p:sp>
        <p:nvSpPr>
          <p:cNvPr id="15" name="Shape 13"/>
          <p:cNvSpPr/>
          <p:nvPr/>
        </p:nvSpPr>
        <p:spPr>
          <a:xfrm>
            <a:off x="6144768" y="1005840"/>
            <a:ext cx="5852160" cy="5559552"/>
          </a:xfrm>
          <a:prstGeom prst="rect">
            <a:avLst/>
          </a:prstGeom>
          <a:solidFill>
            <a:srgbClr val="091428"/>
          </a:solidFill>
          <a:ln w="12700">
            <a:solidFill>
              <a:srgbClr val="FBBF24"/>
            </a:solidFill>
            <a:prstDash val="solid"/>
          </a:ln>
        </p:spPr>
        <p:txBody>
          <a:bodyPr/>
          <a:lstStyle/>
          <a:p>
            <a:endParaRPr lang="es-ES_tradnl" sz="1400" dirty="0"/>
          </a:p>
        </p:txBody>
      </p:sp>
      <p:sp>
        <p:nvSpPr>
          <p:cNvPr id="16" name="Shape 14"/>
          <p:cNvSpPr/>
          <p:nvPr/>
        </p:nvSpPr>
        <p:spPr>
          <a:xfrm>
            <a:off x="6144768" y="1005840"/>
            <a:ext cx="5852160" cy="32004"/>
          </a:xfrm>
          <a:prstGeom prst="rect">
            <a:avLst/>
          </a:prstGeom>
          <a:solidFill>
            <a:srgbClr val="FBBF24"/>
          </a:solidFill>
          <a:ln w="12700">
            <a:solidFill>
              <a:srgbClr val="FBBF24"/>
            </a:solidFill>
            <a:prstDash val="solid"/>
          </a:ln>
        </p:spPr>
      </p:sp>
      <p:sp>
        <p:nvSpPr>
          <p:cNvPr id="17" name="Text 15"/>
          <p:cNvSpPr/>
          <p:nvPr/>
        </p:nvSpPr>
        <p:spPr>
          <a:xfrm>
            <a:off x="6291072" y="1078992"/>
            <a:ext cx="5623560" cy="237744"/>
          </a:xfrm>
          <a:prstGeom prst="rect">
            <a:avLst/>
          </a:prstGeom>
          <a:noFill/>
          <a:ln/>
        </p:spPr>
        <p:txBody>
          <a:bodyPr wrap="square" lIns="0" tIns="0" rIns="0" bIns="0" rtlCol="0" anchor="ctr"/>
          <a:lstStyle/>
          <a:p>
            <a:pPr marL="0" indent="0">
              <a:buNone/>
            </a:pPr>
            <a:r>
              <a:rPr lang="en-US" sz="1400" b="1" kern="0" spc="120" dirty="0">
                <a:solidFill>
                  <a:srgbClr val="FBBF24"/>
                </a:solidFill>
                <a:latin typeface="Calibri" pitchFamily="34" charset="0"/>
                <a:ea typeface="Calibri" pitchFamily="34" charset="-122"/>
                <a:cs typeface="Calibri" pitchFamily="34" charset="-120"/>
              </a:rPr>
              <a:t>BACKLOG ACTUALIZADO </a:t>
            </a:r>
            <a:endParaRPr lang="en-US" sz="1400" dirty="0"/>
          </a:p>
        </p:txBody>
      </p:sp>
      <p:sp>
        <p:nvSpPr>
          <p:cNvPr id="18" name="Text 16"/>
          <p:cNvSpPr/>
          <p:nvPr/>
        </p:nvSpPr>
        <p:spPr>
          <a:xfrm>
            <a:off x="6291072" y="1371600"/>
            <a:ext cx="5623560" cy="5029200"/>
          </a:xfrm>
          <a:prstGeom prst="rect">
            <a:avLst/>
          </a:prstGeom>
          <a:noFill/>
          <a:ln/>
        </p:spPr>
        <p:txBody>
          <a:bodyPr wrap="square" lIns="0" tIns="0" rIns="0" bIns="0" rtlCol="0" anchor="t"/>
          <a:lstStyle/>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HU1 – TCC Digital: </a:t>
            </a:r>
            <a:r>
              <a:rPr lang="en-US" sz="1400" dirty="0">
                <a:solidFill>
                  <a:srgbClr val="E2E8F0"/>
                </a:solidFill>
                <a:latin typeface="Calibri" pitchFamily="34" charset="0"/>
                <a:ea typeface="Calibri" pitchFamily="34" charset="-122"/>
                <a:cs typeface="Calibri" pitchFamily="34" charset="-120"/>
              </a:rPr>
              <a:t> AJUSTE CRÍTICO: límites ya no </a:t>
            </a:r>
            <a:r>
              <a:rPr lang="en-US" sz="1400" dirty="0" err="1">
                <a:solidFill>
                  <a:srgbClr val="E2E8F0"/>
                </a:solidFill>
                <a:latin typeface="Calibri" pitchFamily="34" charset="0"/>
                <a:ea typeface="Calibri" pitchFamily="34" charset="-122"/>
                <a:cs typeface="Calibri" pitchFamily="34" charset="-120"/>
              </a:rPr>
              <a:t>esta</a:t>
            </a:r>
            <a:r>
              <a:rPr lang="en-US" sz="1400" dirty="0">
                <a:solidFill>
                  <a:srgbClr val="E2E8F0"/>
                </a:solidFill>
                <a:latin typeface="Calibri" pitchFamily="34" charset="0"/>
                <a:ea typeface="Calibri" pitchFamily="34" charset="-122"/>
                <a:cs typeface="Calibri" pitchFamily="34" charset="-120"/>
              </a:rPr>
              <a:t> </a:t>
            </a:r>
            <a:r>
              <a:rPr lang="en-US" sz="1400" dirty="0" err="1">
                <a:solidFill>
                  <a:srgbClr val="E2E8F0"/>
                </a:solidFill>
                <a:latin typeface="Calibri" pitchFamily="34" charset="0"/>
                <a:ea typeface="Calibri" pitchFamily="34" charset="-122"/>
                <a:cs typeface="Calibri" pitchFamily="34" charset="-120"/>
              </a:rPr>
              <a:t>en</a:t>
            </a:r>
            <a:r>
              <a:rPr lang="en-US" sz="1400" dirty="0">
                <a:solidFill>
                  <a:srgbClr val="E2E8F0"/>
                </a:solidFill>
                <a:latin typeface="Calibri" pitchFamily="34" charset="0"/>
                <a:ea typeface="Calibri" pitchFamily="34" charset="-122"/>
                <a:cs typeface="Calibri" pitchFamily="34" charset="-120"/>
              </a:rPr>
              <a:t> </a:t>
            </a:r>
            <a:r>
              <a:rPr lang="en-US" sz="1400" dirty="0" err="1">
                <a:solidFill>
                  <a:srgbClr val="E2E8F0"/>
                </a:solidFill>
                <a:latin typeface="Calibri" pitchFamily="34" charset="0"/>
                <a:ea typeface="Calibri" pitchFamily="34" charset="-122"/>
                <a:cs typeface="Calibri" pitchFamily="34" charset="-120"/>
              </a:rPr>
              <a:t>codigo</a:t>
            </a:r>
            <a:r>
              <a:rPr lang="en-US" sz="1400" dirty="0">
                <a:solidFill>
                  <a:srgbClr val="E2E8F0"/>
                </a:solidFill>
                <a:latin typeface="Calibri" pitchFamily="34" charset="0"/>
                <a:ea typeface="Calibri" pitchFamily="34" charset="-122"/>
                <a:cs typeface="Calibri" pitchFamily="34" charset="-120"/>
              </a:rPr>
              <a:t>. Panel admin parametrizable por Finanzas sin TI – 3 SP adicionales Sprint 4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HU6 – OCR + IA: </a:t>
            </a:r>
            <a:r>
              <a:rPr lang="en-US" sz="1400" dirty="0">
                <a:solidFill>
                  <a:srgbClr val="E2E8F0"/>
                </a:solidFill>
                <a:latin typeface="Calibri" pitchFamily="34" charset="0"/>
                <a:ea typeface="Calibri" pitchFamily="34" charset="-122"/>
                <a:cs typeface="Calibri" pitchFamily="34" charset="-120"/>
              </a:rPr>
              <a:t> Dataset ampliado con 'Peaje y Estacionamiento' (600 imágenes). Reentrenamiento Sprint 4. Umbral &gt;=80% se mantiene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HU21 – Doble firma: </a:t>
            </a:r>
            <a:r>
              <a:rPr lang="en-US" sz="1400" dirty="0">
                <a:solidFill>
                  <a:srgbClr val="E2E8F0"/>
                </a:solidFill>
                <a:latin typeface="Calibri" pitchFamily="34" charset="0"/>
                <a:ea typeface="Calibri" pitchFamily="34" charset="-122"/>
                <a:cs typeface="Calibri" pitchFamily="34" charset="-120"/>
              </a:rPr>
              <a:t> CREADA (8 SP, Sprint 5): detectar gastos en zonas extremas y activar flujo doble aprobación Supervisor + Gerente Zonal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Métricas actualizadas: </a:t>
            </a:r>
            <a:r>
              <a:rPr lang="en-US" sz="1400" dirty="0">
                <a:solidFill>
                  <a:srgbClr val="E2E8F0"/>
                </a:solidFill>
                <a:latin typeface="Calibri" pitchFamily="34" charset="0"/>
                <a:ea typeface="Calibri" pitchFamily="34" charset="-122"/>
                <a:cs typeface="Calibri" pitchFamily="34" charset="-120"/>
              </a:rPr>
              <a:t> Sprint 4 +6 SP por cambio de mercado. Velocity target: 46 SP/sprint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RIESGO-04: </a:t>
            </a:r>
            <a:r>
              <a:rPr lang="en-US" sz="1400" dirty="0">
                <a:solidFill>
                  <a:srgbClr val="E2E8F0"/>
                </a:solidFill>
                <a:latin typeface="Calibri" pitchFamily="34" charset="0"/>
                <a:ea typeface="Calibri" pitchFamily="34" charset="-122"/>
                <a:cs typeface="Calibri" pitchFamily="34" charset="-120"/>
              </a:rPr>
              <a:t> Si nueva categoría OCR no alcanza 80% precisión en Sprint 4, se lanza go-live sin ella y se agrega en Release 1.1</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85344" cy="6858000"/>
          </a:xfrm>
          <a:prstGeom prst="rect">
            <a:avLst/>
          </a:prstGeom>
          <a:solidFill>
            <a:srgbClr val="FB7185"/>
          </a:solidFill>
          <a:ln w="12700">
            <a:solidFill>
              <a:srgbClr val="FB7185"/>
            </a:solidFill>
            <a:prstDash val="solid"/>
          </a:ln>
        </p:spPr>
      </p:sp>
      <p:sp>
        <p:nvSpPr>
          <p:cNvPr id="3" name="Shape 1"/>
          <p:cNvSpPr/>
          <p:nvPr/>
        </p:nvSpPr>
        <p:spPr>
          <a:xfrm>
            <a:off x="85344" y="0"/>
            <a:ext cx="12106656" cy="1036320"/>
          </a:xfrm>
          <a:prstGeom prst="rect">
            <a:avLst/>
          </a:prstGeom>
          <a:solidFill>
            <a:srgbClr val="0A1428"/>
          </a:solidFill>
          <a:ln w="12700">
            <a:solidFill>
              <a:srgbClr val="0A1428"/>
            </a:solidFill>
            <a:prstDash val="solid"/>
          </a:ln>
        </p:spPr>
      </p:sp>
      <p:sp>
        <p:nvSpPr>
          <p:cNvPr id="4" name="Shape 2"/>
          <p:cNvSpPr/>
          <p:nvPr/>
        </p:nvSpPr>
        <p:spPr>
          <a:xfrm>
            <a:off x="268224" y="170688"/>
            <a:ext cx="1950720" cy="341376"/>
          </a:xfrm>
          <a:prstGeom prst="rect">
            <a:avLst/>
          </a:prstGeom>
          <a:solidFill>
            <a:srgbClr val="FB7185"/>
          </a:solidFill>
          <a:ln w="12700">
            <a:solidFill>
              <a:srgbClr val="FB7185"/>
            </a:solidFill>
            <a:prstDash val="solid"/>
          </a:ln>
        </p:spPr>
      </p:sp>
      <p:sp>
        <p:nvSpPr>
          <p:cNvPr id="5" name="Text 3"/>
          <p:cNvSpPr/>
          <p:nvPr/>
        </p:nvSpPr>
        <p:spPr>
          <a:xfrm>
            <a:off x="268224" y="170688"/>
            <a:ext cx="1950720" cy="341376"/>
          </a:xfrm>
          <a:prstGeom prst="rect">
            <a:avLst/>
          </a:prstGeom>
          <a:noFill/>
          <a:ln/>
        </p:spPr>
        <p:txBody>
          <a:bodyPr wrap="square" lIns="0" tIns="0" rIns="0" bIns="0" rtlCol="0" anchor="ctr"/>
          <a:lstStyle/>
          <a:p>
            <a:pPr algn="ctr"/>
            <a:r>
              <a:rPr lang="en-US" sz="1067" b="1" kern="0" spc="267" dirty="0">
                <a:solidFill>
                  <a:srgbClr val="FFFFFF"/>
                </a:solidFill>
                <a:latin typeface="Calibri" pitchFamily="34" charset="0"/>
                <a:ea typeface="Calibri" pitchFamily="34" charset="-122"/>
                <a:cs typeface="Calibri" pitchFamily="34" charset="-120"/>
              </a:rPr>
              <a:t>CASO 5</a:t>
            </a:r>
            <a:endParaRPr lang="en-US" sz="1067" dirty="0"/>
          </a:p>
        </p:txBody>
      </p:sp>
      <p:sp>
        <p:nvSpPr>
          <p:cNvPr id="8" name="Text 6"/>
          <p:cNvSpPr/>
          <p:nvPr/>
        </p:nvSpPr>
        <p:spPr>
          <a:xfrm>
            <a:off x="4815840" y="121920"/>
            <a:ext cx="7071360" cy="487680"/>
          </a:xfrm>
          <a:prstGeom prst="rect">
            <a:avLst/>
          </a:prstGeom>
          <a:noFill/>
          <a:ln/>
        </p:spPr>
        <p:txBody>
          <a:bodyPr wrap="square" lIns="0" tIns="0" rIns="0" bIns="0" rtlCol="0" anchor="ctr"/>
          <a:lstStyle/>
          <a:p>
            <a:r>
              <a:rPr lang="en-US" sz="2400" b="1" dirty="0">
                <a:solidFill>
                  <a:srgbClr val="FFFFFF"/>
                </a:solidFill>
                <a:latin typeface="Calibri" pitchFamily="34" charset="0"/>
                <a:ea typeface="Calibri" pitchFamily="34" charset="-122"/>
                <a:cs typeface="Calibri" pitchFamily="34" charset="-120"/>
              </a:rPr>
              <a:t>Definition of Done Débiles</a:t>
            </a:r>
            <a:endParaRPr lang="en-US" sz="2400" dirty="0"/>
          </a:p>
        </p:txBody>
      </p:sp>
      <p:sp>
        <p:nvSpPr>
          <p:cNvPr id="9" name="Text 7"/>
          <p:cNvSpPr/>
          <p:nvPr/>
        </p:nvSpPr>
        <p:spPr>
          <a:xfrm>
            <a:off x="268224" y="633984"/>
            <a:ext cx="11655552" cy="292608"/>
          </a:xfrm>
          <a:prstGeom prst="rect">
            <a:avLst/>
          </a:prstGeom>
          <a:noFill/>
          <a:ln/>
        </p:spPr>
        <p:txBody>
          <a:bodyPr wrap="square" lIns="0" tIns="0" rIns="0" bIns="0" rtlCol="0" anchor="ctr"/>
          <a:lstStyle/>
          <a:p>
            <a:r>
              <a:rPr lang="en-US" sz="1133" i="1" dirty="0">
                <a:solidFill>
                  <a:srgbClr val="38BDF8"/>
                </a:solidFill>
                <a:latin typeface="Calibri" pitchFamily="34" charset="0"/>
                <a:ea typeface="Calibri" pitchFamily="34" charset="-122"/>
                <a:cs typeface="Calibri" pitchFamily="34" charset="-120"/>
              </a:rPr>
              <a:t>4 de 6 HUs vuelven como retrabajo en Sprint Review 3 · criterios solo para happy path</a:t>
            </a:r>
            <a:endParaRPr lang="en-US" sz="1133" dirty="0"/>
          </a:p>
        </p:txBody>
      </p:sp>
      <p:sp>
        <p:nvSpPr>
          <p:cNvPr id="10" name="Shape 8"/>
          <p:cNvSpPr/>
          <p:nvPr/>
        </p:nvSpPr>
        <p:spPr>
          <a:xfrm>
            <a:off x="85344" y="1036321"/>
            <a:ext cx="12106656" cy="26823"/>
          </a:xfrm>
          <a:prstGeom prst="rect">
            <a:avLst/>
          </a:prstGeom>
          <a:solidFill>
            <a:srgbClr val="FB7185"/>
          </a:solidFill>
          <a:ln w="12700">
            <a:solidFill>
              <a:srgbClr val="FB7185"/>
            </a:solidFill>
            <a:prstDash val="solid"/>
          </a:ln>
        </p:spPr>
      </p:sp>
      <p:sp>
        <p:nvSpPr>
          <p:cNvPr id="11" name="Shape 9"/>
          <p:cNvSpPr/>
          <p:nvPr/>
        </p:nvSpPr>
        <p:spPr>
          <a:xfrm>
            <a:off x="268224" y="1133856"/>
            <a:ext cx="5754624" cy="5382768"/>
          </a:xfrm>
          <a:prstGeom prst="rect">
            <a:avLst/>
          </a:prstGeom>
          <a:solidFill>
            <a:srgbClr val="0B1A3A"/>
          </a:solidFill>
          <a:ln w="12700">
            <a:solidFill>
              <a:srgbClr val="FB7185"/>
            </a:solidFill>
            <a:prstDash val="solid"/>
          </a:ln>
        </p:spPr>
      </p:sp>
      <p:sp>
        <p:nvSpPr>
          <p:cNvPr id="12" name="Shape 10"/>
          <p:cNvSpPr/>
          <p:nvPr/>
        </p:nvSpPr>
        <p:spPr>
          <a:xfrm>
            <a:off x="268224" y="1133856"/>
            <a:ext cx="5754624" cy="36576"/>
          </a:xfrm>
          <a:prstGeom prst="rect">
            <a:avLst/>
          </a:prstGeom>
          <a:solidFill>
            <a:srgbClr val="FB7185"/>
          </a:solidFill>
          <a:ln w="12700">
            <a:solidFill>
              <a:srgbClr val="FB7185"/>
            </a:solidFill>
            <a:prstDash val="solid"/>
          </a:ln>
        </p:spPr>
      </p:sp>
      <p:sp>
        <p:nvSpPr>
          <p:cNvPr id="13" name="Text 11"/>
          <p:cNvSpPr/>
          <p:nvPr/>
        </p:nvSpPr>
        <p:spPr>
          <a:xfrm>
            <a:off x="438912" y="1219200"/>
            <a:ext cx="5449824" cy="268224"/>
          </a:xfrm>
          <a:prstGeom prst="rect">
            <a:avLst/>
          </a:prstGeom>
          <a:noFill/>
          <a:ln/>
        </p:spPr>
        <p:txBody>
          <a:bodyPr wrap="square" lIns="0" tIns="0" rIns="0" bIns="0" rtlCol="0" anchor="ctr"/>
          <a:lstStyle/>
          <a:p>
            <a:r>
              <a:rPr lang="en-US" sz="1000" b="1" kern="0" spc="160" dirty="0">
                <a:solidFill>
                  <a:srgbClr val="FB7185"/>
                </a:solidFill>
                <a:latin typeface="Calibri" pitchFamily="34" charset="0"/>
                <a:ea typeface="Calibri" pitchFamily="34" charset="-122"/>
                <a:cs typeface="Calibri" pitchFamily="34" charset="-120"/>
              </a:rPr>
              <a:t> DECISIONES Y RAZONAMIENTO</a:t>
            </a:r>
            <a:endParaRPr lang="en-US" sz="1000" dirty="0"/>
          </a:p>
        </p:txBody>
      </p:sp>
      <p:sp>
        <p:nvSpPr>
          <p:cNvPr id="14" name="Text 12"/>
          <p:cNvSpPr/>
          <p:nvPr/>
        </p:nvSpPr>
        <p:spPr>
          <a:xfrm>
            <a:off x="438912" y="1536192"/>
            <a:ext cx="5449824" cy="4895088"/>
          </a:xfrm>
          <a:prstGeom prst="rect">
            <a:avLst/>
          </a:prstGeom>
          <a:noFill/>
          <a:ln/>
        </p:spPr>
        <p:txBody>
          <a:bodyPr wrap="square" lIns="0" tIns="0" rIns="0" bIns="0" rtlCol="0" anchor="t"/>
          <a:lstStyle/>
          <a:p>
            <a:pPr>
              <a:lnSpc>
                <a:spcPct val="128000"/>
              </a:lnSpc>
            </a:pPr>
            <a:r>
              <a:rPr lang="en-US" sz="1093" b="1" dirty="0">
                <a:solidFill>
                  <a:srgbClr val="FB7185"/>
                </a:solidFill>
                <a:latin typeface="Calibri" pitchFamily="34" charset="0"/>
                <a:ea typeface="Calibri" pitchFamily="34" charset="-122"/>
                <a:cs typeface="Calibri" pitchFamily="34" charset="-120"/>
              </a:rPr>
              <a:t>Reconocí que el problema era sistémico, no del equipo. </a:t>
            </a:r>
            <a:r>
              <a:rPr lang="en-US" sz="1093" dirty="0">
                <a:solidFill>
                  <a:srgbClr val="E2E8F0"/>
                </a:solidFill>
                <a:latin typeface="Calibri" pitchFamily="34" charset="0"/>
                <a:ea typeface="Calibri" pitchFamily="34" charset="-122"/>
                <a:cs typeface="Calibri" pitchFamily="34" charset="-120"/>
              </a:rPr>
              <a:t>Cuando 4 de 6 HUs volvieron como retrabajo en Sprint Review 3, la reacción incorrecta habría sido culpar al equipo de QA. La correcta fue preguntarme: ¿qué permitió que esto pasara? La respuesta era clara: los criterios de aceptación solo cubrían el happy path y el DoD era demasiado vago. El PO es corresponsable de criterios mal escritos.
</a:t>
            </a:r>
            <a:r>
              <a:rPr lang="en-US" sz="1093" b="1" dirty="0">
                <a:solidFill>
                  <a:srgbClr val="FB7185"/>
                </a:solidFill>
                <a:latin typeface="Calibri" pitchFamily="34" charset="0"/>
                <a:ea typeface="Calibri" pitchFamily="34" charset="-122"/>
                <a:cs typeface="Calibri" pitchFamily="34" charset="-120"/>
              </a:rPr>
              <a:t>Reescribí los criterios junto al equipo, no encima del equipo. </a:t>
            </a:r>
            <a:r>
              <a:rPr lang="en-US" sz="1093" dirty="0">
                <a:solidFill>
                  <a:srgbClr val="E2E8F0"/>
                </a:solidFill>
                <a:latin typeface="Calibri" pitchFamily="34" charset="0"/>
                <a:ea typeface="Calibri" pitchFamily="34" charset="-122"/>
                <a:cs typeface="Calibri" pitchFamily="34" charset="-120"/>
              </a:rPr>
              <a:t>Convoqué una sesión de trabajo donde PO, Dev y QA reescribieron juntos los criterios de HU5, HU6 y HU10 con el formato Dado/Cuando/Entonces. Cada HU necesitaba cubrir: happy path, escenario de error, y caso borde. Esto no fue una imposición del PO, fue un acuerdo de equipo. Lección: los mejores criterios de aceptación los escriben los 3 roles juntos.
</a:t>
            </a:r>
            <a:r>
              <a:rPr lang="en-US" sz="1093" b="1" dirty="0">
                <a:solidFill>
                  <a:srgbClr val="FB7185"/>
                </a:solidFill>
                <a:latin typeface="Calibri" pitchFamily="34" charset="0"/>
                <a:ea typeface="Calibri" pitchFamily="34" charset="-122"/>
                <a:cs typeface="Calibri" pitchFamily="34" charset="-120"/>
              </a:rPr>
              <a:t>Actualicé el DoD con criterios medibles y no negociables. </a:t>
            </a:r>
            <a:r>
              <a:rPr lang="en-US" sz="1093" dirty="0">
                <a:solidFill>
                  <a:srgbClr val="E2E8F0"/>
                </a:solidFill>
                <a:latin typeface="Calibri" pitchFamily="34" charset="0"/>
                <a:ea typeface="Calibri" pitchFamily="34" charset="-122"/>
                <a:cs typeface="Calibri" pitchFamily="34" charset="-120"/>
              </a:rPr>
              <a:t>Nuevo DoD desde Sprint 4: criterios incluyen happy path + error + caso borde; QA firma checklist de 8 puntos antes de marcar Done; cobertura ≥70%; PO hace demo con datos reales antes de cerrar el sprint. Autofeedback: el DoD es el contrato de calidad del equipo. Si es vago, la calidad es vaga. Si es específico y medible, la calidad sigue.
</a:t>
            </a:r>
            <a:r>
              <a:rPr lang="en-US" sz="1093" b="1" dirty="0">
                <a:solidFill>
                  <a:srgbClr val="FB7185"/>
                </a:solidFill>
                <a:latin typeface="Calibri" pitchFamily="34" charset="0"/>
                <a:ea typeface="Calibri" pitchFamily="34" charset="-122"/>
                <a:cs typeface="Calibri" pitchFamily="34" charset="-120"/>
              </a:rPr>
              <a:t>Invertí 1 SP en prevención para ahorrar 10 SP de retrabajo. </a:t>
            </a:r>
            <a:r>
              <a:rPr lang="en-US" sz="1093" dirty="0">
                <a:solidFill>
                  <a:srgbClr val="E2E8F0"/>
                </a:solidFill>
                <a:latin typeface="Calibri" pitchFamily="34" charset="0"/>
                <a:ea typeface="Calibri" pitchFamily="34" charset="-122"/>
                <a:cs typeface="Calibri" pitchFamily="34" charset="-120"/>
              </a:rPr>
              <a:t>Creamos una plantilla estándar de criterios Dado/Cuando/Entonces disponible en Confluence, de uso obligatorio desde Sprint 4. 1 Story Point de inversión para evitar el patrón de retrabajo que nos costó 3 sprints de deuda acumulada. Lección de autofeedback: la prevención en criterios de aceptación es el ROI más alto de cualquier PO.</a:t>
            </a:r>
            <a:endParaRPr lang="en-US" sz="1093" dirty="0"/>
          </a:p>
        </p:txBody>
      </p:sp>
      <p:sp>
        <p:nvSpPr>
          <p:cNvPr id="15" name="Shape 13"/>
          <p:cNvSpPr/>
          <p:nvPr/>
        </p:nvSpPr>
        <p:spPr>
          <a:xfrm>
            <a:off x="6169152" y="1133856"/>
            <a:ext cx="5754624" cy="5382768"/>
          </a:xfrm>
          <a:prstGeom prst="rect">
            <a:avLst/>
          </a:prstGeom>
          <a:solidFill>
            <a:srgbClr val="091428"/>
          </a:solidFill>
          <a:ln w="12700">
            <a:solidFill>
              <a:srgbClr val="FBBF24"/>
            </a:solidFill>
            <a:prstDash val="solid"/>
          </a:ln>
        </p:spPr>
      </p:sp>
      <p:sp>
        <p:nvSpPr>
          <p:cNvPr id="16" name="Shape 14"/>
          <p:cNvSpPr/>
          <p:nvPr/>
        </p:nvSpPr>
        <p:spPr>
          <a:xfrm>
            <a:off x="6169152" y="1133856"/>
            <a:ext cx="5754624" cy="36576"/>
          </a:xfrm>
          <a:prstGeom prst="rect">
            <a:avLst/>
          </a:prstGeom>
          <a:solidFill>
            <a:srgbClr val="FBBF24"/>
          </a:solidFill>
          <a:ln w="12700">
            <a:solidFill>
              <a:srgbClr val="FBBF24"/>
            </a:solidFill>
            <a:prstDash val="solid"/>
          </a:ln>
        </p:spPr>
      </p:sp>
      <p:sp>
        <p:nvSpPr>
          <p:cNvPr id="17" name="Text 15"/>
          <p:cNvSpPr/>
          <p:nvPr/>
        </p:nvSpPr>
        <p:spPr>
          <a:xfrm>
            <a:off x="6339840" y="1219200"/>
            <a:ext cx="5449824" cy="268224"/>
          </a:xfrm>
          <a:prstGeom prst="rect">
            <a:avLst/>
          </a:prstGeom>
          <a:noFill/>
          <a:ln/>
        </p:spPr>
        <p:txBody>
          <a:bodyPr wrap="square" lIns="0" tIns="0" rIns="0" bIns="0" rtlCol="0" anchor="ctr"/>
          <a:lstStyle/>
          <a:p>
            <a:r>
              <a:rPr lang="en-US" sz="1000" b="1" kern="0" spc="160" dirty="0">
                <a:solidFill>
                  <a:srgbClr val="FBBF24"/>
                </a:solidFill>
                <a:latin typeface="Calibri" pitchFamily="34" charset="0"/>
                <a:ea typeface="Calibri" pitchFamily="34" charset="-122"/>
                <a:cs typeface="Calibri" pitchFamily="34" charset="-120"/>
              </a:rPr>
              <a:t>PUNTOS CLAVE A RECORDAR</a:t>
            </a:r>
            <a:endParaRPr lang="en-US" sz="1000" dirty="0"/>
          </a:p>
        </p:txBody>
      </p:sp>
      <p:sp>
        <p:nvSpPr>
          <p:cNvPr id="18" name="Text 16"/>
          <p:cNvSpPr/>
          <p:nvPr/>
        </p:nvSpPr>
        <p:spPr>
          <a:xfrm>
            <a:off x="6339840" y="1536192"/>
            <a:ext cx="5449824" cy="4895088"/>
          </a:xfrm>
          <a:prstGeom prst="rect">
            <a:avLst/>
          </a:prstGeom>
          <a:noFill/>
          <a:ln/>
        </p:spPr>
        <p:txBody>
          <a:bodyPr wrap="square" lIns="0" tIns="0" rIns="0" bIns="0" rtlCol="0" anchor="t"/>
          <a:lstStyle/>
          <a:p>
            <a:pPr>
              <a:lnSpc>
                <a:spcPct val="128000"/>
              </a:lnSpc>
            </a:pP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Causa raíz: </a:t>
            </a:r>
            <a:r>
              <a:rPr lang="en-US" sz="1093" dirty="0">
                <a:solidFill>
                  <a:srgbClr val="E2E8F0"/>
                </a:solidFill>
                <a:latin typeface="Calibri" pitchFamily="34" charset="0"/>
                <a:ea typeface="Calibri" pitchFamily="34" charset="-122"/>
                <a:cs typeface="Calibri" pitchFamily="34" charset="-120"/>
              </a:rPr>
              <a:t>Un DoD débil no es un problema del equipo: es un problema de liderazgo del PO. Los criterios de aceptación son responsabilidad compartida, pero el PO tiene la autoridad de exigir calidad.
</a:t>
            </a: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Herramienta clave: </a:t>
            </a:r>
            <a:r>
              <a:rPr lang="en-US" sz="1093" dirty="0">
                <a:solidFill>
                  <a:srgbClr val="E2E8F0"/>
                </a:solidFill>
                <a:latin typeface="Calibri" pitchFamily="34" charset="0"/>
                <a:ea typeface="Calibri" pitchFamily="34" charset="-122"/>
                <a:cs typeface="Calibri" pitchFamily="34" charset="-120"/>
              </a:rPr>
              <a:t>Formato Dado/Cuando/Entonces obligatorio para los 3 escenarios: happy path, error, caso borde. Sin los 3, la HU no entra al sprint.
</a:t>
            </a: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Métrica de alerta: </a:t>
            </a:r>
            <a:r>
              <a:rPr lang="en-US" sz="1093" dirty="0">
                <a:solidFill>
                  <a:srgbClr val="E2E8F0"/>
                </a:solidFill>
                <a:latin typeface="Calibri" pitchFamily="34" charset="0"/>
                <a:ea typeface="Calibri" pitchFamily="34" charset="-122"/>
                <a:cs typeface="Calibri" pitchFamily="34" charset="-120"/>
              </a:rPr>
              <a:t>Si más de 1 HU por sprint vuelve como retrabajo desde QA, el DoD o los criterios de aceptación están mal. Medir tasa de retrabajo sprint a sprint.
</a:t>
            </a: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Error a no repetir: </a:t>
            </a:r>
            <a:r>
              <a:rPr lang="en-US" sz="1093" dirty="0">
                <a:solidFill>
                  <a:srgbClr val="E2E8F0"/>
                </a:solidFill>
                <a:latin typeface="Calibri" pitchFamily="34" charset="0"/>
                <a:ea typeface="Calibri" pitchFamily="34" charset="-122"/>
                <a:cs typeface="Calibri" pitchFamily="34" charset="-120"/>
              </a:rPr>
              <a:t>Aprobar HUs para el sprint con criterios que dicen 'el sistema debe funcionar correctamente'. Eso no es un criterio, es una expectativa sin definición.
</a:t>
            </a: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Frase de enfoque: </a:t>
            </a:r>
            <a:r>
              <a:rPr lang="en-US" sz="1093" dirty="0">
                <a:solidFill>
                  <a:srgbClr val="E2E8F0"/>
                </a:solidFill>
                <a:latin typeface="Calibri" pitchFamily="34" charset="0"/>
                <a:ea typeface="Calibri" pitchFamily="34" charset="-122"/>
                <a:cs typeface="Calibri" pitchFamily="34" charset="-120"/>
              </a:rPr>
              <a:t>'Si no puedes probarlo, no puedes declararlo Done.' Cada criterio de aceptación debe ser verificable de forma objetiva por QA sin interpretación.</a:t>
            </a:r>
            <a:endParaRPr lang="en-US" sz="1200" dirty="0"/>
          </a:p>
        </p:txBody>
      </p:sp>
      <p:sp>
        <p:nvSpPr>
          <p:cNvPr id="19" name="Shape 17"/>
          <p:cNvSpPr/>
          <p:nvPr/>
        </p:nvSpPr>
        <p:spPr>
          <a:xfrm>
            <a:off x="0" y="6699504"/>
            <a:ext cx="12192000" cy="158496"/>
          </a:xfrm>
          <a:prstGeom prst="rect">
            <a:avLst/>
          </a:prstGeom>
          <a:solidFill>
            <a:srgbClr val="1246B3"/>
          </a:solidFill>
          <a:ln w="12700">
            <a:solidFill>
              <a:srgbClr val="1246B3"/>
            </a:solidFill>
            <a:prstDash val="solid"/>
          </a:ln>
        </p:spPr>
      </p:sp>
      <p:sp>
        <p:nvSpPr>
          <p:cNvPr id="20" name="Text 18"/>
          <p:cNvSpPr/>
          <p:nvPr/>
        </p:nvSpPr>
        <p:spPr>
          <a:xfrm>
            <a:off x="243840" y="6565392"/>
            <a:ext cx="11704320" cy="158496"/>
          </a:xfrm>
          <a:prstGeom prst="rect">
            <a:avLst/>
          </a:prstGeom>
          <a:noFill/>
          <a:ln/>
        </p:spPr>
        <p:txBody>
          <a:bodyPr wrap="square" lIns="0" tIns="0" rIns="0" bIns="0" rtlCol="0" anchor="ctr"/>
          <a:lstStyle/>
          <a:p>
            <a:r>
              <a:rPr lang="en-US" sz="800" i="1" dirty="0">
                <a:solidFill>
                  <a:srgbClr val="475569"/>
                </a:solidFill>
                <a:latin typeface="Calibri" pitchFamily="34" charset="0"/>
                <a:ea typeface="Calibri" pitchFamily="34" charset="-122"/>
                <a:cs typeface="Calibri" pitchFamily="34" charset="-120"/>
              </a:rPr>
              <a:t>Gabriel Sandoval G.  ·  Product Owner  ·  ABP Módulo 5  ·  Rediseño Flujo Viáticos  ·  Caso 5 – Definition of Done Débiles  ·  Registro de Autofeedback</a:t>
            </a:r>
            <a:endParaRPr lang="en-US" sz="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3 – CASO 5</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DoD Débiles</a:t>
            </a:r>
            <a:endParaRPr lang="en-US" sz="2100"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000" i="1" dirty="0">
                <a:solidFill>
                  <a:srgbClr val="38BDF8"/>
                </a:solidFill>
                <a:latin typeface="Calibri" pitchFamily="34" charset="0"/>
                <a:ea typeface="Calibri" pitchFamily="34" charset="-122"/>
                <a:cs typeface="Calibri" pitchFamily="34" charset="-120"/>
              </a:rPr>
              <a:t>Refinamiento del Backlog</a:t>
            </a:r>
            <a:endParaRPr lang="en-US" sz="10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Shape 7"/>
          <p:cNvSpPr/>
          <p:nvPr/>
        </p:nvSpPr>
        <p:spPr>
          <a:xfrm>
            <a:off x="0" y="6720840"/>
            <a:ext cx="12188952" cy="137160"/>
          </a:xfrm>
          <a:prstGeom prst="rect">
            <a:avLst/>
          </a:prstGeom>
          <a:solidFill>
            <a:srgbClr val="1246B3"/>
          </a:solidFill>
          <a:ln w="12700">
            <a:solidFill>
              <a:srgbClr val="1246B3"/>
            </a:solidFill>
            <a:prstDash val="solid"/>
          </a:ln>
        </p:spPr>
      </p:sp>
      <p:sp>
        <p:nvSpPr>
          <p:cNvPr id="10" name="Text 8"/>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14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1400" dirty="0"/>
          </a:p>
        </p:txBody>
      </p:sp>
      <p:sp>
        <p:nvSpPr>
          <p:cNvPr id="11" name="Shape 9"/>
          <p:cNvSpPr/>
          <p:nvPr/>
        </p:nvSpPr>
        <p:spPr>
          <a:xfrm>
            <a:off x="201168" y="1005840"/>
            <a:ext cx="5760720" cy="5559552"/>
          </a:xfrm>
          <a:prstGeom prst="rect">
            <a:avLst/>
          </a:prstGeom>
          <a:solidFill>
            <a:srgbClr val="0D1B3E"/>
          </a:solidFill>
          <a:ln w="12700">
            <a:solidFill>
              <a:srgbClr val="38BDF8"/>
            </a:solidFill>
            <a:prstDash val="solid"/>
          </a:ln>
        </p:spPr>
      </p:sp>
      <p:sp>
        <p:nvSpPr>
          <p:cNvPr id="12" name="Shape 10"/>
          <p:cNvSpPr/>
          <p:nvPr/>
        </p:nvSpPr>
        <p:spPr>
          <a:xfrm>
            <a:off x="201168" y="1005840"/>
            <a:ext cx="5760720" cy="32004"/>
          </a:xfrm>
          <a:prstGeom prst="rect">
            <a:avLst/>
          </a:prstGeom>
          <a:solidFill>
            <a:srgbClr val="38BDF8"/>
          </a:solidFill>
          <a:ln w="12700">
            <a:solidFill>
              <a:srgbClr val="38BDF8"/>
            </a:solidFill>
            <a:prstDash val="solid"/>
          </a:ln>
        </p:spPr>
      </p:sp>
      <p:sp>
        <p:nvSpPr>
          <p:cNvPr id="13" name="Text 11"/>
          <p:cNvSpPr/>
          <p:nvPr/>
        </p:nvSpPr>
        <p:spPr>
          <a:xfrm>
            <a:off x="347472" y="1078992"/>
            <a:ext cx="5486400" cy="237744"/>
          </a:xfrm>
          <a:prstGeom prst="rect">
            <a:avLst/>
          </a:prstGeom>
          <a:noFill/>
          <a:ln/>
        </p:spPr>
        <p:txBody>
          <a:bodyPr wrap="square" lIns="0" tIns="0" rIns="0" bIns="0" rtlCol="0" anchor="ctr"/>
          <a:lstStyle/>
          <a:p>
            <a:pPr marL="0" indent="0">
              <a:buNone/>
            </a:pPr>
            <a:r>
              <a:rPr lang="en-US" sz="1400" b="1" kern="0" spc="120" dirty="0">
                <a:solidFill>
                  <a:srgbClr val="38BDF8"/>
                </a:solidFill>
                <a:latin typeface="Calibri" pitchFamily="34" charset="0"/>
                <a:ea typeface="Calibri" pitchFamily="34" charset="-122"/>
                <a:cs typeface="Calibri" pitchFamily="34" charset="-120"/>
              </a:rPr>
              <a:t>RESOLUCIÓN APLICADA AL PROYECTO</a:t>
            </a:r>
            <a:endParaRPr lang="en-US" sz="1400" dirty="0"/>
          </a:p>
        </p:txBody>
      </p:sp>
      <p:sp>
        <p:nvSpPr>
          <p:cNvPr id="14" name="Text 12"/>
          <p:cNvSpPr/>
          <p:nvPr/>
        </p:nvSpPr>
        <p:spPr>
          <a:xfrm>
            <a:off x="347472" y="1371600"/>
            <a:ext cx="5486400" cy="5029200"/>
          </a:xfrm>
          <a:prstGeom prst="rect">
            <a:avLst/>
          </a:prstGeom>
          <a:noFill/>
          <a:ln/>
        </p:spPr>
        <p:txBody>
          <a:bodyPr wrap="square" lIns="0" tIns="0" rIns="0" bIns="0" rtlCol="0" anchor="t"/>
          <a:lstStyle/>
          <a:p>
            <a:pPr marL="0" indent="0">
              <a:lnSpc>
                <a:spcPct val="128000"/>
              </a:lnSpc>
              <a:buNone/>
            </a:pPr>
            <a:r>
              <a:rPr lang="en-US" sz="1400" b="1" dirty="0">
                <a:solidFill>
                  <a:srgbClr val="38BDF8"/>
                </a:solidFill>
                <a:latin typeface="Calibri" pitchFamily="34" charset="0"/>
                <a:ea typeface="Calibri" pitchFamily="34" charset="-122"/>
                <a:cs typeface="Calibri" pitchFamily="34" charset="-120"/>
              </a:rPr>
              <a:t>Resolución: </a:t>
            </a:r>
            <a:r>
              <a:rPr lang="en-US" sz="1400" dirty="0">
                <a:solidFill>
                  <a:srgbClr val="E2E8F0"/>
                </a:solidFill>
                <a:latin typeface="Calibri" pitchFamily="34" charset="0"/>
                <a:ea typeface="Calibri" pitchFamily="34" charset="-122"/>
                <a:cs typeface="Calibri" pitchFamily="34" charset="-120"/>
              </a:rPr>
              <a:t> Sprint Review Sprint 3: 4 de 6 HUs volvieron como retrabajo. La HU offline no especificaba qué hacer al cerrar la app; OCR no cubría boletas en otro idioma; 2 HUs de aprobación sin estado para aprobador que no responde.
</a:t>
            </a:r>
            <a:r>
              <a:rPr lang="en-US" sz="1400" b="1" dirty="0">
                <a:solidFill>
                  <a:srgbClr val="38BDF8"/>
                </a:solidFill>
                <a:latin typeface="Calibri" pitchFamily="34" charset="0"/>
                <a:ea typeface="Calibri" pitchFamily="34" charset="-122"/>
                <a:cs typeface="Calibri" pitchFamily="34" charset="-120"/>
              </a:rPr>
              <a:t>Causa raíz: </a:t>
            </a:r>
            <a:r>
              <a:rPr lang="en-US" sz="1400" dirty="0">
                <a:solidFill>
                  <a:srgbClr val="E2E8F0"/>
                </a:solidFill>
                <a:latin typeface="Calibri" pitchFamily="34" charset="0"/>
                <a:ea typeface="Calibri" pitchFamily="34" charset="-122"/>
                <a:cs typeface="Calibri" pitchFamily="34" charset="-120"/>
              </a:rPr>
              <a:t> Criterios solo para happy path. Sin estados de error, casos borde, timeouts, ni comportamiento offline. DoD decía 'funcionalidad probada' sin especificar tipo ni cobertura mínima.
</a:t>
            </a:r>
            <a:r>
              <a:rPr lang="en-US" sz="1400" b="1" dirty="0">
                <a:solidFill>
                  <a:srgbClr val="38BDF8"/>
                </a:solidFill>
                <a:latin typeface="Calibri" pitchFamily="34" charset="0"/>
                <a:ea typeface="Calibri" pitchFamily="34" charset="-122"/>
                <a:cs typeface="Calibri" pitchFamily="34" charset="-120"/>
              </a:rPr>
              <a:t>DoD fortalecido: </a:t>
            </a:r>
            <a:r>
              <a:rPr lang="en-US" sz="1400" dirty="0">
                <a:solidFill>
                  <a:srgbClr val="E2E8F0"/>
                </a:solidFill>
                <a:latin typeface="Calibri" pitchFamily="34" charset="0"/>
                <a:ea typeface="Calibri" pitchFamily="34" charset="-122"/>
                <a:cs typeface="Calibri" pitchFamily="34" charset="-120"/>
              </a:rPr>
              <a:t> Desde Sprint 4: (a) mínimo 1 escenario de error + 1 caso borde por HU. (b) QA checklist 8 puntos antes de Done. (c) Cobertura &gt;=70%. (d) Demo con datos reales.</a:t>
            </a:r>
            <a:endParaRPr lang="en-US" sz="1400" dirty="0"/>
          </a:p>
        </p:txBody>
      </p:sp>
      <p:sp>
        <p:nvSpPr>
          <p:cNvPr id="15" name="Shape 13"/>
          <p:cNvSpPr/>
          <p:nvPr/>
        </p:nvSpPr>
        <p:spPr>
          <a:xfrm>
            <a:off x="6144768" y="1005840"/>
            <a:ext cx="5852160" cy="5559552"/>
          </a:xfrm>
          <a:prstGeom prst="rect">
            <a:avLst/>
          </a:prstGeom>
          <a:solidFill>
            <a:srgbClr val="091428"/>
          </a:solidFill>
          <a:ln w="12700">
            <a:solidFill>
              <a:srgbClr val="FBBF24"/>
            </a:solidFill>
            <a:prstDash val="solid"/>
          </a:ln>
        </p:spPr>
      </p:sp>
      <p:sp>
        <p:nvSpPr>
          <p:cNvPr id="16" name="Shape 14"/>
          <p:cNvSpPr/>
          <p:nvPr/>
        </p:nvSpPr>
        <p:spPr>
          <a:xfrm>
            <a:off x="6144768" y="1005840"/>
            <a:ext cx="5852160" cy="32004"/>
          </a:xfrm>
          <a:prstGeom prst="rect">
            <a:avLst/>
          </a:prstGeom>
          <a:solidFill>
            <a:srgbClr val="FBBF24"/>
          </a:solidFill>
          <a:ln w="12700">
            <a:solidFill>
              <a:srgbClr val="FBBF24"/>
            </a:solidFill>
            <a:prstDash val="solid"/>
          </a:ln>
        </p:spPr>
      </p:sp>
      <p:sp>
        <p:nvSpPr>
          <p:cNvPr id="17" name="Text 15"/>
          <p:cNvSpPr/>
          <p:nvPr/>
        </p:nvSpPr>
        <p:spPr>
          <a:xfrm>
            <a:off x="6291072" y="1078992"/>
            <a:ext cx="5623560" cy="237744"/>
          </a:xfrm>
          <a:prstGeom prst="rect">
            <a:avLst/>
          </a:prstGeom>
          <a:noFill/>
          <a:ln/>
        </p:spPr>
        <p:txBody>
          <a:bodyPr wrap="square" lIns="0" tIns="0" rIns="0" bIns="0" rtlCol="0" anchor="ctr"/>
          <a:lstStyle/>
          <a:p>
            <a:pPr marL="0" indent="0">
              <a:buNone/>
            </a:pPr>
            <a:r>
              <a:rPr lang="en-US" sz="1400" b="1" kern="0" spc="120" dirty="0">
                <a:solidFill>
                  <a:srgbClr val="FBBF24"/>
                </a:solidFill>
                <a:latin typeface="Calibri" pitchFamily="34" charset="0"/>
                <a:ea typeface="Calibri" pitchFamily="34" charset="-122"/>
                <a:cs typeface="Calibri" pitchFamily="34" charset="-120"/>
              </a:rPr>
              <a:t>BACKLOG ACTUALIZADO </a:t>
            </a:r>
            <a:endParaRPr lang="en-US" sz="1400" dirty="0"/>
          </a:p>
        </p:txBody>
      </p:sp>
      <p:sp>
        <p:nvSpPr>
          <p:cNvPr id="18" name="Text 16"/>
          <p:cNvSpPr/>
          <p:nvPr/>
        </p:nvSpPr>
        <p:spPr>
          <a:xfrm>
            <a:off x="6291072" y="1371600"/>
            <a:ext cx="5623560" cy="5029200"/>
          </a:xfrm>
          <a:prstGeom prst="rect">
            <a:avLst/>
          </a:prstGeom>
          <a:noFill/>
          <a:ln/>
        </p:spPr>
        <p:txBody>
          <a:bodyPr wrap="square" lIns="0" tIns="0" rIns="0" bIns="0" rtlCol="0" anchor="t"/>
          <a:lstStyle/>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HU10 – Offline CA-03: </a:t>
            </a:r>
            <a:r>
              <a:rPr lang="en-US" sz="1400" dirty="0">
                <a:solidFill>
                  <a:srgbClr val="E2E8F0"/>
                </a:solidFill>
                <a:latin typeface="Calibri" pitchFamily="34" charset="0"/>
                <a:ea typeface="Calibri" pitchFamily="34" charset="-122"/>
                <a:cs typeface="Calibri" pitchFamily="34" charset="-120"/>
              </a:rPr>
              <a:t> 'Si usuario cierra app con gastos pendientes → sistema guarda estado + banner al reabrir'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HU10 – Offline CA-04: </a:t>
            </a:r>
            <a:r>
              <a:rPr lang="en-US" sz="1400" dirty="0">
                <a:solidFill>
                  <a:srgbClr val="E2E8F0"/>
                </a:solidFill>
                <a:latin typeface="Calibri" pitchFamily="34" charset="0"/>
                <a:ea typeface="Calibri" pitchFamily="34" charset="-122"/>
                <a:cs typeface="Calibri" pitchFamily="34" charset="-120"/>
              </a:rPr>
              <a:t> 'Si sync falla 3 veces → alerta con opción de exportar respaldo CSV'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HU6 – OCR CA-05: </a:t>
            </a:r>
            <a:r>
              <a:rPr lang="en-US" sz="1400" dirty="0">
                <a:solidFill>
                  <a:srgbClr val="E2E8F0"/>
                </a:solidFill>
                <a:latin typeface="Calibri" pitchFamily="34" charset="0"/>
                <a:ea typeface="Calibri" pitchFamily="34" charset="-122"/>
                <a:cs typeface="Calibri" pitchFamily="34" charset="-120"/>
              </a:rPr>
              <a:t> 'Si boleta en idioma diferente al español → OCR intenta; si falla, solicita ingreso manual'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HU5 – Aprobación CA-06: </a:t>
            </a:r>
            <a:r>
              <a:rPr lang="en-US" sz="1400" dirty="0">
                <a:solidFill>
                  <a:srgbClr val="E2E8F0"/>
                </a:solidFill>
                <a:latin typeface="Calibri" pitchFamily="34" charset="0"/>
                <a:ea typeface="Calibri" pitchFamily="34" charset="-122"/>
                <a:cs typeface="Calibri" pitchFamily="34" charset="-120"/>
              </a:rPr>
              <a:t> 'Si aprobador no responde 24h → escala; si 48h → aprobación automática con flag auditoría'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DoD REESCRITA: </a:t>
            </a:r>
            <a:r>
              <a:rPr lang="en-US" sz="1400" dirty="0">
                <a:solidFill>
                  <a:srgbClr val="E2E8F0"/>
                </a:solidFill>
                <a:latin typeface="Calibri" pitchFamily="34" charset="0"/>
                <a:ea typeface="Calibri" pitchFamily="34" charset="-122"/>
                <a:cs typeface="Calibri" pitchFamily="34" charset="-120"/>
              </a:rPr>
              <a:t> happy path + error + caso borde | QA checklist 8 puntos | cobertura &gt;=70% | demo datos reales | sin bugs P1/P2</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85344" cy="6858000"/>
          </a:xfrm>
          <a:prstGeom prst="rect">
            <a:avLst/>
          </a:prstGeom>
          <a:solidFill>
            <a:srgbClr val="38BDF8"/>
          </a:solidFill>
          <a:ln w="12700">
            <a:solidFill>
              <a:srgbClr val="38BDF8"/>
            </a:solidFill>
            <a:prstDash val="solid"/>
          </a:ln>
        </p:spPr>
      </p:sp>
      <p:sp>
        <p:nvSpPr>
          <p:cNvPr id="3" name="Shape 1"/>
          <p:cNvSpPr/>
          <p:nvPr/>
        </p:nvSpPr>
        <p:spPr>
          <a:xfrm>
            <a:off x="85344" y="0"/>
            <a:ext cx="12106656" cy="1036320"/>
          </a:xfrm>
          <a:prstGeom prst="rect">
            <a:avLst/>
          </a:prstGeom>
          <a:solidFill>
            <a:srgbClr val="0A1428"/>
          </a:solidFill>
          <a:ln w="12700">
            <a:solidFill>
              <a:srgbClr val="0A1428"/>
            </a:solidFill>
            <a:prstDash val="solid"/>
          </a:ln>
        </p:spPr>
      </p:sp>
      <p:sp>
        <p:nvSpPr>
          <p:cNvPr id="4" name="Shape 2"/>
          <p:cNvSpPr/>
          <p:nvPr/>
        </p:nvSpPr>
        <p:spPr>
          <a:xfrm>
            <a:off x="268224" y="170688"/>
            <a:ext cx="1950720" cy="341376"/>
          </a:xfrm>
          <a:prstGeom prst="rect">
            <a:avLst/>
          </a:prstGeom>
          <a:solidFill>
            <a:srgbClr val="38BDF8"/>
          </a:solidFill>
          <a:ln w="12700">
            <a:solidFill>
              <a:srgbClr val="38BDF8"/>
            </a:solidFill>
            <a:prstDash val="solid"/>
          </a:ln>
        </p:spPr>
      </p:sp>
      <p:sp>
        <p:nvSpPr>
          <p:cNvPr id="5" name="Text 3"/>
          <p:cNvSpPr/>
          <p:nvPr/>
        </p:nvSpPr>
        <p:spPr>
          <a:xfrm>
            <a:off x="268224" y="170688"/>
            <a:ext cx="1950720" cy="341376"/>
          </a:xfrm>
          <a:prstGeom prst="rect">
            <a:avLst/>
          </a:prstGeom>
          <a:noFill/>
          <a:ln/>
        </p:spPr>
        <p:txBody>
          <a:bodyPr wrap="square" lIns="0" tIns="0" rIns="0" bIns="0" rtlCol="0" anchor="ctr"/>
          <a:lstStyle/>
          <a:p>
            <a:pPr algn="ctr"/>
            <a:r>
              <a:rPr lang="en-US" sz="1067" b="1" kern="0" spc="267" dirty="0">
                <a:solidFill>
                  <a:srgbClr val="FFFFFF"/>
                </a:solidFill>
                <a:latin typeface="Calibri" pitchFamily="34" charset="0"/>
                <a:ea typeface="Calibri" pitchFamily="34" charset="-122"/>
                <a:cs typeface="Calibri" pitchFamily="34" charset="-120"/>
              </a:rPr>
              <a:t>CASO 6</a:t>
            </a:r>
            <a:endParaRPr lang="en-US" sz="1067" dirty="0"/>
          </a:p>
        </p:txBody>
      </p:sp>
      <p:sp>
        <p:nvSpPr>
          <p:cNvPr id="8" name="Text 6"/>
          <p:cNvSpPr/>
          <p:nvPr/>
        </p:nvSpPr>
        <p:spPr>
          <a:xfrm>
            <a:off x="4815840" y="121920"/>
            <a:ext cx="7071360" cy="487680"/>
          </a:xfrm>
          <a:prstGeom prst="rect">
            <a:avLst/>
          </a:prstGeom>
          <a:noFill/>
          <a:ln/>
        </p:spPr>
        <p:txBody>
          <a:bodyPr wrap="square" lIns="0" tIns="0" rIns="0" bIns="0" rtlCol="0" anchor="ctr"/>
          <a:lstStyle/>
          <a:p>
            <a:r>
              <a:rPr lang="en-US" sz="2400" b="1" dirty="0">
                <a:solidFill>
                  <a:srgbClr val="FFFFFF"/>
                </a:solidFill>
                <a:latin typeface="Calibri" pitchFamily="34" charset="0"/>
                <a:ea typeface="Calibri" pitchFamily="34" charset="-122"/>
                <a:cs typeface="Calibri" pitchFamily="34" charset="-120"/>
              </a:rPr>
              <a:t>Dependencia de Personas Clave</a:t>
            </a:r>
            <a:endParaRPr lang="en-US" sz="2400" dirty="0"/>
          </a:p>
        </p:txBody>
      </p:sp>
      <p:sp>
        <p:nvSpPr>
          <p:cNvPr id="9" name="Text 7"/>
          <p:cNvSpPr/>
          <p:nvPr/>
        </p:nvSpPr>
        <p:spPr>
          <a:xfrm>
            <a:off x="268224" y="633984"/>
            <a:ext cx="11655552" cy="292608"/>
          </a:xfrm>
          <a:prstGeom prst="rect">
            <a:avLst/>
          </a:prstGeom>
          <a:noFill/>
          <a:ln/>
        </p:spPr>
        <p:txBody>
          <a:bodyPr wrap="square" lIns="0" tIns="0" rIns="0" bIns="0" rtlCol="0" anchor="ctr"/>
          <a:lstStyle/>
          <a:p>
            <a:r>
              <a:rPr lang="en-US" sz="1133" i="1" dirty="0">
                <a:solidFill>
                  <a:srgbClr val="38BDF8"/>
                </a:solidFill>
                <a:latin typeface="Calibri" pitchFamily="34" charset="0"/>
                <a:ea typeface="Calibri" pitchFamily="34" charset="-122"/>
                <a:cs typeface="Calibri" pitchFamily="34" charset="-120"/>
              </a:rPr>
              <a:t>Motor de reglas y API bancaria concentrados en 2 personas sin documentación · Sprint 4</a:t>
            </a:r>
            <a:endParaRPr lang="en-US" sz="1133" dirty="0"/>
          </a:p>
        </p:txBody>
      </p:sp>
      <p:sp>
        <p:nvSpPr>
          <p:cNvPr id="10" name="Shape 8"/>
          <p:cNvSpPr/>
          <p:nvPr/>
        </p:nvSpPr>
        <p:spPr>
          <a:xfrm>
            <a:off x="85344" y="1036321"/>
            <a:ext cx="12106656" cy="26823"/>
          </a:xfrm>
          <a:prstGeom prst="rect">
            <a:avLst/>
          </a:prstGeom>
          <a:solidFill>
            <a:srgbClr val="38BDF8"/>
          </a:solidFill>
          <a:ln w="12700">
            <a:solidFill>
              <a:srgbClr val="38BDF8"/>
            </a:solidFill>
            <a:prstDash val="solid"/>
          </a:ln>
        </p:spPr>
      </p:sp>
      <p:sp>
        <p:nvSpPr>
          <p:cNvPr id="11" name="Shape 9"/>
          <p:cNvSpPr/>
          <p:nvPr/>
        </p:nvSpPr>
        <p:spPr>
          <a:xfrm>
            <a:off x="268224" y="1133856"/>
            <a:ext cx="5754624" cy="5382768"/>
          </a:xfrm>
          <a:prstGeom prst="rect">
            <a:avLst/>
          </a:prstGeom>
          <a:solidFill>
            <a:srgbClr val="0B1A3A"/>
          </a:solidFill>
          <a:ln w="12700">
            <a:solidFill>
              <a:srgbClr val="38BDF8"/>
            </a:solidFill>
            <a:prstDash val="solid"/>
          </a:ln>
        </p:spPr>
      </p:sp>
      <p:sp>
        <p:nvSpPr>
          <p:cNvPr id="12" name="Shape 10"/>
          <p:cNvSpPr/>
          <p:nvPr/>
        </p:nvSpPr>
        <p:spPr>
          <a:xfrm>
            <a:off x="268224" y="1133856"/>
            <a:ext cx="5754624" cy="36576"/>
          </a:xfrm>
          <a:prstGeom prst="rect">
            <a:avLst/>
          </a:prstGeom>
          <a:solidFill>
            <a:srgbClr val="38BDF8"/>
          </a:solidFill>
          <a:ln w="12700">
            <a:solidFill>
              <a:srgbClr val="38BDF8"/>
            </a:solidFill>
            <a:prstDash val="solid"/>
          </a:ln>
        </p:spPr>
      </p:sp>
      <p:sp>
        <p:nvSpPr>
          <p:cNvPr id="13" name="Text 11"/>
          <p:cNvSpPr/>
          <p:nvPr/>
        </p:nvSpPr>
        <p:spPr>
          <a:xfrm>
            <a:off x="438912" y="1219200"/>
            <a:ext cx="5449824" cy="268224"/>
          </a:xfrm>
          <a:prstGeom prst="rect">
            <a:avLst/>
          </a:prstGeom>
          <a:noFill/>
          <a:ln/>
        </p:spPr>
        <p:txBody>
          <a:bodyPr wrap="square" lIns="0" tIns="0" rIns="0" bIns="0" rtlCol="0" anchor="ctr"/>
          <a:lstStyle/>
          <a:p>
            <a:r>
              <a:rPr lang="en-US" sz="1000" b="1" kern="0" spc="160" dirty="0">
                <a:solidFill>
                  <a:srgbClr val="38BDF8"/>
                </a:solidFill>
                <a:latin typeface="Calibri" pitchFamily="34" charset="0"/>
                <a:ea typeface="Calibri" pitchFamily="34" charset="-122"/>
                <a:cs typeface="Calibri" pitchFamily="34" charset="-120"/>
              </a:rPr>
              <a:t>DECISIONES Y RAZONAMIENTO</a:t>
            </a:r>
            <a:endParaRPr lang="en-US" sz="1000" dirty="0"/>
          </a:p>
        </p:txBody>
      </p:sp>
      <p:sp>
        <p:nvSpPr>
          <p:cNvPr id="14" name="Text 12"/>
          <p:cNvSpPr/>
          <p:nvPr/>
        </p:nvSpPr>
        <p:spPr>
          <a:xfrm>
            <a:off x="438912" y="1536192"/>
            <a:ext cx="5449824" cy="4895088"/>
          </a:xfrm>
          <a:prstGeom prst="rect">
            <a:avLst/>
          </a:prstGeom>
          <a:noFill/>
          <a:ln/>
        </p:spPr>
        <p:txBody>
          <a:bodyPr wrap="square" lIns="0" tIns="0" rIns="0" bIns="0" rtlCol="0" anchor="t"/>
          <a:lstStyle/>
          <a:p>
            <a:pPr>
              <a:lnSpc>
                <a:spcPct val="128000"/>
              </a:lnSpc>
            </a:pPr>
            <a:r>
              <a:rPr lang="en-US" sz="1093" b="1" dirty="0">
                <a:solidFill>
                  <a:srgbClr val="38BDF8"/>
                </a:solidFill>
                <a:latin typeface="Calibri" pitchFamily="34" charset="0"/>
                <a:ea typeface="Calibri" pitchFamily="34" charset="-122"/>
                <a:cs typeface="Calibri" pitchFamily="34" charset="-120"/>
              </a:rPr>
              <a:t>Identifiqué el riesgo antes de que se materializara. </a:t>
            </a:r>
            <a:r>
              <a:rPr lang="en-US" sz="1093" dirty="0">
                <a:solidFill>
                  <a:srgbClr val="E2E8F0"/>
                </a:solidFill>
                <a:latin typeface="Calibri" pitchFamily="34" charset="0"/>
                <a:ea typeface="Calibri" pitchFamily="34" charset="-122"/>
                <a:cs typeface="Calibri" pitchFamily="34" charset="-120"/>
              </a:rPr>
              <a:t>Cuando mapeé las tareas del Sprint 4, noté que HU5 y HU2 tenían un solo ejecutor posible cada una. Eso no es un equipo ágil, es un sistema con un único punto de falla. Mi rol como PO no es esperar a que la persona se enferme o renuncie; es anticipar el riesgo y redistribuir el conocimiento antes de que sea urgente.
</a:t>
            </a:r>
            <a:r>
              <a:rPr lang="en-US" sz="1093" b="1" dirty="0">
                <a:solidFill>
                  <a:srgbClr val="38BDF8"/>
                </a:solidFill>
                <a:latin typeface="Calibri" pitchFamily="34" charset="0"/>
                <a:ea typeface="Calibri" pitchFamily="34" charset="-122"/>
                <a:cs typeface="Calibri" pitchFamily="34" charset="-120"/>
              </a:rPr>
              <a:t>Dividí las HUs en sub-tareas ejecutables por cualquier miembro. </a:t>
            </a:r>
            <a:r>
              <a:rPr lang="en-US" sz="1093" dirty="0">
                <a:solidFill>
                  <a:srgbClr val="E2E8F0"/>
                </a:solidFill>
                <a:latin typeface="Calibri" pitchFamily="34" charset="0"/>
                <a:ea typeface="Calibri" pitchFamily="34" charset="-122"/>
                <a:cs typeface="Calibri" pitchFamily="34" charset="-120"/>
              </a:rPr>
              <a:t>HU5 se partió en 3 sub-tareas con distintos niveles de especialización: configuración de BD (cualquier dev), lógica del motor (backend senior + buddy), pruebas (QA con script documentado). Esto no solo redujo el riesgo: también aceleró el sprint porque múltiples personas podían trabajar en paralelo. Lección: la granularidad de las tareas es una herramienta de gestión de riesgo.
</a:t>
            </a:r>
            <a:r>
              <a:rPr lang="en-US" sz="1093" b="1" dirty="0">
                <a:solidFill>
                  <a:srgbClr val="38BDF8"/>
                </a:solidFill>
                <a:latin typeface="Calibri" pitchFamily="34" charset="0"/>
                <a:ea typeface="Calibri" pitchFamily="34" charset="-122"/>
                <a:cs typeface="Calibri" pitchFamily="34" charset="-120"/>
              </a:rPr>
              <a:t>Hice del conocimiento compartido una condición del trabajo, no un extra. </a:t>
            </a:r>
            <a:r>
              <a:rPr lang="en-US" sz="1093" dirty="0">
                <a:solidFill>
                  <a:srgbClr val="E2E8F0"/>
                </a:solidFill>
                <a:latin typeface="Calibri" pitchFamily="34" charset="0"/>
                <a:ea typeface="Calibri" pitchFamily="34" charset="-122"/>
                <a:cs typeface="Calibri" pitchFamily="34" charset="-120"/>
              </a:rPr>
              <a:t>Agregué al criterio de Ready: 'Ninguna HU puede entrar a Sprint Planning si solo 1 persona puede ejecutarla. Se requiere mínimo 1 buddy con contexto suficiente'. Esto transformó el buddy system de buena práctica voluntaria a condición operativa. Autofeedback: los acuerdos de equipo deben estar escritos donde se verifican (Jira, DoD), no solo en conversaciones.
</a:t>
            </a:r>
            <a:r>
              <a:rPr lang="en-US" sz="1093" b="1" dirty="0">
                <a:solidFill>
                  <a:srgbClr val="38BDF8"/>
                </a:solidFill>
                <a:latin typeface="Calibri" pitchFamily="34" charset="0"/>
                <a:ea typeface="Calibri" pitchFamily="34" charset="-122"/>
                <a:cs typeface="Calibri" pitchFamily="34" charset="-120"/>
              </a:rPr>
              <a:t>Organicé la transferencia de conocimiento como trabajo del sprint. </a:t>
            </a:r>
            <a:r>
              <a:rPr lang="en-US" sz="1093" dirty="0">
                <a:solidFill>
                  <a:srgbClr val="E2E8F0"/>
                </a:solidFill>
                <a:latin typeface="Calibri" pitchFamily="34" charset="0"/>
                <a:ea typeface="Calibri" pitchFamily="34" charset="-122"/>
                <a:cs typeface="Calibri" pitchFamily="34" charset="-120"/>
              </a:rPr>
              <a:t>El taller de transferencia del analista de negocio fue un ítem del backlog con 2 horas, asistencia obligatoria, y responsable asignado. No fue un 'deberían verse en algún momento'. Lección de autofeedback: la gestión del conocimiento es trabajo de producto. Si no tiene un ítem en Jira con responsable y fecha, no existe.</a:t>
            </a:r>
            <a:endParaRPr lang="en-US" sz="1093" dirty="0"/>
          </a:p>
        </p:txBody>
      </p:sp>
      <p:sp>
        <p:nvSpPr>
          <p:cNvPr id="15" name="Shape 13"/>
          <p:cNvSpPr/>
          <p:nvPr/>
        </p:nvSpPr>
        <p:spPr>
          <a:xfrm>
            <a:off x="6169152" y="1133856"/>
            <a:ext cx="5754624" cy="5382768"/>
          </a:xfrm>
          <a:prstGeom prst="rect">
            <a:avLst/>
          </a:prstGeom>
          <a:solidFill>
            <a:srgbClr val="091428"/>
          </a:solidFill>
          <a:ln w="12700">
            <a:solidFill>
              <a:srgbClr val="A78BFA"/>
            </a:solidFill>
            <a:prstDash val="solid"/>
          </a:ln>
        </p:spPr>
      </p:sp>
      <p:sp>
        <p:nvSpPr>
          <p:cNvPr id="16" name="Shape 14"/>
          <p:cNvSpPr/>
          <p:nvPr/>
        </p:nvSpPr>
        <p:spPr>
          <a:xfrm>
            <a:off x="6169152" y="1133856"/>
            <a:ext cx="5754624" cy="36576"/>
          </a:xfrm>
          <a:prstGeom prst="rect">
            <a:avLst/>
          </a:prstGeom>
          <a:solidFill>
            <a:srgbClr val="A78BFA"/>
          </a:solidFill>
          <a:ln w="12700">
            <a:solidFill>
              <a:srgbClr val="A78BFA"/>
            </a:solidFill>
            <a:prstDash val="solid"/>
          </a:ln>
        </p:spPr>
      </p:sp>
      <p:sp>
        <p:nvSpPr>
          <p:cNvPr id="17" name="Text 15"/>
          <p:cNvSpPr/>
          <p:nvPr/>
        </p:nvSpPr>
        <p:spPr>
          <a:xfrm>
            <a:off x="6339840" y="1219200"/>
            <a:ext cx="5449824" cy="268224"/>
          </a:xfrm>
          <a:prstGeom prst="rect">
            <a:avLst/>
          </a:prstGeom>
          <a:noFill/>
          <a:ln/>
        </p:spPr>
        <p:txBody>
          <a:bodyPr wrap="square" lIns="0" tIns="0" rIns="0" bIns="0" rtlCol="0" anchor="ctr"/>
          <a:lstStyle/>
          <a:p>
            <a:r>
              <a:rPr lang="en-US" sz="1000" b="1" kern="0" spc="160" dirty="0">
                <a:solidFill>
                  <a:srgbClr val="A78BFA"/>
                </a:solidFill>
                <a:latin typeface="Calibri" pitchFamily="34" charset="0"/>
                <a:ea typeface="Calibri" pitchFamily="34" charset="-122"/>
                <a:cs typeface="Calibri" pitchFamily="34" charset="-120"/>
              </a:rPr>
              <a:t> PUNTOS CLAVE A RECORDAR</a:t>
            </a:r>
            <a:endParaRPr lang="en-US" sz="1000" dirty="0"/>
          </a:p>
        </p:txBody>
      </p:sp>
      <p:sp>
        <p:nvSpPr>
          <p:cNvPr id="18" name="Text 16"/>
          <p:cNvSpPr/>
          <p:nvPr/>
        </p:nvSpPr>
        <p:spPr>
          <a:xfrm>
            <a:off x="6339840" y="1536192"/>
            <a:ext cx="5449824" cy="4895088"/>
          </a:xfrm>
          <a:prstGeom prst="rect">
            <a:avLst/>
          </a:prstGeom>
          <a:noFill/>
          <a:ln/>
        </p:spPr>
        <p:txBody>
          <a:bodyPr wrap="square" lIns="0" tIns="0" rIns="0" bIns="0" rtlCol="0" anchor="t"/>
          <a:lstStyle/>
          <a:p>
            <a:pPr>
              <a:lnSpc>
                <a:spcPct val="128000"/>
              </a:lnSpc>
            </a:pPr>
            <a:r>
              <a:rPr lang="en-US" sz="1200" b="1" dirty="0">
                <a:solidFill>
                  <a:srgbClr val="A78BFA"/>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Patrón de riesgo: </a:t>
            </a:r>
            <a:r>
              <a:rPr lang="en-US" sz="1093" dirty="0">
                <a:solidFill>
                  <a:srgbClr val="E2E8F0"/>
                </a:solidFill>
                <a:latin typeface="Calibri" pitchFamily="34" charset="0"/>
                <a:ea typeface="Calibri" pitchFamily="34" charset="-122"/>
                <a:cs typeface="Calibri" pitchFamily="34" charset="-120"/>
              </a:rPr>
              <a:t>Si al preguntar '¿quién más puede hacer esto?' la respuesta es silencio, hay un riesgo de dependencia de personas. Hacer esa pregunta en cada Sprint Planning.
</a:t>
            </a:r>
            <a:r>
              <a:rPr lang="en-US" sz="1200" b="1" dirty="0">
                <a:solidFill>
                  <a:srgbClr val="A78BFA"/>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Criterio preventivo: </a:t>
            </a:r>
            <a:r>
              <a:rPr lang="en-US" sz="1093" dirty="0">
                <a:solidFill>
                  <a:srgbClr val="E2E8F0"/>
                </a:solidFill>
                <a:latin typeface="Calibri" pitchFamily="34" charset="0"/>
                <a:ea typeface="Calibri" pitchFamily="34" charset="-122"/>
                <a:cs typeface="Calibri" pitchFamily="34" charset="-120"/>
              </a:rPr>
              <a:t>Buddy obligatorio en criterio de Ready. No es opcional ni cultural: es una condición de entrada al sprint igual que los criterios de aceptación.
</a:t>
            </a:r>
            <a:r>
              <a:rPr lang="en-US" sz="1200" b="1" dirty="0">
                <a:solidFill>
                  <a:srgbClr val="A78BFA"/>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Error a no repetir: </a:t>
            </a:r>
            <a:r>
              <a:rPr lang="en-US" sz="1093" dirty="0">
                <a:solidFill>
                  <a:srgbClr val="E2E8F0"/>
                </a:solidFill>
                <a:latin typeface="Calibri" pitchFamily="34" charset="0"/>
                <a:ea typeface="Calibri" pitchFamily="34" charset="-122"/>
                <a:cs typeface="Calibri" pitchFamily="34" charset="-120"/>
              </a:rPr>
              <a:t>Permitir que un sprint avance con HUs que dependen de 1 sola persona para conocimiento crítico. La celeridad de corto plazo crea fragilidad de largo plazo.
</a:t>
            </a:r>
            <a:r>
              <a:rPr lang="en-US" sz="1200" b="1" dirty="0">
                <a:solidFill>
                  <a:srgbClr val="A78BFA"/>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Decisión estructural: </a:t>
            </a:r>
            <a:r>
              <a:rPr lang="en-US" sz="1093" dirty="0">
                <a:solidFill>
                  <a:srgbClr val="E2E8F0"/>
                </a:solidFill>
                <a:latin typeface="Calibri" pitchFamily="34" charset="0"/>
                <a:ea typeface="Calibri" pitchFamily="34" charset="-122"/>
                <a:cs typeface="Calibri" pitchFamily="34" charset="-120"/>
              </a:rPr>
              <a:t>Toda tarea de integración crítica requiere pair programming como parte del DoD desde Sprint 6. El conocimiento compartido es un entregable, no un beneficio secundario.
</a:t>
            </a:r>
            <a:r>
              <a:rPr lang="en-US" sz="1200" b="1" dirty="0">
                <a:solidFill>
                  <a:srgbClr val="A78BFA"/>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Señal de alerta: </a:t>
            </a:r>
            <a:r>
              <a:rPr lang="en-US" sz="1093" dirty="0">
                <a:solidFill>
                  <a:srgbClr val="E2E8F0"/>
                </a:solidFill>
                <a:latin typeface="Calibri" pitchFamily="34" charset="0"/>
                <a:ea typeface="Calibri" pitchFamily="34" charset="-122"/>
                <a:cs typeface="Calibri" pitchFamily="34" charset="-120"/>
              </a:rPr>
              <a:t>Si en el daily alguien dice 'estoy esperando a [nombre] para continuar', hay una dependencia de persona activa. Escalar inmediatamente como riesgo en Jira.</a:t>
            </a:r>
            <a:endParaRPr lang="en-US" sz="1200" dirty="0"/>
          </a:p>
        </p:txBody>
      </p:sp>
      <p:sp>
        <p:nvSpPr>
          <p:cNvPr id="19" name="Shape 17"/>
          <p:cNvSpPr/>
          <p:nvPr/>
        </p:nvSpPr>
        <p:spPr>
          <a:xfrm>
            <a:off x="0" y="6699504"/>
            <a:ext cx="12192000" cy="158496"/>
          </a:xfrm>
          <a:prstGeom prst="rect">
            <a:avLst/>
          </a:prstGeom>
          <a:solidFill>
            <a:srgbClr val="1246B3"/>
          </a:solidFill>
          <a:ln w="12700">
            <a:solidFill>
              <a:srgbClr val="1246B3"/>
            </a:solidFill>
            <a:prstDash val="solid"/>
          </a:ln>
        </p:spPr>
      </p:sp>
      <p:sp>
        <p:nvSpPr>
          <p:cNvPr id="20" name="Text 18"/>
          <p:cNvSpPr/>
          <p:nvPr/>
        </p:nvSpPr>
        <p:spPr>
          <a:xfrm>
            <a:off x="243840" y="6565392"/>
            <a:ext cx="11704320" cy="158496"/>
          </a:xfrm>
          <a:prstGeom prst="rect">
            <a:avLst/>
          </a:prstGeom>
          <a:noFill/>
          <a:ln/>
        </p:spPr>
        <p:txBody>
          <a:bodyPr wrap="square" lIns="0" tIns="0" rIns="0" bIns="0" rtlCol="0" anchor="ctr"/>
          <a:lstStyle/>
          <a:p>
            <a:r>
              <a:rPr lang="en-US" sz="800" i="1" dirty="0">
                <a:solidFill>
                  <a:srgbClr val="475569"/>
                </a:solidFill>
                <a:latin typeface="Calibri" pitchFamily="34" charset="0"/>
                <a:ea typeface="Calibri" pitchFamily="34" charset="-122"/>
                <a:cs typeface="Calibri" pitchFamily="34" charset="-120"/>
              </a:rPr>
              <a:t>Gabriel Sandoval G.  ·  Product Owner  ·  ABP Módulo 5  ·  Rediseño Flujo Viáticos  ·  Caso 6 – Dependencia de Personas  ·  Registro de Autofeedback</a:t>
            </a:r>
            <a:endParaRPr lang="en-US" sz="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16">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3 – CASO 6</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Dependencia de Personas</a:t>
            </a:r>
            <a:endParaRPr lang="en-US" sz="2100"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000" i="1" dirty="0">
                <a:solidFill>
                  <a:srgbClr val="38BDF8"/>
                </a:solidFill>
                <a:latin typeface="Calibri" pitchFamily="34" charset="0"/>
                <a:ea typeface="Calibri" pitchFamily="34" charset="-122"/>
                <a:cs typeface="Calibri" pitchFamily="34" charset="-120"/>
              </a:rPr>
              <a:t>Refinamiento del Backlog</a:t>
            </a:r>
            <a:endParaRPr lang="en-US" sz="10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Shape 7"/>
          <p:cNvSpPr/>
          <p:nvPr/>
        </p:nvSpPr>
        <p:spPr>
          <a:xfrm>
            <a:off x="0" y="6720840"/>
            <a:ext cx="12188952" cy="137160"/>
          </a:xfrm>
          <a:prstGeom prst="rect">
            <a:avLst/>
          </a:prstGeom>
          <a:solidFill>
            <a:srgbClr val="1246B3"/>
          </a:solidFill>
          <a:ln w="12700">
            <a:solidFill>
              <a:srgbClr val="1246B3"/>
            </a:solidFill>
            <a:prstDash val="solid"/>
          </a:ln>
        </p:spPr>
      </p:sp>
      <p:sp>
        <p:nvSpPr>
          <p:cNvPr id="10" name="Text 8"/>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14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1400" dirty="0"/>
          </a:p>
        </p:txBody>
      </p:sp>
      <p:sp>
        <p:nvSpPr>
          <p:cNvPr id="11" name="Shape 9"/>
          <p:cNvSpPr/>
          <p:nvPr/>
        </p:nvSpPr>
        <p:spPr>
          <a:xfrm>
            <a:off x="201168" y="1005840"/>
            <a:ext cx="5760720" cy="5559552"/>
          </a:xfrm>
          <a:prstGeom prst="rect">
            <a:avLst/>
          </a:prstGeom>
          <a:solidFill>
            <a:srgbClr val="0D1B3E"/>
          </a:solidFill>
          <a:ln w="12700">
            <a:solidFill>
              <a:srgbClr val="38BDF8"/>
            </a:solidFill>
            <a:prstDash val="solid"/>
          </a:ln>
        </p:spPr>
      </p:sp>
      <p:sp>
        <p:nvSpPr>
          <p:cNvPr id="12" name="Shape 10"/>
          <p:cNvSpPr/>
          <p:nvPr/>
        </p:nvSpPr>
        <p:spPr>
          <a:xfrm>
            <a:off x="201168" y="1005840"/>
            <a:ext cx="5760720" cy="32004"/>
          </a:xfrm>
          <a:prstGeom prst="rect">
            <a:avLst/>
          </a:prstGeom>
          <a:solidFill>
            <a:srgbClr val="38BDF8"/>
          </a:solidFill>
          <a:ln w="12700">
            <a:solidFill>
              <a:srgbClr val="38BDF8"/>
            </a:solidFill>
            <a:prstDash val="solid"/>
          </a:ln>
        </p:spPr>
      </p:sp>
      <p:sp>
        <p:nvSpPr>
          <p:cNvPr id="13" name="Text 11"/>
          <p:cNvSpPr/>
          <p:nvPr/>
        </p:nvSpPr>
        <p:spPr>
          <a:xfrm>
            <a:off x="347472" y="1078992"/>
            <a:ext cx="5486400" cy="237744"/>
          </a:xfrm>
          <a:prstGeom prst="rect">
            <a:avLst/>
          </a:prstGeom>
          <a:noFill/>
          <a:ln/>
        </p:spPr>
        <p:txBody>
          <a:bodyPr wrap="square" lIns="0" tIns="0" rIns="0" bIns="0" rtlCol="0" anchor="ctr"/>
          <a:lstStyle/>
          <a:p>
            <a:pPr marL="0" indent="0">
              <a:buNone/>
            </a:pPr>
            <a:r>
              <a:rPr lang="en-US" sz="1400" b="1" kern="0" spc="120" dirty="0">
                <a:solidFill>
                  <a:srgbClr val="38BDF8"/>
                </a:solidFill>
                <a:latin typeface="Calibri" pitchFamily="34" charset="0"/>
                <a:ea typeface="Calibri" pitchFamily="34" charset="-122"/>
                <a:cs typeface="Calibri" pitchFamily="34" charset="-120"/>
              </a:rPr>
              <a:t>RESOLUCIÓN APLICADA AL PROYECTO</a:t>
            </a:r>
            <a:endParaRPr lang="en-US" sz="1400" dirty="0"/>
          </a:p>
        </p:txBody>
      </p:sp>
      <p:sp>
        <p:nvSpPr>
          <p:cNvPr id="14" name="Text 12"/>
          <p:cNvSpPr/>
          <p:nvPr/>
        </p:nvSpPr>
        <p:spPr>
          <a:xfrm>
            <a:off x="347472" y="1371600"/>
            <a:ext cx="5486400" cy="5029200"/>
          </a:xfrm>
          <a:prstGeom prst="rect">
            <a:avLst/>
          </a:prstGeom>
          <a:noFill/>
          <a:ln/>
        </p:spPr>
        <p:txBody>
          <a:bodyPr wrap="square" lIns="0" tIns="0" rIns="0" bIns="0" rtlCol="0" anchor="t"/>
          <a:lstStyle/>
          <a:p>
            <a:pPr marL="0" indent="0">
              <a:lnSpc>
                <a:spcPct val="128000"/>
              </a:lnSpc>
              <a:buNone/>
            </a:pPr>
            <a:r>
              <a:rPr lang="en-US" sz="1400" b="1" dirty="0">
                <a:solidFill>
                  <a:srgbClr val="38BDF8"/>
                </a:solidFill>
                <a:latin typeface="Calibri" pitchFamily="34" charset="0"/>
                <a:ea typeface="Calibri" pitchFamily="34" charset="-122"/>
                <a:cs typeface="Calibri" pitchFamily="34" charset="-120"/>
              </a:rPr>
              <a:t>Resolución: </a:t>
            </a:r>
            <a:r>
              <a:rPr lang="en-US" sz="1400" dirty="0">
                <a:solidFill>
                  <a:srgbClr val="E2E8F0"/>
                </a:solidFill>
                <a:latin typeface="Calibri" pitchFamily="34" charset="0"/>
                <a:ea typeface="Calibri" pitchFamily="34" charset="-122"/>
                <a:cs typeface="Calibri" pitchFamily="34" charset="-120"/>
              </a:rPr>
              <a:t> HU5 y HU2 dependían de 2 personas: backend senior (API bancaria) y analista de negocio (mapeo reglas Finanzas). Conocimiento crítico concentrado sin documentar.
</a:t>
            </a:r>
            <a:r>
              <a:rPr lang="en-US" sz="1400" b="1" dirty="0">
                <a:solidFill>
                  <a:srgbClr val="38BDF8"/>
                </a:solidFill>
                <a:latin typeface="Calibri" pitchFamily="34" charset="0"/>
                <a:ea typeface="Calibri" pitchFamily="34" charset="-122"/>
                <a:cs typeface="Calibri" pitchFamily="34" charset="-120"/>
              </a:rPr>
              <a:t>Rediseño Sprint 4: </a:t>
            </a:r>
            <a:r>
              <a:rPr lang="en-US" sz="1400" dirty="0">
                <a:solidFill>
                  <a:srgbClr val="E2E8F0"/>
                </a:solidFill>
                <a:latin typeface="Calibri" pitchFamily="34" charset="0"/>
                <a:ea typeface="Calibri" pitchFamily="34" charset="-122"/>
                <a:cs typeface="Calibri" pitchFamily="34" charset="-120"/>
              </a:rPr>
              <a:t> HU5 se parte en 3 sub-tareas: (1) Configuración BD – cualquier dev. (2) Lógica motor reglas – backend senior + buddy con documentación previa al día 3. (3) Pruebas integración – QA con script.
</a:t>
            </a:r>
            <a:r>
              <a:rPr lang="en-US" sz="1400" b="1" dirty="0">
                <a:solidFill>
                  <a:srgbClr val="38BDF8"/>
                </a:solidFill>
                <a:latin typeface="Calibri" pitchFamily="34" charset="0"/>
                <a:ea typeface="Calibri" pitchFamily="34" charset="-122"/>
                <a:cs typeface="Calibri" pitchFamily="34" charset="-120"/>
              </a:rPr>
              <a:t>Acuerdos de transferencia: </a:t>
            </a:r>
            <a:r>
              <a:rPr lang="en-US" sz="1400" dirty="0">
                <a:solidFill>
                  <a:srgbClr val="E2E8F0"/>
                </a:solidFill>
                <a:latin typeface="Calibri" pitchFamily="34" charset="0"/>
                <a:ea typeface="Calibri" pitchFamily="34" charset="-122"/>
                <a:cs typeface="Calibri" pitchFamily="34" charset="-120"/>
              </a:rPr>
              <a:t> (a) Toda tarea crítica tiene 'buddy'. (b) Ninguna HU entra a Sprint si solo 1 persona puede ejecutarla. (c) Backend senior documenta API bancaria en Confluence antes de fin de Sprint 3.</a:t>
            </a:r>
            <a:endParaRPr lang="en-US" sz="1400" dirty="0"/>
          </a:p>
        </p:txBody>
      </p:sp>
      <p:sp>
        <p:nvSpPr>
          <p:cNvPr id="15" name="Shape 13"/>
          <p:cNvSpPr/>
          <p:nvPr/>
        </p:nvSpPr>
        <p:spPr>
          <a:xfrm>
            <a:off x="6144768" y="1005840"/>
            <a:ext cx="5852160" cy="5559552"/>
          </a:xfrm>
          <a:prstGeom prst="rect">
            <a:avLst/>
          </a:prstGeom>
          <a:solidFill>
            <a:srgbClr val="091428"/>
          </a:solidFill>
          <a:ln w="12700">
            <a:solidFill>
              <a:srgbClr val="FBBF24"/>
            </a:solidFill>
            <a:prstDash val="solid"/>
          </a:ln>
        </p:spPr>
        <p:txBody>
          <a:bodyPr/>
          <a:lstStyle/>
          <a:p>
            <a:endParaRPr lang="es-ES_tradnl" sz="1400" dirty="0"/>
          </a:p>
        </p:txBody>
      </p:sp>
      <p:sp>
        <p:nvSpPr>
          <p:cNvPr id="16" name="Shape 14"/>
          <p:cNvSpPr/>
          <p:nvPr/>
        </p:nvSpPr>
        <p:spPr>
          <a:xfrm>
            <a:off x="6144768" y="1005840"/>
            <a:ext cx="5852160" cy="32004"/>
          </a:xfrm>
          <a:prstGeom prst="rect">
            <a:avLst/>
          </a:prstGeom>
          <a:solidFill>
            <a:srgbClr val="FBBF24"/>
          </a:solidFill>
          <a:ln w="12700">
            <a:solidFill>
              <a:srgbClr val="FBBF24"/>
            </a:solidFill>
            <a:prstDash val="solid"/>
          </a:ln>
        </p:spPr>
      </p:sp>
      <p:sp>
        <p:nvSpPr>
          <p:cNvPr id="17" name="Text 15"/>
          <p:cNvSpPr/>
          <p:nvPr/>
        </p:nvSpPr>
        <p:spPr>
          <a:xfrm>
            <a:off x="6291072" y="1078992"/>
            <a:ext cx="5623560" cy="237744"/>
          </a:xfrm>
          <a:prstGeom prst="rect">
            <a:avLst/>
          </a:prstGeom>
          <a:noFill/>
          <a:ln/>
        </p:spPr>
        <p:txBody>
          <a:bodyPr wrap="square" lIns="0" tIns="0" rIns="0" bIns="0" rtlCol="0" anchor="ctr"/>
          <a:lstStyle/>
          <a:p>
            <a:pPr marL="0" indent="0">
              <a:buNone/>
            </a:pPr>
            <a:r>
              <a:rPr lang="en-US" sz="1400" b="1" kern="0" spc="120" dirty="0">
                <a:solidFill>
                  <a:srgbClr val="FBBF24"/>
                </a:solidFill>
                <a:latin typeface="Calibri" pitchFamily="34" charset="0"/>
                <a:ea typeface="Calibri" pitchFamily="34" charset="-122"/>
                <a:cs typeface="Calibri" pitchFamily="34" charset="-120"/>
              </a:rPr>
              <a:t>BACKLOG ACTUALIZADO </a:t>
            </a:r>
            <a:endParaRPr lang="en-US" sz="1400" dirty="0"/>
          </a:p>
        </p:txBody>
      </p:sp>
      <p:sp>
        <p:nvSpPr>
          <p:cNvPr id="18" name="Text 16"/>
          <p:cNvSpPr/>
          <p:nvPr/>
        </p:nvSpPr>
        <p:spPr>
          <a:xfrm>
            <a:off x="6291072" y="1371600"/>
            <a:ext cx="5623560" cy="5029200"/>
          </a:xfrm>
          <a:prstGeom prst="rect">
            <a:avLst/>
          </a:prstGeom>
          <a:noFill/>
          <a:ln/>
        </p:spPr>
        <p:txBody>
          <a:bodyPr wrap="square" lIns="0" tIns="0" rIns="0" bIns="0" rtlCol="0" anchor="t"/>
          <a:lstStyle/>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HU5 DIVIDIDA: </a:t>
            </a:r>
            <a:r>
              <a:rPr lang="en-US" sz="1400" dirty="0">
                <a:solidFill>
                  <a:srgbClr val="E2E8F0"/>
                </a:solidFill>
                <a:latin typeface="Calibri" pitchFamily="34" charset="0"/>
                <a:ea typeface="Calibri" pitchFamily="34" charset="-122"/>
                <a:cs typeface="Calibri" pitchFamily="34" charset="-120"/>
              </a:rPr>
              <a:t> ST-01 Configuración BD (2 SP), ST-02 Motor lógica (4 SP, backend + buddy), ST-03 Pruebas (2 SP, QA)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HU2 – API Bancaria: </a:t>
            </a:r>
            <a:r>
              <a:rPr lang="en-US" sz="1400" dirty="0">
                <a:solidFill>
                  <a:srgbClr val="E2E8F0"/>
                </a:solidFill>
                <a:latin typeface="Calibri" pitchFamily="34" charset="0"/>
                <a:ea typeface="Calibri" pitchFamily="34" charset="-122"/>
                <a:cs typeface="Calibri" pitchFamily="34" charset="-120"/>
              </a:rPr>
              <a:t> NUEVA TAREA: documentar arquitectura en Confluence (1 SP, bloqueante para ST-02)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Taller transferencia: </a:t>
            </a:r>
            <a:r>
              <a:rPr lang="en-US" sz="1400" dirty="0">
                <a:solidFill>
                  <a:srgbClr val="E2E8F0"/>
                </a:solidFill>
                <a:latin typeface="Calibri" pitchFamily="34" charset="0"/>
                <a:ea typeface="Calibri" pitchFamily="34" charset="-122"/>
                <a:cs typeface="Calibri" pitchFamily="34" charset="-120"/>
              </a:rPr>
              <a:t> 2 horas semana 9, asistencia obligatoria. Responsable: Analista de Negocio + PO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DoR ACTUALIZADA: </a:t>
            </a:r>
            <a:r>
              <a:rPr lang="en-US" sz="1400" dirty="0">
                <a:solidFill>
                  <a:srgbClr val="E2E8F0"/>
                </a:solidFill>
                <a:latin typeface="Calibri" pitchFamily="34" charset="0"/>
                <a:ea typeface="Calibri" pitchFamily="34" charset="-122"/>
                <a:cs typeface="Calibri" pitchFamily="34" charset="-120"/>
              </a:rPr>
              <a:t> Ninguna HU entra a Sprint Planning si solo 1 persona puede ejecutarla. Mínimo 1 buddy identificado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RIESGO-05 parcial: </a:t>
            </a:r>
            <a:r>
              <a:rPr lang="en-US" sz="1400" dirty="0">
                <a:solidFill>
                  <a:srgbClr val="E2E8F0"/>
                </a:solidFill>
                <a:latin typeface="Calibri" pitchFamily="34" charset="0"/>
                <a:ea typeface="Calibri" pitchFamily="34" charset="-122"/>
                <a:cs typeface="Calibri" pitchFamily="34" charset="-120"/>
              </a:rPr>
              <a:t> Riesgo de dependencia reducido de Alto a Medio. Residual: si backend senior sale antes de Sprint 5, se activa contratación urgente</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85344" cy="6858000"/>
          </a:xfrm>
          <a:prstGeom prst="rect">
            <a:avLst/>
          </a:prstGeom>
          <a:solidFill>
            <a:srgbClr val="FBBF24"/>
          </a:solidFill>
          <a:ln w="12700">
            <a:solidFill>
              <a:srgbClr val="FBBF24"/>
            </a:solidFill>
            <a:prstDash val="solid"/>
          </a:ln>
        </p:spPr>
      </p:sp>
      <p:sp>
        <p:nvSpPr>
          <p:cNvPr id="3" name="Shape 1"/>
          <p:cNvSpPr/>
          <p:nvPr/>
        </p:nvSpPr>
        <p:spPr>
          <a:xfrm>
            <a:off x="85344" y="0"/>
            <a:ext cx="12106656" cy="1036320"/>
          </a:xfrm>
          <a:prstGeom prst="rect">
            <a:avLst/>
          </a:prstGeom>
          <a:solidFill>
            <a:srgbClr val="0A1428"/>
          </a:solidFill>
          <a:ln w="12700">
            <a:solidFill>
              <a:srgbClr val="0A1428"/>
            </a:solidFill>
            <a:prstDash val="solid"/>
          </a:ln>
        </p:spPr>
      </p:sp>
      <p:sp>
        <p:nvSpPr>
          <p:cNvPr id="4" name="Shape 2"/>
          <p:cNvSpPr/>
          <p:nvPr/>
        </p:nvSpPr>
        <p:spPr>
          <a:xfrm>
            <a:off x="268224" y="170688"/>
            <a:ext cx="1950720" cy="341376"/>
          </a:xfrm>
          <a:prstGeom prst="rect">
            <a:avLst/>
          </a:prstGeom>
          <a:solidFill>
            <a:srgbClr val="FBBF24"/>
          </a:solidFill>
          <a:ln w="12700">
            <a:solidFill>
              <a:srgbClr val="FBBF24"/>
            </a:solidFill>
            <a:prstDash val="solid"/>
          </a:ln>
        </p:spPr>
      </p:sp>
      <p:sp>
        <p:nvSpPr>
          <p:cNvPr id="5" name="Text 3"/>
          <p:cNvSpPr/>
          <p:nvPr/>
        </p:nvSpPr>
        <p:spPr>
          <a:xfrm>
            <a:off x="268224" y="170688"/>
            <a:ext cx="1950720" cy="341376"/>
          </a:xfrm>
          <a:prstGeom prst="rect">
            <a:avLst/>
          </a:prstGeom>
          <a:noFill/>
          <a:ln/>
        </p:spPr>
        <p:txBody>
          <a:bodyPr wrap="square" lIns="0" tIns="0" rIns="0" bIns="0" rtlCol="0" anchor="ctr"/>
          <a:lstStyle/>
          <a:p>
            <a:pPr algn="ctr"/>
            <a:r>
              <a:rPr lang="en-US" sz="1067" b="1" kern="0" spc="267" dirty="0">
                <a:solidFill>
                  <a:srgbClr val="FFFFFF"/>
                </a:solidFill>
                <a:latin typeface="Calibri" pitchFamily="34" charset="0"/>
                <a:ea typeface="Calibri" pitchFamily="34" charset="-122"/>
                <a:cs typeface="Calibri" pitchFamily="34" charset="-120"/>
              </a:rPr>
              <a:t>CASO 7</a:t>
            </a:r>
            <a:endParaRPr lang="en-US" sz="1067" dirty="0"/>
          </a:p>
        </p:txBody>
      </p:sp>
      <p:sp>
        <p:nvSpPr>
          <p:cNvPr id="8" name="Text 6"/>
          <p:cNvSpPr/>
          <p:nvPr/>
        </p:nvSpPr>
        <p:spPr>
          <a:xfrm>
            <a:off x="3581400" y="110948"/>
            <a:ext cx="7071360" cy="487680"/>
          </a:xfrm>
          <a:prstGeom prst="rect">
            <a:avLst/>
          </a:prstGeom>
          <a:noFill/>
          <a:ln/>
        </p:spPr>
        <p:txBody>
          <a:bodyPr wrap="square" lIns="0" tIns="0" rIns="0" bIns="0" rtlCol="0" anchor="ctr"/>
          <a:lstStyle/>
          <a:p>
            <a:r>
              <a:rPr lang="en-US" sz="2400" b="1" dirty="0">
                <a:solidFill>
                  <a:srgbClr val="FFFFFF"/>
                </a:solidFill>
                <a:latin typeface="Calibri" pitchFamily="34" charset="0"/>
                <a:ea typeface="Calibri" pitchFamily="34" charset="-122"/>
                <a:cs typeface="Calibri" pitchFamily="34" charset="-120"/>
              </a:rPr>
              <a:t>Stakeholder que Mete Urgencia sin Proceso</a:t>
            </a:r>
            <a:endParaRPr lang="en-US" sz="2400" dirty="0"/>
          </a:p>
        </p:txBody>
      </p:sp>
      <p:sp>
        <p:nvSpPr>
          <p:cNvPr id="9" name="Text 7"/>
          <p:cNvSpPr/>
          <p:nvPr/>
        </p:nvSpPr>
        <p:spPr>
          <a:xfrm>
            <a:off x="268224" y="633984"/>
            <a:ext cx="11655552" cy="292608"/>
          </a:xfrm>
          <a:prstGeom prst="rect">
            <a:avLst/>
          </a:prstGeom>
          <a:noFill/>
          <a:ln/>
        </p:spPr>
        <p:txBody>
          <a:bodyPr wrap="square" lIns="0" tIns="0" rIns="0" bIns="0" rtlCol="0" anchor="ctr"/>
          <a:lstStyle/>
          <a:p>
            <a:r>
              <a:rPr lang="en-US" sz="1133" i="1" dirty="0">
                <a:solidFill>
                  <a:srgbClr val="38BDF8"/>
                </a:solidFill>
                <a:latin typeface="Calibri" pitchFamily="34" charset="0"/>
                <a:ea typeface="Calibri" pitchFamily="34" charset="-122"/>
                <a:cs typeface="Calibri" pitchFamily="34" charset="-120"/>
              </a:rPr>
              <a:t>Auditoría Interna exige reporte PDF fuera del alcance en 2 semanas · Sprint 4</a:t>
            </a:r>
            <a:endParaRPr lang="en-US" sz="1133" dirty="0"/>
          </a:p>
        </p:txBody>
      </p:sp>
      <p:sp>
        <p:nvSpPr>
          <p:cNvPr id="10" name="Shape 8"/>
          <p:cNvSpPr/>
          <p:nvPr/>
        </p:nvSpPr>
        <p:spPr>
          <a:xfrm>
            <a:off x="85344" y="1036321"/>
            <a:ext cx="12106656" cy="26823"/>
          </a:xfrm>
          <a:prstGeom prst="rect">
            <a:avLst/>
          </a:prstGeom>
          <a:solidFill>
            <a:srgbClr val="FBBF24"/>
          </a:solidFill>
          <a:ln w="12700">
            <a:solidFill>
              <a:srgbClr val="FBBF24"/>
            </a:solidFill>
            <a:prstDash val="solid"/>
          </a:ln>
        </p:spPr>
      </p:sp>
      <p:sp>
        <p:nvSpPr>
          <p:cNvPr id="11" name="Shape 9"/>
          <p:cNvSpPr/>
          <p:nvPr/>
        </p:nvSpPr>
        <p:spPr>
          <a:xfrm>
            <a:off x="268224" y="1133856"/>
            <a:ext cx="5754624" cy="5382768"/>
          </a:xfrm>
          <a:prstGeom prst="rect">
            <a:avLst/>
          </a:prstGeom>
          <a:solidFill>
            <a:srgbClr val="0B1A3A"/>
          </a:solidFill>
          <a:ln w="12700">
            <a:solidFill>
              <a:srgbClr val="FBBF24"/>
            </a:solidFill>
            <a:prstDash val="solid"/>
          </a:ln>
        </p:spPr>
      </p:sp>
      <p:sp>
        <p:nvSpPr>
          <p:cNvPr id="12" name="Shape 10"/>
          <p:cNvSpPr/>
          <p:nvPr/>
        </p:nvSpPr>
        <p:spPr>
          <a:xfrm>
            <a:off x="268224" y="1133856"/>
            <a:ext cx="5754624" cy="36576"/>
          </a:xfrm>
          <a:prstGeom prst="rect">
            <a:avLst/>
          </a:prstGeom>
          <a:solidFill>
            <a:srgbClr val="FBBF24"/>
          </a:solidFill>
          <a:ln w="12700">
            <a:solidFill>
              <a:srgbClr val="FBBF24"/>
            </a:solidFill>
            <a:prstDash val="solid"/>
          </a:ln>
        </p:spPr>
      </p:sp>
      <p:sp>
        <p:nvSpPr>
          <p:cNvPr id="13" name="Text 11"/>
          <p:cNvSpPr/>
          <p:nvPr/>
        </p:nvSpPr>
        <p:spPr>
          <a:xfrm>
            <a:off x="438912" y="1219200"/>
            <a:ext cx="5449824" cy="268224"/>
          </a:xfrm>
          <a:prstGeom prst="rect">
            <a:avLst/>
          </a:prstGeom>
          <a:noFill/>
          <a:ln/>
        </p:spPr>
        <p:txBody>
          <a:bodyPr wrap="square" lIns="0" tIns="0" rIns="0" bIns="0" rtlCol="0" anchor="ctr"/>
          <a:lstStyle/>
          <a:p>
            <a:r>
              <a:rPr lang="en-US" sz="1000" b="1" kern="0" spc="160" dirty="0">
                <a:solidFill>
                  <a:srgbClr val="FBBF24"/>
                </a:solidFill>
                <a:latin typeface="Calibri" pitchFamily="34" charset="0"/>
                <a:ea typeface="Calibri" pitchFamily="34" charset="-122"/>
                <a:cs typeface="Calibri" pitchFamily="34" charset="-120"/>
              </a:rPr>
              <a:t>DECISIONES Y RAZONAMIENTO</a:t>
            </a:r>
            <a:endParaRPr lang="en-US" sz="1000" dirty="0"/>
          </a:p>
        </p:txBody>
      </p:sp>
      <p:sp>
        <p:nvSpPr>
          <p:cNvPr id="14" name="Text 12"/>
          <p:cNvSpPr/>
          <p:nvPr/>
        </p:nvSpPr>
        <p:spPr>
          <a:xfrm>
            <a:off x="438912" y="1536192"/>
            <a:ext cx="5449824" cy="4895088"/>
          </a:xfrm>
          <a:prstGeom prst="rect">
            <a:avLst/>
          </a:prstGeom>
          <a:noFill/>
          <a:ln/>
        </p:spPr>
        <p:txBody>
          <a:bodyPr wrap="square" lIns="0" tIns="0" rIns="0" bIns="0" rtlCol="0" anchor="t"/>
          <a:lstStyle/>
          <a:p>
            <a:pPr>
              <a:lnSpc>
                <a:spcPct val="128000"/>
              </a:lnSpc>
            </a:pPr>
            <a:r>
              <a:rPr lang="en-US" sz="1093" b="1" dirty="0">
                <a:solidFill>
                  <a:srgbClr val="FBBF24"/>
                </a:solidFill>
                <a:latin typeface="Calibri" pitchFamily="34" charset="0"/>
                <a:ea typeface="Calibri" pitchFamily="34" charset="-122"/>
                <a:cs typeface="Calibri" pitchFamily="34" charset="-120"/>
              </a:rPr>
              <a:t>No cedí ni rechacé: investigué el objetivo real. </a:t>
            </a:r>
            <a:r>
              <a:rPr lang="en-US" sz="1093" dirty="0">
                <a:solidFill>
                  <a:srgbClr val="E2E8F0"/>
                </a:solidFill>
                <a:latin typeface="Calibri" pitchFamily="34" charset="0"/>
                <a:ea typeface="Calibri" pitchFamily="34" charset="-122"/>
                <a:cs typeface="Calibri" pitchFamily="34" charset="-120"/>
              </a:rPr>
              <a:t>Cuando Auditoría llegó directamente al equipo con el requerimiento del reporte PDF firmado, el riesgo era doble: que el equipo lo tomara y perdiera el foco, o que lo rechazara generando conflicto. Mi primer movimiento fue convocar reunión con Auditoría en 24 horas para entender el objetivo real detrás del pedido. El reporte PDF era el medio; el objetivo era tener evidencia de trazabilidad para el directorio.
</a:t>
            </a:r>
            <a:r>
              <a:rPr lang="en-US" sz="1093" b="1" dirty="0">
                <a:solidFill>
                  <a:srgbClr val="FBBF24"/>
                </a:solidFill>
                <a:latin typeface="Calibri" pitchFamily="34" charset="0"/>
                <a:ea typeface="Calibri" pitchFamily="34" charset="-122"/>
                <a:cs typeface="Calibri" pitchFamily="34" charset="-120"/>
              </a:rPr>
              <a:t>Ofrecí una alternativa de mayor valor en menor tiempo. </a:t>
            </a:r>
            <a:r>
              <a:rPr lang="en-US" sz="1093" dirty="0">
                <a:solidFill>
                  <a:srgbClr val="E2E8F0"/>
                </a:solidFill>
                <a:latin typeface="Calibri" pitchFamily="34" charset="0"/>
                <a:ea typeface="Calibri" pitchFamily="34" charset="-122"/>
                <a:cs typeface="Calibri" pitchFamily="34" charset="-120"/>
              </a:rPr>
              <a:t>El dashboard de excepciones en tiempo real (exportable a Excel) cumplía el objetivo real de Auditoría mejor que un PDF estático, estaba lista en Sprint 5 y era parte del producto que ya íbamos a construir. Autofeedback: cuando un stakeholder pide algo específico, siempre preguntar '¿para qué necesitas esto?' La respuesta revela si hay una solución mejor que la pedida.
</a:t>
            </a:r>
            <a:r>
              <a:rPr lang="en-US" sz="1093" b="1" dirty="0">
                <a:solidFill>
                  <a:srgbClr val="FBBF24"/>
                </a:solidFill>
                <a:latin typeface="Calibri" pitchFamily="34" charset="0"/>
                <a:ea typeface="Calibri" pitchFamily="34" charset="-122"/>
                <a:cs typeface="Calibri" pitchFamily="34" charset="-120"/>
              </a:rPr>
              <a:t>Negocié el intercambio de forma explícita y documentada. </a:t>
            </a:r>
            <a:r>
              <a:rPr lang="en-US" sz="1093" dirty="0">
                <a:solidFill>
                  <a:srgbClr val="E2E8F0"/>
                </a:solidFill>
                <a:latin typeface="Calibri" pitchFamily="34" charset="0"/>
                <a:ea typeface="Calibri" pitchFamily="34" charset="-122"/>
                <a:cs typeface="Calibri" pitchFamily="34" charset="-120"/>
              </a:rPr>
              <a:t>El acuerdo con Auditoría fue claro: el dashboard entra al Sprint 5 como prioridad 1, a cambio la HU de escalabilidad de nuevas áreas se mueve al Sprint 6. El acuerdo fue firmado por PO y Gerente de Auditoría y subido a Jira. Lección: cualquier cambio de alcance que afecte prioridades necesita un acuerdo escrito con el Sponsor informado. Sin documento, no hay acuerdo.
</a:t>
            </a:r>
            <a:r>
              <a:rPr lang="en-US" sz="1093" b="1" dirty="0">
                <a:solidFill>
                  <a:srgbClr val="FBBF24"/>
                </a:solidFill>
                <a:latin typeface="Calibri" pitchFamily="34" charset="0"/>
                <a:ea typeface="Calibri" pitchFamily="34" charset="-122"/>
                <a:cs typeface="Calibri" pitchFamily="34" charset="-120"/>
              </a:rPr>
              <a:t>Protegí al equipo del contacto directo con stakeholders urgentes. </a:t>
            </a:r>
            <a:r>
              <a:rPr lang="en-US" sz="1093" dirty="0">
                <a:solidFill>
                  <a:srgbClr val="E2E8F0"/>
                </a:solidFill>
                <a:latin typeface="Calibri" pitchFamily="34" charset="0"/>
                <a:ea typeface="Calibri" pitchFamily="34" charset="-122"/>
                <a:cs typeface="Calibri" pitchFamily="34" charset="-120"/>
              </a:rPr>
              <a:t>Establecí que toda solicitud de nuevos requerimientos pasa por el PO, no llega directamente al equipo. Esto no es burocracia: es protección del foco del equipo y garantía de que los cambios pasan por el proceso de priorización. Autofeedback: el PO es el escudo del equipo ante la urgencia de los stakeholders. Ese rol se ejerce activamente, no se delega.</a:t>
            </a:r>
            <a:endParaRPr lang="en-US" sz="1093" dirty="0"/>
          </a:p>
        </p:txBody>
      </p:sp>
      <p:sp>
        <p:nvSpPr>
          <p:cNvPr id="15" name="Shape 13"/>
          <p:cNvSpPr/>
          <p:nvPr/>
        </p:nvSpPr>
        <p:spPr>
          <a:xfrm>
            <a:off x="6169152" y="1133856"/>
            <a:ext cx="5754624" cy="5382768"/>
          </a:xfrm>
          <a:prstGeom prst="rect">
            <a:avLst/>
          </a:prstGeom>
          <a:solidFill>
            <a:srgbClr val="091428"/>
          </a:solidFill>
          <a:ln w="12700">
            <a:solidFill>
              <a:srgbClr val="34D399"/>
            </a:solidFill>
            <a:prstDash val="solid"/>
          </a:ln>
        </p:spPr>
      </p:sp>
      <p:sp>
        <p:nvSpPr>
          <p:cNvPr id="16" name="Shape 14"/>
          <p:cNvSpPr/>
          <p:nvPr/>
        </p:nvSpPr>
        <p:spPr>
          <a:xfrm>
            <a:off x="6169152" y="1133856"/>
            <a:ext cx="5754624" cy="36576"/>
          </a:xfrm>
          <a:prstGeom prst="rect">
            <a:avLst/>
          </a:prstGeom>
          <a:solidFill>
            <a:srgbClr val="34D399"/>
          </a:solidFill>
          <a:ln w="12700">
            <a:solidFill>
              <a:srgbClr val="34D399"/>
            </a:solidFill>
            <a:prstDash val="solid"/>
          </a:ln>
        </p:spPr>
      </p:sp>
      <p:sp>
        <p:nvSpPr>
          <p:cNvPr id="17" name="Text 15"/>
          <p:cNvSpPr/>
          <p:nvPr/>
        </p:nvSpPr>
        <p:spPr>
          <a:xfrm>
            <a:off x="6339840" y="1219200"/>
            <a:ext cx="5449824" cy="268224"/>
          </a:xfrm>
          <a:prstGeom prst="rect">
            <a:avLst/>
          </a:prstGeom>
          <a:noFill/>
          <a:ln/>
        </p:spPr>
        <p:txBody>
          <a:bodyPr wrap="square" lIns="0" tIns="0" rIns="0" bIns="0" rtlCol="0" anchor="ctr"/>
          <a:lstStyle/>
          <a:p>
            <a:r>
              <a:rPr lang="en-US" sz="1000" b="1" kern="0" spc="160" dirty="0">
                <a:solidFill>
                  <a:srgbClr val="34D399"/>
                </a:solidFill>
                <a:latin typeface="Calibri" pitchFamily="34" charset="0"/>
                <a:ea typeface="Calibri" pitchFamily="34" charset="-122"/>
                <a:cs typeface="Calibri" pitchFamily="34" charset="-120"/>
              </a:rPr>
              <a:t>PUNTOS CLAVE A RECORDAR</a:t>
            </a:r>
            <a:endParaRPr lang="en-US" sz="1000" dirty="0"/>
          </a:p>
        </p:txBody>
      </p:sp>
      <p:sp>
        <p:nvSpPr>
          <p:cNvPr id="18" name="Text 16"/>
          <p:cNvSpPr/>
          <p:nvPr/>
        </p:nvSpPr>
        <p:spPr>
          <a:xfrm>
            <a:off x="6339840" y="1536192"/>
            <a:ext cx="5449824" cy="4895088"/>
          </a:xfrm>
          <a:prstGeom prst="rect">
            <a:avLst/>
          </a:prstGeom>
          <a:noFill/>
          <a:ln/>
        </p:spPr>
        <p:txBody>
          <a:bodyPr wrap="square" lIns="0" tIns="0" rIns="0" bIns="0" rtlCol="0" anchor="t"/>
          <a:lstStyle/>
          <a:p>
            <a:pPr>
              <a:lnSpc>
                <a:spcPct val="128000"/>
              </a:lnSpc>
            </a:pPr>
            <a:r>
              <a:rPr lang="en-US" sz="1200" b="1" dirty="0">
                <a:solidFill>
                  <a:srgbClr val="34D399"/>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Patrón detectado: </a:t>
            </a:r>
            <a:r>
              <a:rPr lang="en-US" sz="1093" dirty="0">
                <a:solidFill>
                  <a:srgbClr val="E2E8F0"/>
                </a:solidFill>
                <a:latin typeface="Calibri" pitchFamily="34" charset="0"/>
                <a:ea typeface="Calibri" pitchFamily="34" charset="-122"/>
                <a:cs typeface="Calibri" pitchFamily="34" charset="-120"/>
              </a:rPr>
              <a:t>Cuando un stakeholder va directo al equipo, hay un problema de gestión de expectativas o de visibilidad del roadmap. Publicar el roadmap y comunicar el proceso de solicitudes evita esto.
</a:t>
            </a:r>
            <a:r>
              <a:rPr lang="en-US" sz="1200" b="1" dirty="0">
                <a:solidFill>
                  <a:srgbClr val="34D399"/>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Técnica que funcionó: </a:t>
            </a:r>
            <a:r>
              <a:rPr lang="en-US" sz="1093" dirty="0">
                <a:solidFill>
                  <a:srgbClr val="E2E8F0"/>
                </a:solidFill>
                <a:latin typeface="Calibri" pitchFamily="34" charset="0"/>
                <a:ea typeface="Calibri" pitchFamily="34" charset="-122"/>
                <a:cs typeface="Calibri" pitchFamily="34" charset="-120"/>
              </a:rPr>
              <a:t>Investigar el objetivo real detrás del pedido. 'Lo que piden' vs 'lo que necesitan' son cosas distintas. El PO vive en esa brecha.
</a:t>
            </a:r>
            <a:r>
              <a:rPr lang="en-US" sz="1200" b="1" dirty="0">
                <a:solidFill>
                  <a:srgbClr val="34D399"/>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Herramienta de negociación: </a:t>
            </a:r>
            <a:r>
              <a:rPr lang="en-US" sz="1093" dirty="0">
                <a:solidFill>
                  <a:srgbClr val="E2E8F0"/>
                </a:solidFill>
                <a:latin typeface="Calibri" pitchFamily="34" charset="0"/>
                <a:ea typeface="Calibri" pitchFamily="34" charset="-122"/>
                <a:cs typeface="Calibri" pitchFamily="34" charset="-120"/>
              </a:rPr>
              <a:t>Acuerdo escrito PO-Stakeholder con alcance, lo que entra, lo que sale y la compensación. Sin esto, todo acuerdo verbal es reinterpretable.
</a:t>
            </a:r>
            <a:r>
              <a:rPr lang="en-US" sz="1200" b="1" dirty="0">
                <a:solidFill>
                  <a:srgbClr val="34D399"/>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Error a no repetir: </a:t>
            </a:r>
            <a:r>
              <a:rPr lang="en-US" sz="1093" dirty="0">
                <a:solidFill>
                  <a:srgbClr val="E2E8F0"/>
                </a:solidFill>
                <a:latin typeface="Calibri" pitchFamily="34" charset="0"/>
                <a:ea typeface="Calibri" pitchFamily="34" charset="-122"/>
                <a:cs typeface="Calibri" pitchFamily="34" charset="-120"/>
              </a:rPr>
              <a:t>Dejar que los stakeholders accedan directamente al equipo sin filtro del PO. Cada contacto directo es una potencial desviación del sprint en curso.
</a:t>
            </a:r>
            <a:r>
              <a:rPr lang="en-US" sz="1200" b="1" dirty="0">
                <a:solidFill>
                  <a:srgbClr val="34D399"/>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Aprendizaje de influencia: </a:t>
            </a:r>
            <a:r>
              <a:rPr lang="en-US" sz="1093" dirty="0">
                <a:solidFill>
                  <a:srgbClr val="E2E8F0"/>
                </a:solidFill>
                <a:latin typeface="Calibri" pitchFamily="34" charset="0"/>
                <a:ea typeface="Calibri" pitchFamily="34" charset="-122"/>
                <a:cs typeface="Calibri" pitchFamily="34" charset="-120"/>
              </a:rPr>
              <a:t>El PO convence con datos y alternativas, no con autoridad. 'Esta solución te da lo mismo en la mitad del tiempo' es más poderoso que 'eso no entra en el sprint'.</a:t>
            </a:r>
            <a:endParaRPr lang="en-US" sz="1200" dirty="0"/>
          </a:p>
        </p:txBody>
      </p:sp>
      <p:sp>
        <p:nvSpPr>
          <p:cNvPr id="19" name="Shape 17"/>
          <p:cNvSpPr/>
          <p:nvPr/>
        </p:nvSpPr>
        <p:spPr>
          <a:xfrm>
            <a:off x="0" y="6699504"/>
            <a:ext cx="12192000" cy="158496"/>
          </a:xfrm>
          <a:prstGeom prst="rect">
            <a:avLst/>
          </a:prstGeom>
          <a:solidFill>
            <a:srgbClr val="1246B3"/>
          </a:solidFill>
          <a:ln w="12700">
            <a:solidFill>
              <a:srgbClr val="1246B3"/>
            </a:solidFill>
            <a:prstDash val="solid"/>
          </a:ln>
        </p:spPr>
      </p:sp>
      <p:sp>
        <p:nvSpPr>
          <p:cNvPr id="20" name="Text 18"/>
          <p:cNvSpPr/>
          <p:nvPr/>
        </p:nvSpPr>
        <p:spPr>
          <a:xfrm>
            <a:off x="243840" y="6565392"/>
            <a:ext cx="11704320" cy="158496"/>
          </a:xfrm>
          <a:prstGeom prst="rect">
            <a:avLst/>
          </a:prstGeom>
          <a:noFill/>
          <a:ln/>
        </p:spPr>
        <p:txBody>
          <a:bodyPr wrap="square" lIns="0" tIns="0" rIns="0" bIns="0" rtlCol="0" anchor="ctr"/>
          <a:lstStyle/>
          <a:p>
            <a:r>
              <a:rPr lang="en-US" sz="800" i="1" dirty="0">
                <a:solidFill>
                  <a:srgbClr val="475569"/>
                </a:solidFill>
                <a:latin typeface="Calibri" pitchFamily="34" charset="0"/>
                <a:ea typeface="Calibri" pitchFamily="34" charset="-122"/>
                <a:cs typeface="Calibri" pitchFamily="34" charset="-120"/>
              </a:rPr>
              <a:t>Gabriel Sandoval G.  ·  Product Owner  ·  ABP Módulo 5  ·  Rediseño Flujo Viáticos  ·  Caso 7 – Stakeholder con Urgencia Externa  ·  Registro de Autofeedback</a:t>
            </a:r>
            <a:endParaRPr lang="en-US" sz="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17">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3 – CASO 7</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Stakeholders mete urgencia sí o sí</a:t>
            </a:r>
            <a:endParaRPr lang="en-US" sz="2100" dirty="0"/>
          </a:p>
        </p:txBody>
      </p:sp>
      <p:sp>
        <p:nvSpPr>
          <p:cNvPr id="7" name="Text 5"/>
          <p:cNvSpPr/>
          <p:nvPr/>
        </p:nvSpPr>
        <p:spPr>
          <a:xfrm>
            <a:off x="2331720" y="534271"/>
            <a:ext cx="8961120" cy="256032"/>
          </a:xfrm>
          <a:prstGeom prst="rect">
            <a:avLst/>
          </a:prstGeom>
          <a:noFill/>
          <a:ln/>
        </p:spPr>
        <p:txBody>
          <a:bodyPr wrap="square" lIns="0" tIns="0" rIns="0" bIns="0" rtlCol="0" anchor="ctr"/>
          <a:lstStyle/>
          <a:p>
            <a:pPr marL="0" indent="0" algn="l">
              <a:buNone/>
            </a:pPr>
            <a:r>
              <a:rPr lang="en-US" sz="1400" i="1" dirty="0">
                <a:solidFill>
                  <a:srgbClr val="38BDF8"/>
                </a:solidFill>
                <a:latin typeface="Calibri" pitchFamily="34" charset="0"/>
                <a:ea typeface="Calibri" pitchFamily="34" charset="-122"/>
                <a:cs typeface="Calibri" pitchFamily="34" charset="-120"/>
              </a:rPr>
              <a:t>Refinamiento del Backlog</a:t>
            </a:r>
            <a:endParaRPr lang="en-US" sz="1400" dirty="0"/>
          </a:p>
        </p:txBody>
      </p:sp>
      <p:sp>
        <p:nvSpPr>
          <p:cNvPr id="8" name="Shape 6"/>
          <p:cNvSpPr/>
          <p:nvPr/>
        </p:nvSpPr>
        <p:spPr>
          <a:xfrm>
            <a:off x="82296" y="927463"/>
            <a:ext cx="12106656" cy="27432"/>
          </a:xfrm>
          <a:prstGeom prst="rect">
            <a:avLst/>
          </a:prstGeom>
          <a:solidFill>
            <a:srgbClr val="38BDF8"/>
          </a:solidFill>
          <a:ln w="12700">
            <a:solidFill>
              <a:srgbClr val="38BDF8"/>
            </a:solidFill>
            <a:prstDash val="solid"/>
          </a:ln>
        </p:spPr>
      </p:sp>
      <p:sp>
        <p:nvSpPr>
          <p:cNvPr id="9" name="Shape 7"/>
          <p:cNvSpPr/>
          <p:nvPr/>
        </p:nvSpPr>
        <p:spPr>
          <a:xfrm>
            <a:off x="0" y="6733903"/>
            <a:ext cx="12188952" cy="137160"/>
          </a:xfrm>
          <a:prstGeom prst="rect">
            <a:avLst/>
          </a:prstGeom>
          <a:solidFill>
            <a:srgbClr val="1246B3"/>
          </a:solidFill>
          <a:ln w="12700">
            <a:solidFill>
              <a:srgbClr val="1246B3"/>
            </a:solidFill>
            <a:prstDash val="solid"/>
          </a:ln>
        </p:spPr>
      </p:sp>
      <p:sp>
        <p:nvSpPr>
          <p:cNvPr id="10" name="Text 8"/>
          <p:cNvSpPr/>
          <p:nvPr/>
        </p:nvSpPr>
        <p:spPr>
          <a:xfrm>
            <a:off x="182880" y="6624175"/>
            <a:ext cx="11823192" cy="128016"/>
          </a:xfrm>
          <a:prstGeom prst="rect">
            <a:avLst/>
          </a:prstGeom>
          <a:noFill/>
          <a:ln/>
        </p:spPr>
        <p:txBody>
          <a:bodyPr wrap="square" lIns="0" tIns="0" rIns="0" bIns="0" rtlCol="0" anchor="ctr"/>
          <a:lstStyle/>
          <a:p>
            <a:pPr marL="0" indent="0" algn="l">
              <a:buNone/>
            </a:pPr>
            <a:r>
              <a:rPr lang="en-US" sz="14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1400" dirty="0"/>
          </a:p>
        </p:txBody>
      </p:sp>
      <p:sp>
        <p:nvSpPr>
          <p:cNvPr id="11" name="Shape 9"/>
          <p:cNvSpPr/>
          <p:nvPr/>
        </p:nvSpPr>
        <p:spPr>
          <a:xfrm>
            <a:off x="201168" y="1018903"/>
            <a:ext cx="5760720" cy="5559552"/>
          </a:xfrm>
          <a:prstGeom prst="rect">
            <a:avLst/>
          </a:prstGeom>
          <a:solidFill>
            <a:srgbClr val="0D1B3E"/>
          </a:solidFill>
          <a:ln w="12700">
            <a:solidFill>
              <a:srgbClr val="38BDF8"/>
            </a:solidFill>
            <a:prstDash val="solid"/>
          </a:ln>
        </p:spPr>
      </p:sp>
      <p:sp>
        <p:nvSpPr>
          <p:cNvPr id="12" name="Shape 10"/>
          <p:cNvSpPr/>
          <p:nvPr/>
        </p:nvSpPr>
        <p:spPr>
          <a:xfrm>
            <a:off x="201168" y="1018903"/>
            <a:ext cx="5760720" cy="32004"/>
          </a:xfrm>
          <a:prstGeom prst="rect">
            <a:avLst/>
          </a:prstGeom>
          <a:solidFill>
            <a:srgbClr val="38BDF8"/>
          </a:solidFill>
          <a:ln w="12700">
            <a:solidFill>
              <a:srgbClr val="38BDF8"/>
            </a:solidFill>
            <a:prstDash val="solid"/>
          </a:ln>
        </p:spPr>
      </p:sp>
      <p:sp>
        <p:nvSpPr>
          <p:cNvPr id="13" name="Text 11"/>
          <p:cNvSpPr/>
          <p:nvPr/>
        </p:nvSpPr>
        <p:spPr>
          <a:xfrm>
            <a:off x="347472" y="1092055"/>
            <a:ext cx="5486400" cy="237744"/>
          </a:xfrm>
          <a:prstGeom prst="rect">
            <a:avLst/>
          </a:prstGeom>
          <a:noFill/>
          <a:ln/>
        </p:spPr>
        <p:txBody>
          <a:bodyPr wrap="square" lIns="0" tIns="0" rIns="0" bIns="0" rtlCol="0" anchor="ctr"/>
          <a:lstStyle/>
          <a:p>
            <a:pPr marL="0" indent="0">
              <a:buNone/>
            </a:pPr>
            <a:r>
              <a:rPr lang="en-US" sz="1400" b="1" kern="0" spc="120" dirty="0">
                <a:solidFill>
                  <a:srgbClr val="38BDF8"/>
                </a:solidFill>
                <a:latin typeface="Calibri" pitchFamily="34" charset="0"/>
                <a:ea typeface="Calibri" pitchFamily="34" charset="-122"/>
                <a:cs typeface="Calibri" pitchFamily="34" charset="-120"/>
              </a:rPr>
              <a:t>RESOLUCIÓN APLICADA AL PROYECTO</a:t>
            </a:r>
            <a:endParaRPr lang="en-US" sz="1400" dirty="0"/>
          </a:p>
        </p:txBody>
      </p:sp>
      <p:sp>
        <p:nvSpPr>
          <p:cNvPr id="14" name="Text 12"/>
          <p:cNvSpPr/>
          <p:nvPr/>
        </p:nvSpPr>
        <p:spPr>
          <a:xfrm>
            <a:off x="347472" y="1384663"/>
            <a:ext cx="5486400" cy="5029200"/>
          </a:xfrm>
          <a:prstGeom prst="rect">
            <a:avLst/>
          </a:prstGeom>
          <a:noFill/>
          <a:ln/>
        </p:spPr>
        <p:txBody>
          <a:bodyPr wrap="square" lIns="0" tIns="0" rIns="0" bIns="0" rtlCol="0" anchor="t"/>
          <a:lstStyle/>
          <a:p>
            <a:pPr marL="0" indent="0">
              <a:lnSpc>
                <a:spcPct val="128000"/>
              </a:lnSpc>
              <a:buNone/>
            </a:pPr>
            <a:r>
              <a:rPr lang="en-US" sz="1400" b="1" dirty="0">
                <a:solidFill>
                  <a:srgbClr val="38BDF8"/>
                </a:solidFill>
                <a:latin typeface="Calibri" pitchFamily="34" charset="0"/>
                <a:ea typeface="Calibri" pitchFamily="34" charset="-122"/>
                <a:cs typeface="Calibri" pitchFamily="34" charset="-120"/>
              </a:rPr>
              <a:t>Resolución: </a:t>
            </a:r>
            <a:r>
              <a:rPr lang="en-US" sz="1400" dirty="0">
                <a:solidFill>
                  <a:srgbClr val="E2E8F0"/>
                </a:solidFill>
                <a:latin typeface="Calibri" pitchFamily="34" charset="0"/>
                <a:ea typeface="Calibri" pitchFamily="34" charset="-122"/>
                <a:cs typeface="Calibri" pitchFamily="34" charset="-120"/>
              </a:rPr>
              <a:t> Gerencia Auditoría exige reporte PDF firmado digitalmente de aprobaciones manuales en 2 semanas. No estaba en el alcance ni en el backlog.
</a:t>
            </a:r>
            <a:r>
              <a:rPr lang="en-US" sz="1400" b="1" dirty="0">
                <a:solidFill>
                  <a:srgbClr val="38BDF8"/>
                </a:solidFill>
                <a:latin typeface="Calibri" pitchFamily="34" charset="0"/>
                <a:ea typeface="Calibri" pitchFamily="34" charset="-122"/>
                <a:cs typeface="Calibri" pitchFamily="34" charset="-120"/>
              </a:rPr>
              <a:t>Objetivo real clarificado: </a:t>
            </a:r>
            <a:r>
              <a:rPr lang="en-US" sz="1400" dirty="0">
                <a:solidFill>
                  <a:srgbClr val="E2E8F0"/>
                </a:solidFill>
                <a:latin typeface="Calibri" pitchFamily="34" charset="0"/>
                <a:ea typeface="Calibri" pitchFamily="34" charset="-122"/>
                <a:cs typeface="Calibri" pitchFamily="34" charset="-120"/>
              </a:rPr>
              <a:t> El directorio necesita evidencia de trazabilidad y control, no un PDF. Mínimo viable: dashboard en tiempo real con log de excepciones (usuario, monto, fecha, decisión, aprobador) exportable a Excel en Sprint 5.
</a:t>
            </a:r>
            <a:r>
              <a:rPr lang="en-US" sz="1400" b="1" dirty="0">
                <a:solidFill>
                  <a:srgbClr val="38BDF8"/>
                </a:solidFill>
                <a:latin typeface="Calibri" pitchFamily="34" charset="0"/>
                <a:ea typeface="Calibri" pitchFamily="34" charset="-122"/>
                <a:cs typeface="Calibri" pitchFamily="34" charset="-120"/>
              </a:rPr>
              <a:t>Compensación explícita: </a:t>
            </a:r>
            <a:r>
              <a:rPr lang="en-US" sz="1400" dirty="0">
                <a:solidFill>
                  <a:srgbClr val="E2E8F0"/>
                </a:solidFill>
                <a:latin typeface="Calibri" pitchFamily="34" charset="0"/>
                <a:ea typeface="Calibri" pitchFamily="34" charset="-122"/>
                <a:cs typeface="Calibri" pitchFamily="34" charset="-120"/>
              </a:rPr>
              <a:t> Dashboard de excepciones entra Sprint 5 como prioridad 1. HU20 (escalabilidad) se mueve a Sprint 6. Reporte PDF se agenda como feature Release 1.1. Comunicación formal a Auditoría y Sponsor.</a:t>
            </a:r>
            <a:endParaRPr lang="en-US" sz="1400" dirty="0"/>
          </a:p>
        </p:txBody>
      </p:sp>
      <p:sp>
        <p:nvSpPr>
          <p:cNvPr id="15" name="Shape 13"/>
          <p:cNvSpPr/>
          <p:nvPr/>
        </p:nvSpPr>
        <p:spPr>
          <a:xfrm>
            <a:off x="6144768" y="1018903"/>
            <a:ext cx="5852160" cy="5559552"/>
          </a:xfrm>
          <a:prstGeom prst="rect">
            <a:avLst/>
          </a:prstGeom>
          <a:solidFill>
            <a:srgbClr val="091428"/>
          </a:solidFill>
          <a:ln w="12700">
            <a:solidFill>
              <a:srgbClr val="FBBF24"/>
            </a:solidFill>
            <a:prstDash val="solid"/>
          </a:ln>
        </p:spPr>
        <p:txBody>
          <a:bodyPr/>
          <a:lstStyle/>
          <a:p>
            <a:endParaRPr lang="es-ES_tradnl" sz="1400" dirty="0"/>
          </a:p>
        </p:txBody>
      </p:sp>
      <p:sp>
        <p:nvSpPr>
          <p:cNvPr id="16" name="Shape 14"/>
          <p:cNvSpPr/>
          <p:nvPr/>
        </p:nvSpPr>
        <p:spPr>
          <a:xfrm>
            <a:off x="6144768" y="1018903"/>
            <a:ext cx="5852160" cy="32004"/>
          </a:xfrm>
          <a:prstGeom prst="rect">
            <a:avLst/>
          </a:prstGeom>
          <a:solidFill>
            <a:srgbClr val="FBBF24"/>
          </a:solidFill>
          <a:ln w="12700">
            <a:solidFill>
              <a:srgbClr val="FBBF24"/>
            </a:solidFill>
            <a:prstDash val="solid"/>
          </a:ln>
        </p:spPr>
      </p:sp>
      <p:sp>
        <p:nvSpPr>
          <p:cNvPr id="17" name="Text 15"/>
          <p:cNvSpPr/>
          <p:nvPr/>
        </p:nvSpPr>
        <p:spPr>
          <a:xfrm>
            <a:off x="6291072" y="1092055"/>
            <a:ext cx="5623560" cy="237744"/>
          </a:xfrm>
          <a:prstGeom prst="rect">
            <a:avLst/>
          </a:prstGeom>
          <a:noFill/>
          <a:ln/>
        </p:spPr>
        <p:txBody>
          <a:bodyPr wrap="square" lIns="0" tIns="0" rIns="0" bIns="0" rtlCol="0" anchor="ctr"/>
          <a:lstStyle/>
          <a:p>
            <a:pPr marL="0" indent="0">
              <a:buNone/>
            </a:pPr>
            <a:r>
              <a:rPr lang="en-US" sz="1400" b="1" kern="0" spc="120" dirty="0">
                <a:solidFill>
                  <a:srgbClr val="FBBF24"/>
                </a:solidFill>
                <a:latin typeface="Calibri" pitchFamily="34" charset="0"/>
                <a:ea typeface="Calibri" pitchFamily="34" charset="-122"/>
                <a:cs typeface="Calibri" pitchFamily="34" charset="-120"/>
              </a:rPr>
              <a:t>BACKLOG ACTUALIZADO </a:t>
            </a:r>
            <a:endParaRPr lang="en-US" sz="1400" dirty="0"/>
          </a:p>
        </p:txBody>
      </p:sp>
      <p:sp>
        <p:nvSpPr>
          <p:cNvPr id="18" name="Text 16"/>
          <p:cNvSpPr/>
          <p:nvPr/>
        </p:nvSpPr>
        <p:spPr>
          <a:xfrm>
            <a:off x="6291072" y="1384663"/>
            <a:ext cx="5623560" cy="5029200"/>
          </a:xfrm>
          <a:prstGeom prst="rect">
            <a:avLst/>
          </a:prstGeom>
          <a:noFill/>
          <a:ln/>
        </p:spPr>
        <p:txBody>
          <a:bodyPr wrap="square" lIns="0" tIns="0" rIns="0" bIns="0" rtlCol="0" anchor="t"/>
          <a:lstStyle/>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HU22 Dashboard Auditoría: </a:t>
            </a:r>
            <a:r>
              <a:rPr lang="en-US" sz="1400" dirty="0">
                <a:solidFill>
                  <a:srgbClr val="E2E8F0"/>
                </a:solidFill>
                <a:latin typeface="Calibri" pitchFamily="34" charset="0"/>
                <a:ea typeface="Calibri" pitchFamily="34" charset="-122"/>
                <a:cs typeface="Calibri" pitchFamily="34" charset="-120"/>
              </a:rPr>
              <a:t> CREADA (8 SP, Sprint 5, Prioridad 1): log en tiempo real de excepciones exportable a Excel en 1 clic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HU20 – Escalabilidad: </a:t>
            </a:r>
            <a:r>
              <a:rPr lang="en-US" sz="1400" dirty="0">
                <a:solidFill>
                  <a:srgbClr val="E2E8F0"/>
                </a:solidFill>
                <a:latin typeface="Calibri" pitchFamily="34" charset="0"/>
                <a:ea typeface="Calibri" pitchFamily="34" charset="-122"/>
                <a:cs typeface="Calibri" pitchFamily="34" charset="-120"/>
              </a:rPr>
              <a:t> MOVIDA de Sprint 5 a Sprint 6. Justificación en Jira firmada por PO y Sponsor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HU23 Reporte PDF: </a:t>
            </a:r>
            <a:r>
              <a:rPr lang="en-US" sz="1400" dirty="0">
                <a:solidFill>
                  <a:srgbClr val="E2E8F0"/>
                </a:solidFill>
                <a:latin typeface="Calibri" pitchFamily="34" charset="0"/>
                <a:ea typeface="Calibri" pitchFamily="34" charset="-122"/>
                <a:cs typeface="Calibri" pitchFamily="34" charset="-120"/>
              </a:rPr>
              <a:t> BACKLOG estado 'Pendiente': Release 1.1 post go-live. No entra a sprints actuales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Acuerdo documentado: </a:t>
            </a:r>
            <a:r>
              <a:rPr lang="en-US" sz="1400" dirty="0">
                <a:solidFill>
                  <a:srgbClr val="E2E8F0"/>
                </a:solidFill>
                <a:latin typeface="Calibri" pitchFamily="34" charset="0"/>
                <a:ea typeface="Calibri" pitchFamily="34" charset="-122"/>
                <a:cs typeface="Calibri" pitchFamily="34" charset="-120"/>
              </a:rPr>
              <a:t> Artefacto en Jira: Acuerdo Sprint 4-5 con Auditoría Interna firmado por PO + Gerente Auditoría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Sprint 5 Goal actualizado: </a:t>
            </a:r>
            <a:r>
              <a:rPr lang="en-US" sz="1400" dirty="0">
                <a:solidFill>
                  <a:srgbClr val="E2E8F0"/>
                </a:solidFill>
                <a:latin typeface="Calibri" pitchFamily="34" charset="0"/>
                <a:ea typeface="Calibri" pitchFamily="34" charset="-122"/>
                <a:cs typeface="Calibri" pitchFamily="34" charset="-120"/>
              </a:rPr>
              <a:t> 'Gobierno del gasto con trazabilidad de excepciones auditable en tiempo real'. Velocity target: 42 SP</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85344" cy="6858000"/>
          </a:xfrm>
          <a:prstGeom prst="rect">
            <a:avLst/>
          </a:prstGeom>
          <a:solidFill>
            <a:srgbClr val="A78BFA"/>
          </a:solidFill>
          <a:ln w="12700">
            <a:solidFill>
              <a:srgbClr val="A78BFA"/>
            </a:solidFill>
            <a:prstDash val="solid"/>
          </a:ln>
        </p:spPr>
      </p:sp>
      <p:sp>
        <p:nvSpPr>
          <p:cNvPr id="3" name="Shape 1"/>
          <p:cNvSpPr/>
          <p:nvPr/>
        </p:nvSpPr>
        <p:spPr>
          <a:xfrm>
            <a:off x="85344" y="0"/>
            <a:ext cx="12106656" cy="1036320"/>
          </a:xfrm>
          <a:prstGeom prst="rect">
            <a:avLst/>
          </a:prstGeom>
          <a:solidFill>
            <a:srgbClr val="0A1428"/>
          </a:solidFill>
          <a:ln w="12700">
            <a:solidFill>
              <a:srgbClr val="0A1428"/>
            </a:solidFill>
            <a:prstDash val="solid"/>
          </a:ln>
        </p:spPr>
      </p:sp>
      <p:sp>
        <p:nvSpPr>
          <p:cNvPr id="4" name="Shape 2"/>
          <p:cNvSpPr/>
          <p:nvPr/>
        </p:nvSpPr>
        <p:spPr>
          <a:xfrm>
            <a:off x="268224" y="170688"/>
            <a:ext cx="1950720" cy="341376"/>
          </a:xfrm>
          <a:prstGeom prst="rect">
            <a:avLst/>
          </a:prstGeom>
          <a:solidFill>
            <a:srgbClr val="A78BFA"/>
          </a:solidFill>
          <a:ln w="12700">
            <a:solidFill>
              <a:srgbClr val="A78BFA"/>
            </a:solidFill>
            <a:prstDash val="solid"/>
          </a:ln>
        </p:spPr>
      </p:sp>
      <p:sp>
        <p:nvSpPr>
          <p:cNvPr id="5" name="Text 3"/>
          <p:cNvSpPr/>
          <p:nvPr/>
        </p:nvSpPr>
        <p:spPr>
          <a:xfrm>
            <a:off x="268224" y="170688"/>
            <a:ext cx="1950720" cy="341376"/>
          </a:xfrm>
          <a:prstGeom prst="rect">
            <a:avLst/>
          </a:prstGeom>
          <a:noFill/>
          <a:ln/>
        </p:spPr>
        <p:txBody>
          <a:bodyPr wrap="square" lIns="0" tIns="0" rIns="0" bIns="0" rtlCol="0" anchor="ctr"/>
          <a:lstStyle/>
          <a:p>
            <a:pPr algn="ctr"/>
            <a:r>
              <a:rPr lang="en-US" sz="1067" b="1" kern="0" spc="267" dirty="0">
                <a:solidFill>
                  <a:srgbClr val="FFFFFF"/>
                </a:solidFill>
                <a:latin typeface="Calibri" pitchFamily="34" charset="0"/>
                <a:ea typeface="Calibri" pitchFamily="34" charset="-122"/>
                <a:cs typeface="Calibri" pitchFamily="34" charset="-120"/>
              </a:rPr>
              <a:t>CASO 8</a:t>
            </a:r>
            <a:endParaRPr lang="en-US" sz="1067" dirty="0"/>
          </a:p>
        </p:txBody>
      </p:sp>
      <p:sp>
        <p:nvSpPr>
          <p:cNvPr id="8" name="Text 6"/>
          <p:cNvSpPr/>
          <p:nvPr/>
        </p:nvSpPr>
        <p:spPr>
          <a:xfrm>
            <a:off x="4815840" y="121920"/>
            <a:ext cx="7071360" cy="487680"/>
          </a:xfrm>
          <a:prstGeom prst="rect">
            <a:avLst/>
          </a:prstGeom>
          <a:noFill/>
          <a:ln/>
        </p:spPr>
        <p:txBody>
          <a:bodyPr wrap="square" lIns="0" tIns="0" rIns="0" bIns="0" rtlCol="0" anchor="ctr"/>
          <a:lstStyle/>
          <a:p>
            <a:r>
              <a:rPr lang="en-US" sz="2400" b="1" dirty="0">
                <a:solidFill>
                  <a:srgbClr val="FFFFFF"/>
                </a:solidFill>
                <a:latin typeface="Calibri" pitchFamily="34" charset="0"/>
                <a:ea typeface="Calibri" pitchFamily="34" charset="-122"/>
                <a:cs typeface="Calibri" pitchFamily="34" charset="-120"/>
              </a:rPr>
              <a:t>Problemas de Comunicación en el Equipo</a:t>
            </a:r>
            <a:endParaRPr lang="en-US" sz="2400" dirty="0"/>
          </a:p>
        </p:txBody>
      </p:sp>
      <p:sp>
        <p:nvSpPr>
          <p:cNvPr id="9" name="Text 7"/>
          <p:cNvSpPr/>
          <p:nvPr/>
        </p:nvSpPr>
        <p:spPr>
          <a:xfrm>
            <a:off x="268224" y="633984"/>
            <a:ext cx="11655552" cy="292608"/>
          </a:xfrm>
          <a:prstGeom prst="rect">
            <a:avLst/>
          </a:prstGeom>
          <a:noFill/>
          <a:ln/>
        </p:spPr>
        <p:txBody>
          <a:bodyPr wrap="square" lIns="0" tIns="0" rIns="0" bIns="0" rtlCol="0" anchor="ctr"/>
          <a:lstStyle/>
          <a:p>
            <a:r>
              <a:rPr lang="en-US" sz="1133" i="1" dirty="0">
                <a:solidFill>
                  <a:srgbClr val="38BDF8"/>
                </a:solidFill>
                <a:latin typeface="Calibri" pitchFamily="34" charset="0"/>
                <a:ea typeface="Calibri" pitchFamily="34" charset="-122"/>
                <a:cs typeface="Calibri" pitchFamily="34" charset="-120"/>
              </a:rPr>
              <a:t>HU5 entregada 3 veces en 2 sprints por interpretaciones distintas de PO, Dev y QA</a:t>
            </a:r>
            <a:endParaRPr lang="en-US" sz="1133" dirty="0"/>
          </a:p>
        </p:txBody>
      </p:sp>
      <p:sp>
        <p:nvSpPr>
          <p:cNvPr id="10" name="Shape 8"/>
          <p:cNvSpPr/>
          <p:nvPr/>
        </p:nvSpPr>
        <p:spPr>
          <a:xfrm>
            <a:off x="85344" y="1036321"/>
            <a:ext cx="12106656" cy="26823"/>
          </a:xfrm>
          <a:prstGeom prst="rect">
            <a:avLst/>
          </a:prstGeom>
          <a:solidFill>
            <a:srgbClr val="A78BFA"/>
          </a:solidFill>
          <a:ln w="12700">
            <a:solidFill>
              <a:srgbClr val="A78BFA"/>
            </a:solidFill>
            <a:prstDash val="solid"/>
          </a:ln>
        </p:spPr>
      </p:sp>
      <p:sp>
        <p:nvSpPr>
          <p:cNvPr id="11" name="Shape 9"/>
          <p:cNvSpPr/>
          <p:nvPr/>
        </p:nvSpPr>
        <p:spPr>
          <a:xfrm>
            <a:off x="268224" y="1133856"/>
            <a:ext cx="5754624" cy="5382768"/>
          </a:xfrm>
          <a:prstGeom prst="rect">
            <a:avLst/>
          </a:prstGeom>
          <a:solidFill>
            <a:srgbClr val="0B1A3A"/>
          </a:solidFill>
          <a:ln w="12700">
            <a:solidFill>
              <a:srgbClr val="A78BFA"/>
            </a:solidFill>
            <a:prstDash val="solid"/>
          </a:ln>
        </p:spPr>
      </p:sp>
      <p:sp>
        <p:nvSpPr>
          <p:cNvPr id="12" name="Shape 10"/>
          <p:cNvSpPr/>
          <p:nvPr/>
        </p:nvSpPr>
        <p:spPr>
          <a:xfrm>
            <a:off x="268224" y="1133856"/>
            <a:ext cx="5754624" cy="36576"/>
          </a:xfrm>
          <a:prstGeom prst="rect">
            <a:avLst/>
          </a:prstGeom>
          <a:solidFill>
            <a:srgbClr val="A78BFA"/>
          </a:solidFill>
          <a:ln w="12700">
            <a:solidFill>
              <a:srgbClr val="A78BFA"/>
            </a:solidFill>
            <a:prstDash val="solid"/>
          </a:ln>
        </p:spPr>
      </p:sp>
      <p:sp>
        <p:nvSpPr>
          <p:cNvPr id="13" name="Text 11"/>
          <p:cNvSpPr/>
          <p:nvPr/>
        </p:nvSpPr>
        <p:spPr>
          <a:xfrm>
            <a:off x="438912" y="1219200"/>
            <a:ext cx="5449824" cy="268224"/>
          </a:xfrm>
          <a:prstGeom prst="rect">
            <a:avLst/>
          </a:prstGeom>
          <a:noFill/>
          <a:ln/>
        </p:spPr>
        <p:txBody>
          <a:bodyPr wrap="square" lIns="0" tIns="0" rIns="0" bIns="0" rtlCol="0" anchor="ctr"/>
          <a:lstStyle/>
          <a:p>
            <a:r>
              <a:rPr lang="en-US" sz="1000" b="1" kern="0" spc="160" dirty="0">
                <a:solidFill>
                  <a:srgbClr val="A78BFA"/>
                </a:solidFill>
                <a:latin typeface="Calibri" pitchFamily="34" charset="0"/>
                <a:ea typeface="Calibri" pitchFamily="34" charset="-122"/>
                <a:cs typeface="Calibri" pitchFamily="34" charset="-120"/>
              </a:rPr>
              <a:t>DECISIONES Y RAZONAMIENTO</a:t>
            </a:r>
            <a:endParaRPr lang="en-US" sz="1000" dirty="0"/>
          </a:p>
        </p:txBody>
      </p:sp>
      <p:sp>
        <p:nvSpPr>
          <p:cNvPr id="14" name="Text 12"/>
          <p:cNvSpPr/>
          <p:nvPr/>
        </p:nvSpPr>
        <p:spPr>
          <a:xfrm>
            <a:off x="438912" y="1536192"/>
            <a:ext cx="5449824" cy="4895088"/>
          </a:xfrm>
          <a:prstGeom prst="rect">
            <a:avLst/>
          </a:prstGeom>
          <a:noFill/>
          <a:ln/>
        </p:spPr>
        <p:txBody>
          <a:bodyPr wrap="square" lIns="0" tIns="0" rIns="0" bIns="0" rtlCol="0" anchor="t"/>
          <a:lstStyle/>
          <a:p>
            <a:pPr>
              <a:lnSpc>
                <a:spcPct val="128000"/>
              </a:lnSpc>
            </a:pPr>
            <a:r>
              <a:rPr lang="en-US" sz="1093" b="1" dirty="0">
                <a:solidFill>
                  <a:srgbClr val="A78BFA"/>
                </a:solidFill>
                <a:latin typeface="Calibri" pitchFamily="34" charset="0"/>
                <a:ea typeface="Calibri" pitchFamily="34" charset="-122"/>
                <a:cs typeface="Calibri" pitchFamily="34" charset="-120"/>
              </a:rPr>
              <a:t>Reconocí que el problema era de lenguaje compartido, no de competencia. </a:t>
            </a:r>
            <a:r>
              <a:rPr lang="en-US" sz="1093" dirty="0">
                <a:solidFill>
                  <a:srgbClr val="E2E8F0"/>
                </a:solidFill>
                <a:latin typeface="Calibri" pitchFamily="34" charset="0"/>
                <a:ea typeface="Calibri" pitchFamily="34" charset="-122"/>
                <a:cs typeface="Calibri" pitchFamily="34" charset="-120"/>
              </a:rPr>
              <a:t>HU5 fue entregada 3 veces porque PO, Dev y QA tenían modelos mentales distintos del mismo criterio. 'El sistema debe notificar al aprobador' significaba notificación push para el PO, email para Dev, y SMS para QA. Ninguno estaba equivocado según lo escrito. El problema era que lo escrito no era lo suficientemente específico. Autofeedback: la ambigüedad en los criterios es responsabilidad del PO.
</a:t>
            </a:r>
            <a:r>
              <a:rPr lang="en-US" sz="1093" b="1" dirty="0">
                <a:solidFill>
                  <a:srgbClr val="A78BFA"/>
                </a:solidFill>
                <a:latin typeface="Calibri" pitchFamily="34" charset="0"/>
                <a:ea typeface="Calibri" pitchFamily="34" charset="-122"/>
                <a:cs typeface="Calibri" pitchFamily="34" charset="-120"/>
              </a:rPr>
              <a:t>Implementé un formato que elimina la ambigüedad por diseño. </a:t>
            </a:r>
            <a:r>
              <a:rPr lang="en-US" sz="1093" dirty="0">
                <a:solidFill>
                  <a:srgbClr val="E2E8F0"/>
                </a:solidFill>
                <a:latin typeface="Calibri" pitchFamily="34" charset="0"/>
                <a:ea typeface="Calibri" pitchFamily="34" charset="-122"/>
                <a:cs typeface="Calibri" pitchFamily="34" charset="-120"/>
              </a:rPr>
              <a:t>Dado/Cuando/Entonces obliga a especificar el contexto (Dado), la acción (Cuando) y el resultado exacto (Entonces), incluyendo el canal, el medio, el tiempo y el actor. Desde que se implementó, los criterios dejaron de ser interpretables. Lección: un buen formato de criterio hace casi imposible que tres personas entiendan cosas distintas.
</a:t>
            </a:r>
            <a:r>
              <a:rPr lang="en-US" sz="1093" b="1" dirty="0">
                <a:solidFill>
                  <a:srgbClr val="A78BFA"/>
                </a:solidFill>
                <a:latin typeface="Calibri" pitchFamily="34" charset="0"/>
                <a:ea typeface="Calibri" pitchFamily="34" charset="-122"/>
                <a:cs typeface="Calibri" pitchFamily="34" charset="-120"/>
              </a:rPr>
              <a:t>Convertí el refinamiento en un ejercicio de los 3 roles, no un monólogo del PO. </a:t>
            </a:r>
            <a:r>
              <a:rPr lang="en-US" sz="1093" dirty="0">
                <a:solidFill>
                  <a:srgbClr val="E2E8F0"/>
                </a:solidFill>
                <a:latin typeface="Calibri" pitchFamily="34" charset="0"/>
                <a:ea typeface="Calibri" pitchFamily="34" charset="-122"/>
                <a:cs typeface="Calibri" pitchFamily="34" charset="-120"/>
              </a:rPr>
              <a:t>El nuevo protocolo de refinamiento asigna roles activos: PO escribe la intención, Dev escribe las preguntas técnicas, QA escribe los escenarios de prueba. Los 3 validan y firman antes de cerrar. Esto distribuyó la responsabilidad de la claridad y convirtió el refinamiento en un espacio de detección temprana de ambigüedad, no de exposición tardía.
</a:t>
            </a:r>
            <a:r>
              <a:rPr lang="en-US" sz="1093" b="1" dirty="0">
                <a:solidFill>
                  <a:srgbClr val="A78BFA"/>
                </a:solidFill>
                <a:latin typeface="Calibri" pitchFamily="34" charset="0"/>
                <a:ea typeface="Calibri" pitchFamily="34" charset="-122"/>
                <a:cs typeface="Calibri" pitchFamily="34" charset="-120"/>
              </a:rPr>
              <a:t>Institucionalicé la pregunta incómoda en el daily. </a:t>
            </a:r>
            <a:r>
              <a:rPr lang="en-US" sz="1093" dirty="0">
                <a:solidFill>
                  <a:srgbClr val="E2E8F0"/>
                </a:solidFill>
                <a:latin typeface="Calibri" pitchFamily="34" charset="0"/>
                <a:ea typeface="Calibri" pitchFamily="34" charset="-122"/>
                <a:cs typeface="Calibri" pitchFamily="34" charset="-120"/>
              </a:rPr>
              <a:t>Agregamos al Daily Scrum la pregunta: '¿Hay algo que no entendemos igual?' Al principio nadie la respondía. Después de 2 días se empezaron a detectar micro-ambigüedades antes de que se convirtieran en retrabajo. Autofeedback: crear un espacio seguro para expresar confusión es más valioso que tener un equipo que asiente sin entender.</a:t>
            </a:r>
            <a:endParaRPr lang="en-US" sz="1093" dirty="0"/>
          </a:p>
        </p:txBody>
      </p:sp>
      <p:sp>
        <p:nvSpPr>
          <p:cNvPr id="15" name="Shape 13"/>
          <p:cNvSpPr/>
          <p:nvPr/>
        </p:nvSpPr>
        <p:spPr>
          <a:xfrm>
            <a:off x="6169152" y="1133856"/>
            <a:ext cx="5754624" cy="5382768"/>
          </a:xfrm>
          <a:prstGeom prst="rect">
            <a:avLst/>
          </a:prstGeom>
          <a:solidFill>
            <a:srgbClr val="091428"/>
          </a:solidFill>
          <a:ln w="12700">
            <a:solidFill>
              <a:srgbClr val="38BDF8"/>
            </a:solidFill>
            <a:prstDash val="solid"/>
          </a:ln>
        </p:spPr>
      </p:sp>
      <p:sp>
        <p:nvSpPr>
          <p:cNvPr id="16" name="Shape 14"/>
          <p:cNvSpPr/>
          <p:nvPr/>
        </p:nvSpPr>
        <p:spPr>
          <a:xfrm>
            <a:off x="6169152" y="1133856"/>
            <a:ext cx="5754624" cy="36576"/>
          </a:xfrm>
          <a:prstGeom prst="rect">
            <a:avLst/>
          </a:prstGeom>
          <a:solidFill>
            <a:srgbClr val="38BDF8"/>
          </a:solidFill>
          <a:ln w="12700">
            <a:solidFill>
              <a:srgbClr val="38BDF8"/>
            </a:solidFill>
            <a:prstDash val="solid"/>
          </a:ln>
        </p:spPr>
      </p:sp>
      <p:sp>
        <p:nvSpPr>
          <p:cNvPr id="17" name="Text 15"/>
          <p:cNvSpPr/>
          <p:nvPr/>
        </p:nvSpPr>
        <p:spPr>
          <a:xfrm>
            <a:off x="6339840" y="1219200"/>
            <a:ext cx="5449824" cy="268224"/>
          </a:xfrm>
          <a:prstGeom prst="rect">
            <a:avLst/>
          </a:prstGeom>
          <a:noFill/>
          <a:ln/>
        </p:spPr>
        <p:txBody>
          <a:bodyPr wrap="square" lIns="0" tIns="0" rIns="0" bIns="0" rtlCol="0" anchor="ctr"/>
          <a:lstStyle/>
          <a:p>
            <a:r>
              <a:rPr lang="en-US" sz="1000" b="1" kern="0" spc="160" dirty="0">
                <a:solidFill>
                  <a:srgbClr val="38BDF8"/>
                </a:solidFill>
                <a:latin typeface="Calibri" pitchFamily="34" charset="0"/>
                <a:ea typeface="Calibri" pitchFamily="34" charset="-122"/>
                <a:cs typeface="Calibri" pitchFamily="34" charset="-120"/>
              </a:rPr>
              <a:t>PUNTOS CLAVE A RECORDAR</a:t>
            </a:r>
            <a:endParaRPr lang="en-US" sz="1000" dirty="0"/>
          </a:p>
        </p:txBody>
      </p:sp>
      <p:sp>
        <p:nvSpPr>
          <p:cNvPr id="18" name="Text 16"/>
          <p:cNvSpPr/>
          <p:nvPr/>
        </p:nvSpPr>
        <p:spPr>
          <a:xfrm>
            <a:off x="6339840" y="1536192"/>
            <a:ext cx="5449824" cy="4895088"/>
          </a:xfrm>
          <a:prstGeom prst="rect">
            <a:avLst/>
          </a:prstGeom>
          <a:noFill/>
          <a:ln/>
        </p:spPr>
        <p:txBody>
          <a:bodyPr wrap="square" lIns="0" tIns="0" rIns="0" bIns="0" rtlCol="0" anchor="t"/>
          <a:lstStyle/>
          <a:p>
            <a:pPr>
              <a:lnSpc>
                <a:spcPct val="128000"/>
              </a:lnSpc>
            </a:pP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Causa raíz: </a:t>
            </a:r>
            <a:r>
              <a:rPr lang="en-US" sz="1093" dirty="0">
                <a:solidFill>
                  <a:srgbClr val="E2E8F0"/>
                </a:solidFill>
                <a:latin typeface="Calibri" pitchFamily="34" charset="0"/>
                <a:ea typeface="Calibri" pitchFamily="34" charset="-122"/>
                <a:cs typeface="Calibri" pitchFamily="34" charset="-120"/>
              </a:rPr>
              <a:t>Los criterios de aceptación en lenguaje natural son inherentemente ambiguos. El formato Dado/Cuando/Entonces es la solución probada. No es opcional si el equipo tiene más de 2 personas.
</a:t>
            </a: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Señal de alerta: </a:t>
            </a:r>
            <a:r>
              <a:rPr lang="en-US" sz="1093" dirty="0">
                <a:solidFill>
                  <a:srgbClr val="E2E8F0"/>
                </a:solidFill>
                <a:latin typeface="Calibri" pitchFamily="34" charset="0"/>
                <a:ea typeface="Calibri" pitchFamily="34" charset="-122"/>
                <a:cs typeface="Calibri" pitchFamily="34" charset="-120"/>
              </a:rPr>
              <a:t>Si la misma HU vuelve como retrabajo más de 1 vez, hay un problema de comunicación o de criterios, no de capacidad del equipo.
</a:t>
            </a: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Herramienta de alineación: </a:t>
            </a:r>
            <a:r>
              <a:rPr lang="en-US" sz="1093" dirty="0">
                <a:solidFill>
                  <a:srgbClr val="E2E8F0"/>
                </a:solidFill>
                <a:latin typeface="Calibri" pitchFamily="34" charset="0"/>
                <a:ea typeface="Calibri" pitchFamily="34" charset="-122"/>
                <a:cs typeface="Calibri" pitchFamily="34" charset="-120"/>
              </a:rPr>
              <a:t>Reunión de 3 roles (PO+Dev+QA) para revisar criterios antes de Sprint Planning. 30 minutos aquí ahorran días de retrabajo después.
</a:t>
            </a: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Error a no repetir: </a:t>
            </a:r>
            <a:r>
              <a:rPr lang="en-US" sz="1093" dirty="0">
                <a:solidFill>
                  <a:srgbClr val="E2E8F0"/>
                </a:solidFill>
                <a:latin typeface="Calibri" pitchFamily="34" charset="0"/>
                <a:ea typeface="Calibri" pitchFamily="34" charset="-122"/>
                <a:cs typeface="Calibri" pitchFamily="34" charset="-120"/>
              </a:rPr>
              <a:t>Escribir criterios de aceptación solo desde la perspectiva del PO y dárselos al equipo para que los interprete. Los criterios se escriben en conjunto.
</a:t>
            </a: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Aprendizaje de equipo: </a:t>
            </a:r>
            <a:r>
              <a:rPr lang="en-US" sz="1093" dirty="0">
                <a:solidFill>
                  <a:srgbClr val="E2E8F0"/>
                </a:solidFill>
                <a:latin typeface="Calibri" pitchFamily="34" charset="0"/>
                <a:ea typeface="Calibri" pitchFamily="34" charset="-122"/>
                <a:cs typeface="Calibri" pitchFamily="34" charset="-120"/>
              </a:rPr>
              <a:t>La pregunta '¿hay algo que no entendemos igual?' es la más valiosa del daily. Crearla como hábito de equipo es un trabajo del PO y del Scrum Master.</a:t>
            </a:r>
            <a:endParaRPr lang="en-US" sz="1200" dirty="0"/>
          </a:p>
        </p:txBody>
      </p:sp>
      <p:sp>
        <p:nvSpPr>
          <p:cNvPr id="19" name="Shape 17"/>
          <p:cNvSpPr/>
          <p:nvPr/>
        </p:nvSpPr>
        <p:spPr>
          <a:xfrm>
            <a:off x="0" y="6699504"/>
            <a:ext cx="12192000" cy="158496"/>
          </a:xfrm>
          <a:prstGeom prst="rect">
            <a:avLst/>
          </a:prstGeom>
          <a:solidFill>
            <a:srgbClr val="1246B3"/>
          </a:solidFill>
          <a:ln w="12700">
            <a:solidFill>
              <a:srgbClr val="1246B3"/>
            </a:solidFill>
            <a:prstDash val="solid"/>
          </a:ln>
        </p:spPr>
      </p:sp>
      <p:sp>
        <p:nvSpPr>
          <p:cNvPr id="20" name="Text 18"/>
          <p:cNvSpPr/>
          <p:nvPr/>
        </p:nvSpPr>
        <p:spPr>
          <a:xfrm>
            <a:off x="243840" y="6565392"/>
            <a:ext cx="11704320" cy="158496"/>
          </a:xfrm>
          <a:prstGeom prst="rect">
            <a:avLst/>
          </a:prstGeom>
          <a:noFill/>
          <a:ln/>
        </p:spPr>
        <p:txBody>
          <a:bodyPr wrap="square" lIns="0" tIns="0" rIns="0" bIns="0" rtlCol="0" anchor="ctr"/>
          <a:lstStyle/>
          <a:p>
            <a:r>
              <a:rPr lang="en-US" sz="800" i="1" dirty="0">
                <a:solidFill>
                  <a:srgbClr val="475569"/>
                </a:solidFill>
                <a:latin typeface="Calibri" pitchFamily="34" charset="0"/>
                <a:ea typeface="Calibri" pitchFamily="34" charset="-122"/>
                <a:cs typeface="Calibri" pitchFamily="34" charset="-120"/>
              </a:rPr>
              <a:t>Gabriel Sandoval G.  ·  Product Owner  ·  ABP Módulo 5  ·  Rediseño Flujo Viáticos  ·  Caso 8 – Comunicación del Equipo  ·  Registro de Autofeedback</a:t>
            </a:r>
            <a:endParaRPr lang="en-US" sz="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18">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3 – CASO 8</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Comunicación y relación del equipo</a:t>
            </a:r>
            <a:endParaRPr lang="en-US" sz="2100"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400" i="1" dirty="0">
                <a:solidFill>
                  <a:srgbClr val="38BDF8"/>
                </a:solidFill>
                <a:latin typeface="Calibri" pitchFamily="34" charset="0"/>
                <a:ea typeface="Calibri" pitchFamily="34" charset="-122"/>
                <a:cs typeface="Calibri" pitchFamily="34" charset="-120"/>
              </a:rPr>
              <a:t>Refinamiento del Backlog</a:t>
            </a:r>
            <a:endParaRPr lang="en-US" sz="14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Shape 7"/>
          <p:cNvSpPr/>
          <p:nvPr/>
        </p:nvSpPr>
        <p:spPr>
          <a:xfrm>
            <a:off x="0" y="6720840"/>
            <a:ext cx="12188952" cy="137160"/>
          </a:xfrm>
          <a:prstGeom prst="rect">
            <a:avLst/>
          </a:prstGeom>
          <a:solidFill>
            <a:srgbClr val="1246B3"/>
          </a:solidFill>
          <a:ln w="12700">
            <a:solidFill>
              <a:srgbClr val="1246B3"/>
            </a:solidFill>
            <a:prstDash val="solid"/>
          </a:ln>
        </p:spPr>
      </p:sp>
      <p:sp>
        <p:nvSpPr>
          <p:cNvPr id="10" name="Text 8"/>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14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1400" dirty="0"/>
          </a:p>
        </p:txBody>
      </p:sp>
      <p:sp>
        <p:nvSpPr>
          <p:cNvPr id="11" name="Shape 9"/>
          <p:cNvSpPr/>
          <p:nvPr/>
        </p:nvSpPr>
        <p:spPr>
          <a:xfrm>
            <a:off x="201168" y="1005840"/>
            <a:ext cx="5760720" cy="5559552"/>
          </a:xfrm>
          <a:prstGeom prst="rect">
            <a:avLst/>
          </a:prstGeom>
          <a:solidFill>
            <a:srgbClr val="0D1B3E"/>
          </a:solidFill>
          <a:ln w="12700">
            <a:solidFill>
              <a:srgbClr val="38BDF8"/>
            </a:solidFill>
            <a:prstDash val="solid"/>
          </a:ln>
        </p:spPr>
      </p:sp>
      <p:sp>
        <p:nvSpPr>
          <p:cNvPr id="12" name="Shape 10"/>
          <p:cNvSpPr/>
          <p:nvPr/>
        </p:nvSpPr>
        <p:spPr>
          <a:xfrm>
            <a:off x="201168" y="1005840"/>
            <a:ext cx="5760720" cy="32004"/>
          </a:xfrm>
          <a:prstGeom prst="rect">
            <a:avLst/>
          </a:prstGeom>
          <a:solidFill>
            <a:srgbClr val="38BDF8"/>
          </a:solidFill>
          <a:ln w="12700">
            <a:solidFill>
              <a:srgbClr val="38BDF8"/>
            </a:solidFill>
            <a:prstDash val="solid"/>
          </a:ln>
        </p:spPr>
      </p:sp>
      <p:sp>
        <p:nvSpPr>
          <p:cNvPr id="13" name="Text 11"/>
          <p:cNvSpPr/>
          <p:nvPr/>
        </p:nvSpPr>
        <p:spPr>
          <a:xfrm>
            <a:off x="347472" y="1078992"/>
            <a:ext cx="5486400" cy="237744"/>
          </a:xfrm>
          <a:prstGeom prst="rect">
            <a:avLst/>
          </a:prstGeom>
          <a:noFill/>
          <a:ln/>
        </p:spPr>
        <p:txBody>
          <a:bodyPr wrap="square" lIns="0" tIns="0" rIns="0" bIns="0" rtlCol="0" anchor="ctr"/>
          <a:lstStyle/>
          <a:p>
            <a:pPr marL="0" indent="0">
              <a:buNone/>
            </a:pPr>
            <a:r>
              <a:rPr lang="en-US" sz="1400" b="1" kern="0" spc="120" dirty="0">
                <a:solidFill>
                  <a:srgbClr val="38BDF8"/>
                </a:solidFill>
                <a:latin typeface="Calibri" pitchFamily="34" charset="0"/>
                <a:ea typeface="Calibri" pitchFamily="34" charset="-122"/>
                <a:cs typeface="Calibri" pitchFamily="34" charset="-120"/>
              </a:rPr>
              <a:t>RESOLUCIÓN APLICADA AL PROYECTO</a:t>
            </a:r>
            <a:endParaRPr lang="en-US" sz="1400" dirty="0"/>
          </a:p>
        </p:txBody>
      </p:sp>
      <p:sp>
        <p:nvSpPr>
          <p:cNvPr id="14" name="Text 12"/>
          <p:cNvSpPr/>
          <p:nvPr/>
        </p:nvSpPr>
        <p:spPr>
          <a:xfrm>
            <a:off x="347472" y="1371600"/>
            <a:ext cx="5486400" cy="5029200"/>
          </a:xfrm>
          <a:prstGeom prst="rect">
            <a:avLst/>
          </a:prstGeom>
          <a:noFill/>
          <a:ln/>
        </p:spPr>
        <p:txBody>
          <a:bodyPr wrap="square" lIns="0" tIns="0" rIns="0" bIns="0" rtlCol="0" anchor="t"/>
          <a:lstStyle/>
          <a:p>
            <a:pPr marL="0" indent="0">
              <a:lnSpc>
                <a:spcPct val="128000"/>
              </a:lnSpc>
              <a:buNone/>
            </a:pPr>
            <a:r>
              <a:rPr lang="en-US" sz="1400" b="1" dirty="0">
                <a:solidFill>
                  <a:srgbClr val="38BDF8"/>
                </a:solidFill>
                <a:latin typeface="Calibri" pitchFamily="34" charset="0"/>
                <a:ea typeface="Calibri" pitchFamily="34" charset="-122"/>
                <a:cs typeface="Calibri" pitchFamily="34" charset="-120"/>
              </a:rPr>
              <a:t>Resolución: </a:t>
            </a:r>
            <a:r>
              <a:rPr lang="en-US" sz="1400" dirty="0">
                <a:solidFill>
                  <a:srgbClr val="E2E8F0"/>
                </a:solidFill>
                <a:latin typeface="Calibri" pitchFamily="34" charset="0"/>
                <a:ea typeface="Calibri" pitchFamily="34" charset="-122"/>
                <a:cs typeface="Calibri" pitchFamily="34" charset="-120"/>
              </a:rPr>
              <a:t> HU5 fue entregada 3 veces en 2 sprints por interpretaciones distintas. El criterio 'El sistema debe notificar al aprobador': PO entendió push, Dev implementó email, QA probó SMS.
</a:t>
            </a:r>
            <a:r>
              <a:rPr lang="en-US" sz="1400" b="1" dirty="0">
                <a:solidFill>
                  <a:srgbClr val="38BDF8"/>
                </a:solidFill>
                <a:latin typeface="Calibri" pitchFamily="34" charset="0"/>
                <a:ea typeface="Calibri" pitchFamily="34" charset="-122"/>
                <a:cs typeface="Calibri" pitchFamily="34" charset="-120"/>
              </a:rPr>
              <a:t>Causa raíz: </a:t>
            </a:r>
            <a:r>
              <a:rPr lang="en-US" sz="1400" dirty="0">
                <a:solidFill>
                  <a:srgbClr val="E2E8F0"/>
                </a:solidFill>
                <a:latin typeface="Calibri" pitchFamily="34" charset="0"/>
                <a:ea typeface="Calibri" pitchFamily="34" charset="-122"/>
                <a:cs typeface="Calibri" pitchFamily="34" charset="-120"/>
              </a:rPr>
              <a:t> Sin formato ni canal definido. Sin entendimiento compartido entre PO, Dev y QA. Criterios ambiguos sin escenarios ni medios de notificación explícitos.
</a:t>
            </a:r>
            <a:r>
              <a:rPr lang="en-US" sz="1400" b="1" dirty="0">
                <a:solidFill>
                  <a:srgbClr val="38BDF8"/>
                </a:solidFill>
                <a:latin typeface="Calibri" pitchFamily="34" charset="0"/>
                <a:ea typeface="Calibri" pitchFamily="34" charset="-122"/>
                <a:cs typeface="Calibri" pitchFamily="34" charset="-120"/>
              </a:rPr>
              <a:t>Acuerdos adoptados: </a:t>
            </a:r>
            <a:r>
              <a:rPr lang="en-US" sz="1400" dirty="0">
                <a:solidFill>
                  <a:srgbClr val="E2E8F0"/>
                </a:solidFill>
                <a:latin typeface="Calibri" pitchFamily="34" charset="0"/>
                <a:ea typeface="Calibri" pitchFamily="34" charset="-122"/>
                <a:cs typeface="Calibri" pitchFamily="34" charset="-120"/>
              </a:rPr>
              <a:t> Desde Sprint 4: (a) Formato Dado/Cuando/Entonces obligatorio con canal explícito. (b) PO escribe intención, Dev escribe preguntas técnicas, QA escribe escenarios – los 3 validan. (c) Ambigüedades en Jira como Decisión Pendiente. (d) Daily con pregunta: '¿Hay algo que no entendemos igual?'</a:t>
            </a:r>
            <a:endParaRPr lang="en-US" sz="1400" dirty="0"/>
          </a:p>
        </p:txBody>
      </p:sp>
      <p:sp>
        <p:nvSpPr>
          <p:cNvPr id="15" name="Shape 13"/>
          <p:cNvSpPr/>
          <p:nvPr/>
        </p:nvSpPr>
        <p:spPr>
          <a:xfrm>
            <a:off x="6144768" y="1005840"/>
            <a:ext cx="5852160" cy="5559552"/>
          </a:xfrm>
          <a:prstGeom prst="rect">
            <a:avLst/>
          </a:prstGeom>
          <a:solidFill>
            <a:srgbClr val="091428"/>
          </a:solidFill>
          <a:ln w="12700">
            <a:solidFill>
              <a:srgbClr val="FBBF24"/>
            </a:solidFill>
            <a:prstDash val="solid"/>
          </a:ln>
        </p:spPr>
      </p:sp>
      <p:sp>
        <p:nvSpPr>
          <p:cNvPr id="16" name="Shape 14"/>
          <p:cNvSpPr/>
          <p:nvPr/>
        </p:nvSpPr>
        <p:spPr>
          <a:xfrm>
            <a:off x="6144768" y="1005840"/>
            <a:ext cx="5852160" cy="32004"/>
          </a:xfrm>
          <a:prstGeom prst="rect">
            <a:avLst/>
          </a:prstGeom>
          <a:solidFill>
            <a:srgbClr val="FBBF24"/>
          </a:solidFill>
          <a:ln w="12700">
            <a:solidFill>
              <a:srgbClr val="FBBF24"/>
            </a:solidFill>
            <a:prstDash val="solid"/>
          </a:ln>
        </p:spPr>
      </p:sp>
      <p:sp>
        <p:nvSpPr>
          <p:cNvPr id="17" name="Text 15"/>
          <p:cNvSpPr/>
          <p:nvPr/>
        </p:nvSpPr>
        <p:spPr>
          <a:xfrm>
            <a:off x="6291072" y="1078992"/>
            <a:ext cx="5623560" cy="237744"/>
          </a:xfrm>
          <a:prstGeom prst="rect">
            <a:avLst/>
          </a:prstGeom>
          <a:noFill/>
          <a:ln/>
        </p:spPr>
        <p:txBody>
          <a:bodyPr wrap="square" lIns="0" tIns="0" rIns="0" bIns="0" rtlCol="0" anchor="ctr"/>
          <a:lstStyle/>
          <a:p>
            <a:pPr marL="0" indent="0">
              <a:buNone/>
            </a:pPr>
            <a:r>
              <a:rPr lang="en-US" sz="1400" b="1" kern="0" spc="120" dirty="0">
                <a:solidFill>
                  <a:srgbClr val="FBBF24"/>
                </a:solidFill>
                <a:latin typeface="Calibri" pitchFamily="34" charset="0"/>
                <a:ea typeface="Calibri" pitchFamily="34" charset="-122"/>
                <a:cs typeface="Calibri" pitchFamily="34" charset="-120"/>
              </a:rPr>
              <a:t>BACKLOG ACTUALIZADO </a:t>
            </a:r>
            <a:endParaRPr lang="en-US" sz="1400" dirty="0"/>
          </a:p>
        </p:txBody>
      </p:sp>
      <p:sp>
        <p:nvSpPr>
          <p:cNvPr id="18" name="Text 16"/>
          <p:cNvSpPr/>
          <p:nvPr/>
        </p:nvSpPr>
        <p:spPr>
          <a:xfrm>
            <a:off x="6291072" y="1371600"/>
            <a:ext cx="5623560" cy="5029200"/>
          </a:xfrm>
          <a:prstGeom prst="rect">
            <a:avLst/>
          </a:prstGeom>
          <a:noFill/>
          <a:ln/>
        </p:spPr>
        <p:txBody>
          <a:bodyPr wrap="square" lIns="0" tIns="0" rIns="0" bIns="0" rtlCol="0" anchor="t"/>
          <a:lstStyle/>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HU5 CA-01 REESCRITO: </a:t>
            </a:r>
            <a:r>
              <a:rPr lang="en-US" sz="1400" dirty="0">
                <a:solidFill>
                  <a:srgbClr val="E2E8F0"/>
                </a:solidFill>
                <a:latin typeface="Calibri" pitchFamily="34" charset="0"/>
                <a:ea typeface="Calibri" pitchFamily="34" charset="-122"/>
                <a:cs typeface="Calibri" pitchFamily="34" charset="-120"/>
              </a:rPr>
              <a:t> 'Dado: gasto &gt;110%. Cuando: sistema detecta transacción. Entonces: notificación push a la app del supervisor en &lt;2 min con monto, exceso y botones Aprobar/Rechazar'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Plantilla Dado/Cuando/Entonces: </a:t>
            </a:r>
            <a:r>
              <a:rPr lang="en-US" sz="1400" dirty="0">
                <a:solidFill>
                  <a:srgbClr val="E2E8F0"/>
                </a:solidFill>
                <a:latin typeface="Calibri" pitchFamily="34" charset="0"/>
                <a:ea typeface="Calibri" pitchFamily="34" charset="-122"/>
                <a:cs typeface="Calibri" pitchFamily="34" charset="-120"/>
              </a:rPr>
              <a:t> Nuevo artefacto en Confluence. Uso obligatorio desde Sprint 4. Firmada por PO + Dev + QA antes de Sprint Planning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Protocolo de Refinamiento: </a:t>
            </a:r>
            <a:r>
              <a:rPr lang="en-US" sz="1400" dirty="0">
                <a:solidFill>
                  <a:srgbClr val="E2E8F0"/>
                </a:solidFill>
                <a:latin typeface="Calibri" pitchFamily="34" charset="0"/>
                <a:ea typeface="Calibri" pitchFamily="34" charset="-122"/>
                <a:cs typeface="Calibri" pitchFamily="34" charset="-120"/>
              </a:rPr>
              <a:t> En Confluence: roles, formato, duración máxima 60 min, criterio de Ready. Aprobado en Retrospectiva Sprint 3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Daily Scrum actualizado: </a:t>
            </a:r>
            <a:r>
              <a:rPr lang="en-US" sz="1400" dirty="0">
                <a:solidFill>
                  <a:srgbClr val="E2E8F0"/>
                </a:solidFill>
                <a:latin typeface="Calibri" pitchFamily="34" charset="0"/>
                <a:ea typeface="Calibri" pitchFamily="34" charset="-122"/>
                <a:cs typeface="Calibri" pitchFamily="34" charset="-120"/>
              </a:rPr>
              <a:t> Nueva pregunta: '¿Hay HU donde PO, Dev y QA entienden cosas distintas?' Registrada en canal Slack #viáticos-refinamiento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HU5 revisada: </a:t>
            </a:r>
            <a:r>
              <a:rPr lang="en-US" sz="1400" dirty="0">
                <a:solidFill>
                  <a:srgbClr val="E2E8F0"/>
                </a:solidFill>
                <a:latin typeface="Calibri" pitchFamily="34" charset="0"/>
                <a:ea typeface="Calibri" pitchFamily="34" charset="-122"/>
                <a:cs typeface="Calibri" pitchFamily="34" charset="-120"/>
              </a:rPr>
              <a:t> Reescrita completa con Dado/Cuando/Entonces para 3 escenarios. Validada por PO + Dev Lead + QA Lead antes de Sprint 4</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85344" cy="6858000"/>
          </a:xfrm>
          <a:prstGeom prst="rect">
            <a:avLst/>
          </a:prstGeom>
          <a:solidFill>
            <a:srgbClr val="FB7185"/>
          </a:solidFill>
          <a:ln w="12700">
            <a:solidFill>
              <a:srgbClr val="FB7185"/>
            </a:solidFill>
            <a:prstDash val="solid"/>
          </a:ln>
        </p:spPr>
      </p:sp>
      <p:sp>
        <p:nvSpPr>
          <p:cNvPr id="3" name="Shape 1"/>
          <p:cNvSpPr/>
          <p:nvPr/>
        </p:nvSpPr>
        <p:spPr>
          <a:xfrm>
            <a:off x="85344" y="0"/>
            <a:ext cx="12106656" cy="1036320"/>
          </a:xfrm>
          <a:prstGeom prst="rect">
            <a:avLst/>
          </a:prstGeom>
          <a:solidFill>
            <a:srgbClr val="0A1428"/>
          </a:solidFill>
          <a:ln w="12700">
            <a:solidFill>
              <a:srgbClr val="0A1428"/>
            </a:solidFill>
            <a:prstDash val="solid"/>
          </a:ln>
        </p:spPr>
      </p:sp>
      <p:sp>
        <p:nvSpPr>
          <p:cNvPr id="4" name="Shape 2"/>
          <p:cNvSpPr/>
          <p:nvPr/>
        </p:nvSpPr>
        <p:spPr>
          <a:xfrm>
            <a:off x="268224" y="170688"/>
            <a:ext cx="1950720" cy="341376"/>
          </a:xfrm>
          <a:prstGeom prst="rect">
            <a:avLst/>
          </a:prstGeom>
          <a:solidFill>
            <a:srgbClr val="FB7185"/>
          </a:solidFill>
          <a:ln w="12700">
            <a:solidFill>
              <a:srgbClr val="FB7185"/>
            </a:solidFill>
            <a:prstDash val="solid"/>
          </a:ln>
        </p:spPr>
      </p:sp>
      <p:sp>
        <p:nvSpPr>
          <p:cNvPr id="5" name="Text 3"/>
          <p:cNvSpPr/>
          <p:nvPr/>
        </p:nvSpPr>
        <p:spPr>
          <a:xfrm>
            <a:off x="268224" y="170688"/>
            <a:ext cx="1950720" cy="341376"/>
          </a:xfrm>
          <a:prstGeom prst="rect">
            <a:avLst/>
          </a:prstGeom>
          <a:noFill/>
          <a:ln/>
        </p:spPr>
        <p:txBody>
          <a:bodyPr wrap="square" lIns="0" tIns="0" rIns="0" bIns="0" rtlCol="0" anchor="ctr"/>
          <a:lstStyle/>
          <a:p>
            <a:pPr algn="ctr"/>
            <a:r>
              <a:rPr lang="en-US" sz="1067" b="1" kern="0" spc="267" dirty="0">
                <a:solidFill>
                  <a:srgbClr val="FFFFFF"/>
                </a:solidFill>
                <a:latin typeface="Calibri" pitchFamily="34" charset="0"/>
                <a:ea typeface="Calibri" pitchFamily="34" charset="-122"/>
                <a:cs typeface="Calibri" pitchFamily="34" charset="-120"/>
              </a:rPr>
              <a:t>CASO 9</a:t>
            </a:r>
            <a:endParaRPr lang="en-US" sz="1067" dirty="0"/>
          </a:p>
        </p:txBody>
      </p:sp>
      <p:sp>
        <p:nvSpPr>
          <p:cNvPr id="8" name="Text 6"/>
          <p:cNvSpPr/>
          <p:nvPr/>
        </p:nvSpPr>
        <p:spPr>
          <a:xfrm>
            <a:off x="4815840" y="121920"/>
            <a:ext cx="7071360" cy="487680"/>
          </a:xfrm>
          <a:prstGeom prst="rect">
            <a:avLst/>
          </a:prstGeom>
          <a:noFill/>
          <a:ln/>
        </p:spPr>
        <p:txBody>
          <a:bodyPr wrap="square" lIns="0" tIns="0" rIns="0" bIns="0" rtlCol="0" anchor="ctr"/>
          <a:lstStyle/>
          <a:p>
            <a:r>
              <a:rPr lang="en-US" sz="2400" b="1" dirty="0">
                <a:solidFill>
                  <a:srgbClr val="FFFFFF"/>
                </a:solidFill>
                <a:latin typeface="Calibri" pitchFamily="34" charset="0"/>
                <a:ea typeface="Calibri" pitchFamily="34" charset="-122"/>
                <a:cs typeface="Calibri" pitchFamily="34" charset="-120"/>
              </a:rPr>
              <a:t>Renuncia de Integrante Clave del Equipo</a:t>
            </a:r>
            <a:endParaRPr lang="en-US" sz="2400" dirty="0"/>
          </a:p>
        </p:txBody>
      </p:sp>
      <p:sp>
        <p:nvSpPr>
          <p:cNvPr id="9" name="Text 7"/>
          <p:cNvSpPr/>
          <p:nvPr/>
        </p:nvSpPr>
        <p:spPr>
          <a:xfrm>
            <a:off x="268224" y="633984"/>
            <a:ext cx="11655552" cy="292608"/>
          </a:xfrm>
          <a:prstGeom prst="rect">
            <a:avLst/>
          </a:prstGeom>
          <a:noFill/>
          <a:ln/>
        </p:spPr>
        <p:txBody>
          <a:bodyPr wrap="square" lIns="0" tIns="0" rIns="0" bIns="0" rtlCol="0" anchor="ctr"/>
          <a:lstStyle/>
          <a:p>
            <a:r>
              <a:rPr lang="en-US" sz="1133" i="1" dirty="0">
                <a:solidFill>
                  <a:srgbClr val="38BDF8"/>
                </a:solidFill>
                <a:latin typeface="Calibri" pitchFamily="34" charset="0"/>
                <a:ea typeface="Calibri" pitchFamily="34" charset="-122"/>
                <a:cs typeface="Calibri" pitchFamily="34" charset="-120"/>
              </a:rPr>
              <a:t>Backend senior con 70% del conocimiento técnico renuncia al inicio del Sprint 5 · 14 SP en riesgo</a:t>
            </a:r>
            <a:endParaRPr lang="en-US" sz="1133" dirty="0"/>
          </a:p>
        </p:txBody>
      </p:sp>
      <p:sp>
        <p:nvSpPr>
          <p:cNvPr id="10" name="Shape 8"/>
          <p:cNvSpPr/>
          <p:nvPr/>
        </p:nvSpPr>
        <p:spPr>
          <a:xfrm>
            <a:off x="85344" y="1036321"/>
            <a:ext cx="12106656" cy="26823"/>
          </a:xfrm>
          <a:prstGeom prst="rect">
            <a:avLst/>
          </a:prstGeom>
          <a:solidFill>
            <a:srgbClr val="FB7185"/>
          </a:solidFill>
          <a:ln w="12700">
            <a:solidFill>
              <a:srgbClr val="FB7185"/>
            </a:solidFill>
            <a:prstDash val="solid"/>
          </a:ln>
        </p:spPr>
      </p:sp>
      <p:sp>
        <p:nvSpPr>
          <p:cNvPr id="11" name="Shape 9"/>
          <p:cNvSpPr/>
          <p:nvPr/>
        </p:nvSpPr>
        <p:spPr>
          <a:xfrm>
            <a:off x="268224" y="1133856"/>
            <a:ext cx="5754624" cy="5382768"/>
          </a:xfrm>
          <a:prstGeom prst="rect">
            <a:avLst/>
          </a:prstGeom>
          <a:solidFill>
            <a:srgbClr val="0B1A3A"/>
          </a:solidFill>
          <a:ln w="12700">
            <a:solidFill>
              <a:srgbClr val="FB7185"/>
            </a:solidFill>
            <a:prstDash val="solid"/>
          </a:ln>
        </p:spPr>
      </p:sp>
      <p:sp>
        <p:nvSpPr>
          <p:cNvPr id="12" name="Shape 10"/>
          <p:cNvSpPr/>
          <p:nvPr/>
        </p:nvSpPr>
        <p:spPr>
          <a:xfrm>
            <a:off x="268224" y="1133856"/>
            <a:ext cx="5754624" cy="36576"/>
          </a:xfrm>
          <a:prstGeom prst="rect">
            <a:avLst/>
          </a:prstGeom>
          <a:solidFill>
            <a:srgbClr val="FB7185"/>
          </a:solidFill>
          <a:ln w="12700">
            <a:solidFill>
              <a:srgbClr val="FB7185"/>
            </a:solidFill>
            <a:prstDash val="solid"/>
          </a:ln>
        </p:spPr>
      </p:sp>
      <p:sp>
        <p:nvSpPr>
          <p:cNvPr id="13" name="Text 11"/>
          <p:cNvSpPr/>
          <p:nvPr/>
        </p:nvSpPr>
        <p:spPr>
          <a:xfrm>
            <a:off x="438912" y="1219200"/>
            <a:ext cx="5449824" cy="268224"/>
          </a:xfrm>
          <a:prstGeom prst="rect">
            <a:avLst/>
          </a:prstGeom>
          <a:noFill/>
          <a:ln/>
        </p:spPr>
        <p:txBody>
          <a:bodyPr wrap="square" lIns="0" tIns="0" rIns="0" bIns="0" rtlCol="0" anchor="ctr"/>
          <a:lstStyle/>
          <a:p>
            <a:r>
              <a:rPr lang="en-US" sz="1000" b="1" kern="0" spc="160" dirty="0">
                <a:solidFill>
                  <a:srgbClr val="FB7185"/>
                </a:solidFill>
                <a:latin typeface="Calibri" pitchFamily="34" charset="0"/>
                <a:ea typeface="Calibri" pitchFamily="34" charset="-122"/>
                <a:cs typeface="Calibri" pitchFamily="34" charset="-120"/>
              </a:rPr>
              <a:t>DECISIONES Y RAZONAMIENTO</a:t>
            </a:r>
            <a:endParaRPr lang="en-US" sz="1000" dirty="0"/>
          </a:p>
        </p:txBody>
      </p:sp>
      <p:sp>
        <p:nvSpPr>
          <p:cNvPr id="14" name="Text 12"/>
          <p:cNvSpPr/>
          <p:nvPr/>
        </p:nvSpPr>
        <p:spPr>
          <a:xfrm>
            <a:off x="438912" y="1536192"/>
            <a:ext cx="5449824" cy="4895088"/>
          </a:xfrm>
          <a:prstGeom prst="rect">
            <a:avLst/>
          </a:prstGeom>
          <a:noFill/>
          <a:ln/>
        </p:spPr>
        <p:txBody>
          <a:bodyPr wrap="square" lIns="0" tIns="0" rIns="0" bIns="0" rtlCol="0" anchor="t"/>
          <a:lstStyle/>
          <a:p>
            <a:pPr>
              <a:lnSpc>
                <a:spcPct val="128000"/>
              </a:lnSpc>
            </a:pPr>
            <a:r>
              <a:rPr lang="en-US" sz="1093" b="1" dirty="0">
                <a:solidFill>
                  <a:srgbClr val="FB7185"/>
                </a:solidFill>
                <a:latin typeface="Calibri" pitchFamily="34" charset="0"/>
                <a:ea typeface="Calibri" pitchFamily="34" charset="-122"/>
                <a:cs typeface="Calibri" pitchFamily="34" charset="-120"/>
              </a:rPr>
              <a:t>Activé el protocolo de respuesta el mismo día, sin esperar. </a:t>
            </a:r>
            <a:r>
              <a:rPr lang="en-US" sz="1093" dirty="0">
                <a:solidFill>
                  <a:srgbClr val="E2E8F0"/>
                </a:solidFill>
                <a:latin typeface="Calibri" pitchFamily="34" charset="0"/>
                <a:ea typeface="Calibri" pitchFamily="34" charset="-122"/>
                <a:cs typeface="Calibri" pitchFamily="34" charset="-120"/>
              </a:rPr>
              <a:t>Al saber de la renuncia, informé al Sponsor ese mismo día (no al final de la semana, no en la próxima retrospectiva). Ajusté la capacidad del Sprint 5 de 42 a 28 SP con la nueva realidad. La transparencia inmediata con el Sponsor permite abrir espacios de decisión (contratar freelance, extender sprint) que se cierran si se esperan días. Autofeedback: las malas noticias no mejoran con el tiempo.
</a:t>
            </a:r>
            <a:r>
              <a:rPr lang="en-US" sz="1093" b="1" dirty="0">
                <a:solidFill>
                  <a:srgbClr val="FB7185"/>
                </a:solidFill>
                <a:latin typeface="Calibri" pitchFamily="34" charset="0"/>
                <a:ea typeface="Calibri" pitchFamily="34" charset="-122"/>
                <a:cs typeface="Calibri" pitchFamily="34" charset="-120"/>
              </a:rPr>
              <a:t>Convertí las 2 semanas de aviso en tiempo de inversión en continuidad. </a:t>
            </a:r>
            <a:r>
              <a:rPr lang="en-US" sz="1093" dirty="0">
                <a:solidFill>
                  <a:srgbClr val="E2E8F0"/>
                </a:solidFill>
                <a:latin typeface="Calibri" pitchFamily="34" charset="0"/>
                <a:ea typeface="Calibri" pitchFamily="34" charset="-122"/>
                <a:cs typeface="Calibri" pitchFamily="34" charset="-120"/>
              </a:rPr>
              <a:t>Negocié con el backend senior que dedicara 50% de sus últimas dos semanas a transferencia documentada de conocimiento (no a terminar features). Esto dolió en velocidad de corto plazo pero salvó el Sprint 6. La documentación subida a Confluence fue una condición sine qua non para continuar: sin eso, el Sprint 6 no podía arrancar. Lección: cuando alguien se va, el activo más valioso no es lo que termina, es lo que deja documentado.
</a:t>
            </a:r>
            <a:r>
              <a:rPr lang="en-US" sz="1093" b="1" dirty="0">
                <a:solidFill>
                  <a:srgbClr val="FB7185"/>
                </a:solidFill>
                <a:latin typeface="Calibri" pitchFamily="34" charset="0"/>
                <a:ea typeface="Calibri" pitchFamily="34" charset="-122"/>
                <a:cs typeface="Calibri" pitchFamily="34" charset="-120"/>
              </a:rPr>
              <a:t>Prioricé las 28 SP disponibles sin negociar la calidad. </a:t>
            </a:r>
            <a:r>
              <a:rPr lang="en-US" sz="1093" dirty="0">
                <a:solidFill>
                  <a:srgbClr val="E2E8F0"/>
                </a:solidFill>
                <a:latin typeface="Calibri" pitchFamily="34" charset="0"/>
                <a:ea typeface="Calibri" pitchFamily="34" charset="-122"/>
                <a:cs typeface="Calibri" pitchFamily="34" charset="-120"/>
              </a:rPr>
              <a:t>De las HUs del Sprint 5, seleccioné las que tenían mayor impacto en compromisos ya adquiridos: HU offline (piloto), dashboard de auditoría (Gerencia), motor de reglas parcial (ya documentado). Lo diferible se fue al Sprint 6 con ajuste formal comunicado al Sponsor. Autofeedback: en una crisis de capacidad, el PO no intenta hacer todo con menos recursos, elige qué no hacer.
</a:t>
            </a:r>
            <a:r>
              <a:rPr lang="en-US" sz="1093" b="1" dirty="0">
                <a:solidFill>
                  <a:srgbClr val="FB7185"/>
                </a:solidFill>
                <a:latin typeface="Calibri" pitchFamily="34" charset="0"/>
                <a:ea typeface="Calibri" pitchFamily="34" charset="-122"/>
                <a:cs typeface="Calibri" pitchFamily="34" charset="-120"/>
              </a:rPr>
              <a:t>Activé el proceso de reemplazo desde el día 1. </a:t>
            </a:r>
            <a:r>
              <a:rPr lang="en-US" sz="1093" dirty="0">
                <a:solidFill>
                  <a:srgbClr val="E2E8F0"/>
                </a:solidFill>
                <a:latin typeface="Calibri" pitchFamily="34" charset="0"/>
                <a:ea typeface="Calibri" pitchFamily="34" charset="-122"/>
                <a:cs typeface="Calibri" pitchFamily="34" charset="-120"/>
              </a:rPr>
              <a:t>Inicié la búsqueda de freelance backend con experiencia en APIs bancarias el mismo día de la renuncia. No esperé a que el Sprint terminara para ver si hacía falta. Lección de autofeedback: en proyectos con go-live comprometido, el tiempo de contratación es una variable de riesgo del proyecto. El PO debe gestionar ese proceso, no solo pedirle a RRHH que lo gestione.</a:t>
            </a:r>
            <a:endParaRPr lang="en-US" sz="1093" dirty="0"/>
          </a:p>
        </p:txBody>
      </p:sp>
      <p:sp>
        <p:nvSpPr>
          <p:cNvPr id="15" name="Shape 13"/>
          <p:cNvSpPr/>
          <p:nvPr/>
        </p:nvSpPr>
        <p:spPr>
          <a:xfrm>
            <a:off x="6169152" y="1133856"/>
            <a:ext cx="5754624" cy="5382768"/>
          </a:xfrm>
          <a:prstGeom prst="rect">
            <a:avLst/>
          </a:prstGeom>
          <a:solidFill>
            <a:srgbClr val="091428"/>
          </a:solidFill>
          <a:ln w="12700">
            <a:solidFill>
              <a:srgbClr val="FBBF24"/>
            </a:solidFill>
            <a:prstDash val="solid"/>
          </a:ln>
        </p:spPr>
      </p:sp>
      <p:sp>
        <p:nvSpPr>
          <p:cNvPr id="16" name="Shape 14"/>
          <p:cNvSpPr/>
          <p:nvPr/>
        </p:nvSpPr>
        <p:spPr>
          <a:xfrm>
            <a:off x="6169152" y="1133856"/>
            <a:ext cx="5754624" cy="36576"/>
          </a:xfrm>
          <a:prstGeom prst="rect">
            <a:avLst/>
          </a:prstGeom>
          <a:solidFill>
            <a:srgbClr val="FBBF24"/>
          </a:solidFill>
          <a:ln w="12700">
            <a:solidFill>
              <a:srgbClr val="FBBF24"/>
            </a:solidFill>
            <a:prstDash val="solid"/>
          </a:ln>
        </p:spPr>
      </p:sp>
      <p:sp>
        <p:nvSpPr>
          <p:cNvPr id="17" name="Text 15"/>
          <p:cNvSpPr/>
          <p:nvPr/>
        </p:nvSpPr>
        <p:spPr>
          <a:xfrm>
            <a:off x="6339840" y="1219200"/>
            <a:ext cx="5449824" cy="268224"/>
          </a:xfrm>
          <a:prstGeom prst="rect">
            <a:avLst/>
          </a:prstGeom>
          <a:noFill/>
          <a:ln/>
        </p:spPr>
        <p:txBody>
          <a:bodyPr wrap="square" lIns="0" tIns="0" rIns="0" bIns="0" rtlCol="0" anchor="ctr"/>
          <a:lstStyle/>
          <a:p>
            <a:r>
              <a:rPr lang="en-US" sz="1000" b="1" kern="0" spc="160" dirty="0">
                <a:solidFill>
                  <a:srgbClr val="FBBF24"/>
                </a:solidFill>
                <a:latin typeface="Calibri" pitchFamily="34" charset="0"/>
                <a:ea typeface="Calibri" pitchFamily="34" charset="-122"/>
                <a:cs typeface="Calibri" pitchFamily="34" charset="-120"/>
              </a:rPr>
              <a:t>PUNTOS CLAVE A RECORDAR</a:t>
            </a:r>
            <a:endParaRPr lang="en-US" sz="1000" dirty="0"/>
          </a:p>
        </p:txBody>
      </p:sp>
      <p:sp>
        <p:nvSpPr>
          <p:cNvPr id="18" name="Text 16"/>
          <p:cNvSpPr/>
          <p:nvPr/>
        </p:nvSpPr>
        <p:spPr>
          <a:xfrm>
            <a:off x="6339840" y="1536192"/>
            <a:ext cx="5449824" cy="4895088"/>
          </a:xfrm>
          <a:prstGeom prst="rect">
            <a:avLst/>
          </a:prstGeom>
          <a:noFill/>
          <a:ln/>
        </p:spPr>
        <p:txBody>
          <a:bodyPr wrap="square" lIns="0" tIns="0" rIns="0" bIns="0" rtlCol="0" anchor="t"/>
          <a:lstStyle/>
          <a:p>
            <a:pPr>
              <a:lnSpc>
                <a:spcPct val="128000"/>
              </a:lnSpc>
            </a:pP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Regla nueva post-caso: </a:t>
            </a:r>
            <a:r>
              <a:rPr lang="en-US" sz="1093" dirty="0">
                <a:solidFill>
                  <a:srgbClr val="E2E8F0"/>
                </a:solidFill>
                <a:latin typeface="Calibri" pitchFamily="34" charset="0"/>
                <a:ea typeface="Calibri" pitchFamily="34" charset="-122"/>
                <a:cs typeface="Calibri" pitchFamily="34" charset="-120"/>
              </a:rPr>
              <a:t>Desde Sprint 6: ningún conocimiento crítico puede ser de una sola persona. Pair programming obligatorio en integraciones como parte del DoD. El conocimiento compartido es un entregable.
</a:t>
            </a: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Decisión que funcionó: </a:t>
            </a:r>
            <a:r>
              <a:rPr lang="en-US" sz="1093" dirty="0">
                <a:solidFill>
                  <a:srgbClr val="E2E8F0"/>
                </a:solidFill>
                <a:latin typeface="Calibri" pitchFamily="34" charset="0"/>
                <a:ea typeface="Calibri" pitchFamily="34" charset="-122"/>
                <a:cs typeface="Calibri" pitchFamily="34" charset="-120"/>
              </a:rPr>
              <a:t>Documentación técnica como tarea del sprint (4 SP, bloqueante para Sprint 6). Transformar el handoff en un entregable concreto fue la decisión correcta.
</a:t>
            </a: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Error a no repetir: </a:t>
            </a:r>
            <a:r>
              <a:rPr lang="en-US" sz="1093" dirty="0">
                <a:solidFill>
                  <a:srgbClr val="E2E8F0"/>
                </a:solidFill>
                <a:latin typeface="Calibri" pitchFamily="34" charset="0"/>
                <a:ea typeface="Calibri" pitchFamily="34" charset="-122"/>
                <a:cs typeface="Calibri" pitchFamily="34" charset="-120"/>
              </a:rPr>
              <a:t>Llegar al Sprint 5 con una persona que concentra el 70% del conocimiento técnico sin buddy asignado. La prevención estaba en el caso 6; aquí se pagó el costo de no haberla aplicado antes.
</a:t>
            </a: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Gestión del Sponsor: </a:t>
            </a:r>
            <a:r>
              <a:rPr lang="en-US" sz="1093" dirty="0">
                <a:solidFill>
                  <a:srgbClr val="E2E8F0"/>
                </a:solidFill>
                <a:latin typeface="Calibri" pitchFamily="34" charset="0"/>
                <a:ea typeface="Calibri" pitchFamily="34" charset="-122"/>
                <a:cs typeface="Calibri" pitchFamily="34" charset="-120"/>
              </a:rPr>
              <a:t>La noticia de la renuncia y el plan de respuesta se comunican juntos, el mismo día. Nunca dar una mala noticia sin una propuesta de manejo adjunta.
</a:t>
            </a:r>
            <a:r>
              <a:rPr lang="en-US" sz="1200" b="1" dirty="0">
                <a:solidFill>
                  <a:srgbClr val="FBBF24"/>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Aprendizaje sistémico: </a:t>
            </a:r>
            <a:r>
              <a:rPr lang="en-US" sz="1093" dirty="0">
                <a:solidFill>
                  <a:srgbClr val="E2E8F0"/>
                </a:solidFill>
                <a:latin typeface="Calibri" pitchFamily="34" charset="0"/>
                <a:ea typeface="Calibri" pitchFamily="34" charset="-122"/>
                <a:cs typeface="Calibri" pitchFamily="34" charset="-120"/>
              </a:rPr>
              <a:t>Este caso es la consecuencia directa de no haber aplicado el buddy system desde el principio. Los casos 6 y 9 están conectados: la prevención del 6 habría reducido el impacto del 9.</a:t>
            </a:r>
            <a:endParaRPr lang="en-US" sz="1200" dirty="0"/>
          </a:p>
        </p:txBody>
      </p:sp>
      <p:sp>
        <p:nvSpPr>
          <p:cNvPr id="19" name="Shape 17"/>
          <p:cNvSpPr/>
          <p:nvPr/>
        </p:nvSpPr>
        <p:spPr>
          <a:xfrm>
            <a:off x="0" y="6699504"/>
            <a:ext cx="12192000" cy="158496"/>
          </a:xfrm>
          <a:prstGeom prst="rect">
            <a:avLst/>
          </a:prstGeom>
          <a:solidFill>
            <a:srgbClr val="1246B3"/>
          </a:solidFill>
          <a:ln w="12700">
            <a:solidFill>
              <a:srgbClr val="1246B3"/>
            </a:solidFill>
            <a:prstDash val="solid"/>
          </a:ln>
        </p:spPr>
      </p:sp>
      <p:sp>
        <p:nvSpPr>
          <p:cNvPr id="20" name="Text 18"/>
          <p:cNvSpPr/>
          <p:nvPr/>
        </p:nvSpPr>
        <p:spPr>
          <a:xfrm>
            <a:off x="243840" y="6565392"/>
            <a:ext cx="11704320" cy="158496"/>
          </a:xfrm>
          <a:prstGeom prst="rect">
            <a:avLst/>
          </a:prstGeom>
          <a:noFill/>
          <a:ln/>
        </p:spPr>
        <p:txBody>
          <a:bodyPr wrap="square" lIns="0" tIns="0" rIns="0" bIns="0" rtlCol="0" anchor="ctr"/>
          <a:lstStyle/>
          <a:p>
            <a:r>
              <a:rPr lang="en-US" sz="800" i="1" dirty="0">
                <a:solidFill>
                  <a:srgbClr val="475569"/>
                </a:solidFill>
                <a:latin typeface="Calibri" pitchFamily="34" charset="0"/>
                <a:ea typeface="Calibri" pitchFamily="34" charset="-122"/>
                <a:cs typeface="Calibri" pitchFamily="34" charset="-120"/>
              </a:rPr>
              <a:t>Gabriel Sandoval G.  ·  Product Owner  ·  ABP Módulo 5  ·  Rediseño Flujo Viáticos  ·  Caso 9 – Renuncia de Integrante Clave  ·  Registro de Autofeedback</a:t>
            </a:r>
            <a:endParaRPr lang="en-US" sz="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19">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3 – CASO 9</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Renuncia de un integrante del equipo</a:t>
            </a:r>
            <a:endParaRPr lang="en-US" sz="2100"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400" i="1" dirty="0">
                <a:solidFill>
                  <a:srgbClr val="38BDF8"/>
                </a:solidFill>
                <a:latin typeface="Calibri" pitchFamily="34" charset="0"/>
                <a:ea typeface="Calibri" pitchFamily="34" charset="-122"/>
                <a:cs typeface="Calibri" pitchFamily="34" charset="-120"/>
              </a:rPr>
              <a:t>Refinamiento del Backlog</a:t>
            </a:r>
            <a:endParaRPr lang="en-US" sz="14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Shape 7"/>
          <p:cNvSpPr/>
          <p:nvPr/>
        </p:nvSpPr>
        <p:spPr>
          <a:xfrm>
            <a:off x="0" y="6720840"/>
            <a:ext cx="12188952" cy="137160"/>
          </a:xfrm>
          <a:prstGeom prst="rect">
            <a:avLst/>
          </a:prstGeom>
          <a:solidFill>
            <a:srgbClr val="1246B3"/>
          </a:solidFill>
          <a:ln w="12700">
            <a:solidFill>
              <a:srgbClr val="1246B3"/>
            </a:solidFill>
            <a:prstDash val="solid"/>
          </a:ln>
        </p:spPr>
      </p:sp>
      <p:sp>
        <p:nvSpPr>
          <p:cNvPr id="10" name="Text 8"/>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14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1400" dirty="0"/>
          </a:p>
        </p:txBody>
      </p:sp>
      <p:sp>
        <p:nvSpPr>
          <p:cNvPr id="11" name="Shape 9"/>
          <p:cNvSpPr/>
          <p:nvPr/>
        </p:nvSpPr>
        <p:spPr>
          <a:xfrm>
            <a:off x="201168" y="1005840"/>
            <a:ext cx="5760720" cy="5559552"/>
          </a:xfrm>
          <a:prstGeom prst="rect">
            <a:avLst/>
          </a:prstGeom>
          <a:solidFill>
            <a:srgbClr val="0D1B3E"/>
          </a:solidFill>
          <a:ln w="12700">
            <a:solidFill>
              <a:srgbClr val="38BDF8"/>
            </a:solidFill>
            <a:prstDash val="solid"/>
          </a:ln>
        </p:spPr>
      </p:sp>
      <p:sp>
        <p:nvSpPr>
          <p:cNvPr id="12" name="Shape 10"/>
          <p:cNvSpPr/>
          <p:nvPr/>
        </p:nvSpPr>
        <p:spPr>
          <a:xfrm>
            <a:off x="201168" y="1005840"/>
            <a:ext cx="5760720" cy="32004"/>
          </a:xfrm>
          <a:prstGeom prst="rect">
            <a:avLst/>
          </a:prstGeom>
          <a:solidFill>
            <a:srgbClr val="38BDF8"/>
          </a:solidFill>
          <a:ln w="12700">
            <a:solidFill>
              <a:srgbClr val="38BDF8"/>
            </a:solidFill>
            <a:prstDash val="solid"/>
          </a:ln>
        </p:spPr>
      </p:sp>
      <p:sp>
        <p:nvSpPr>
          <p:cNvPr id="13" name="Text 11"/>
          <p:cNvSpPr/>
          <p:nvPr/>
        </p:nvSpPr>
        <p:spPr>
          <a:xfrm>
            <a:off x="347472" y="1078992"/>
            <a:ext cx="5486400" cy="237744"/>
          </a:xfrm>
          <a:prstGeom prst="rect">
            <a:avLst/>
          </a:prstGeom>
          <a:noFill/>
          <a:ln/>
        </p:spPr>
        <p:txBody>
          <a:bodyPr wrap="square" lIns="0" tIns="0" rIns="0" bIns="0" rtlCol="0" anchor="ctr"/>
          <a:lstStyle/>
          <a:p>
            <a:pPr marL="0" indent="0">
              <a:buNone/>
            </a:pPr>
            <a:r>
              <a:rPr lang="en-US" sz="1400" b="1" kern="0" spc="120" dirty="0">
                <a:solidFill>
                  <a:srgbClr val="38BDF8"/>
                </a:solidFill>
                <a:latin typeface="Calibri" pitchFamily="34" charset="0"/>
                <a:ea typeface="Calibri" pitchFamily="34" charset="-122"/>
                <a:cs typeface="Calibri" pitchFamily="34" charset="-120"/>
              </a:rPr>
              <a:t>RESOLUCIÓN APLICADA AL PROYECTO</a:t>
            </a:r>
            <a:endParaRPr lang="en-US" sz="1400" dirty="0"/>
          </a:p>
        </p:txBody>
      </p:sp>
      <p:sp>
        <p:nvSpPr>
          <p:cNvPr id="14" name="Text 12"/>
          <p:cNvSpPr/>
          <p:nvPr/>
        </p:nvSpPr>
        <p:spPr>
          <a:xfrm>
            <a:off x="347472" y="1371600"/>
            <a:ext cx="5486400" cy="5029200"/>
          </a:xfrm>
          <a:prstGeom prst="rect">
            <a:avLst/>
          </a:prstGeom>
          <a:noFill/>
          <a:ln/>
        </p:spPr>
        <p:txBody>
          <a:bodyPr wrap="square" lIns="0" tIns="0" rIns="0" bIns="0" rtlCol="0" anchor="t"/>
          <a:lstStyle/>
          <a:p>
            <a:pPr marL="0" indent="0">
              <a:lnSpc>
                <a:spcPct val="128000"/>
              </a:lnSpc>
              <a:buNone/>
            </a:pPr>
            <a:r>
              <a:rPr lang="en-US" sz="1400" b="1" dirty="0">
                <a:solidFill>
                  <a:srgbClr val="38BDF8"/>
                </a:solidFill>
                <a:latin typeface="Calibri" pitchFamily="34" charset="0"/>
                <a:ea typeface="Calibri" pitchFamily="34" charset="-122"/>
                <a:cs typeface="Calibri" pitchFamily="34" charset="-120"/>
              </a:rPr>
              <a:t>Resolución: </a:t>
            </a:r>
            <a:r>
              <a:rPr lang="en-US" sz="1400" dirty="0">
                <a:solidFill>
                  <a:srgbClr val="E2E8F0"/>
                </a:solidFill>
                <a:latin typeface="Calibri" pitchFamily="34" charset="0"/>
                <a:ea typeface="Calibri" pitchFamily="34" charset="-122"/>
                <a:cs typeface="Calibri" pitchFamily="34" charset="-120"/>
              </a:rPr>
              <a:t> Backend senior presentó renuncia con 2 semanas de aviso. Concentraba el 70% del conocimiento técnico de integración bancaria y motor de reglas. Sprint 5 tenía 42 SP, 24 SP dependían de él.
</a:t>
            </a:r>
            <a:r>
              <a:rPr lang="en-US" sz="1400" b="1" dirty="0">
                <a:solidFill>
                  <a:srgbClr val="38BDF8"/>
                </a:solidFill>
                <a:latin typeface="Calibri" pitchFamily="34" charset="0"/>
                <a:ea typeface="Calibri" pitchFamily="34" charset="-122"/>
                <a:cs typeface="Calibri" pitchFamily="34" charset="-120"/>
              </a:rPr>
              <a:t>Re-planificación: </a:t>
            </a:r>
            <a:r>
              <a:rPr lang="en-US" sz="1400" dirty="0">
                <a:solidFill>
                  <a:srgbClr val="E2E8F0"/>
                </a:solidFill>
                <a:latin typeface="Calibri" pitchFamily="34" charset="0"/>
                <a:ea typeface="Calibri" pitchFamily="34" charset="-122"/>
                <a:cs typeface="Calibri" pitchFamily="34" charset="-120"/>
              </a:rPr>
              <a:t> Capacidad ajustada de 42 SP a 28 SP. Protocolo de traspaso inmediato: 50% desarrollo + 50% documentación. Priorización: HU10 offline (8 SP) + HU22 Dashboard Auditoría (8 SP) + Motor reglas documentadas (8 SP) + Traspaso técnico (4 SP).
</a:t>
            </a:r>
            <a:r>
              <a:rPr lang="en-US" sz="1400" b="1" dirty="0">
                <a:solidFill>
                  <a:srgbClr val="38BDF8"/>
                </a:solidFill>
                <a:latin typeface="Calibri" pitchFamily="34" charset="0"/>
                <a:ea typeface="Calibri" pitchFamily="34" charset="-122"/>
                <a:cs typeface="Calibri" pitchFamily="34" charset="-120"/>
              </a:rPr>
              <a:t>Acciones de continuidad: </a:t>
            </a:r>
            <a:r>
              <a:rPr lang="en-US" sz="1400" dirty="0">
                <a:solidFill>
                  <a:srgbClr val="E2E8F0"/>
                </a:solidFill>
                <a:latin typeface="Calibri" pitchFamily="34" charset="0"/>
                <a:ea typeface="Calibri" pitchFamily="34" charset="-122"/>
                <a:cs typeface="Calibri" pitchFamily="34" charset="-120"/>
              </a:rPr>
              <a:t> Día 1: sesión traspaso 4 horas con equipo técnico. Día 3: documentación API + motor en Confluence (condición bloqueante). Se evalúa freelance externo para Sprint 6. Sponsor informado el mismo día.</a:t>
            </a:r>
            <a:endParaRPr lang="en-US" sz="1400" dirty="0"/>
          </a:p>
        </p:txBody>
      </p:sp>
      <p:sp>
        <p:nvSpPr>
          <p:cNvPr id="15" name="Shape 13"/>
          <p:cNvSpPr/>
          <p:nvPr/>
        </p:nvSpPr>
        <p:spPr>
          <a:xfrm>
            <a:off x="6144768" y="1005840"/>
            <a:ext cx="5852160" cy="5559552"/>
          </a:xfrm>
          <a:prstGeom prst="rect">
            <a:avLst/>
          </a:prstGeom>
          <a:solidFill>
            <a:srgbClr val="091428"/>
          </a:solidFill>
          <a:ln w="12700">
            <a:solidFill>
              <a:srgbClr val="FBBF24"/>
            </a:solidFill>
            <a:prstDash val="solid"/>
          </a:ln>
        </p:spPr>
      </p:sp>
      <p:sp>
        <p:nvSpPr>
          <p:cNvPr id="16" name="Shape 14"/>
          <p:cNvSpPr/>
          <p:nvPr/>
        </p:nvSpPr>
        <p:spPr>
          <a:xfrm>
            <a:off x="6144768" y="1005840"/>
            <a:ext cx="5852160" cy="32004"/>
          </a:xfrm>
          <a:prstGeom prst="rect">
            <a:avLst/>
          </a:prstGeom>
          <a:solidFill>
            <a:srgbClr val="FBBF24"/>
          </a:solidFill>
          <a:ln w="12700">
            <a:solidFill>
              <a:srgbClr val="FBBF24"/>
            </a:solidFill>
            <a:prstDash val="solid"/>
          </a:ln>
        </p:spPr>
      </p:sp>
      <p:sp>
        <p:nvSpPr>
          <p:cNvPr id="17" name="Text 15"/>
          <p:cNvSpPr/>
          <p:nvPr/>
        </p:nvSpPr>
        <p:spPr>
          <a:xfrm>
            <a:off x="6291072" y="1078992"/>
            <a:ext cx="5623560" cy="237744"/>
          </a:xfrm>
          <a:prstGeom prst="rect">
            <a:avLst/>
          </a:prstGeom>
          <a:noFill/>
          <a:ln/>
        </p:spPr>
        <p:txBody>
          <a:bodyPr wrap="square" lIns="0" tIns="0" rIns="0" bIns="0" rtlCol="0" anchor="ctr"/>
          <a:lstStyle/>
          <a:p>
            <a:pPr marL="0" indent="0">
              <a:buNone/>
            </a:pPr>
            <a:r>
              <a:rPr lang="en-US" sz="1400" b="1" kern="0" spc="120" dirty="0">
                <a:solidFill>
                  <a:srgbClr val="FBBF24"/>
                </a:solidFill>
                <a:latin typeface="Calibri" pitchFamily="34" charset="0"/>
                <a:ea typeface="Calibri" pitchFamily="34" charset="-122"/>
                <a:cs typeface="Calibri" pitchFamily="34" charset="-120"/>
              </a:rPr>
              <a:t>BACKLOG ACTUALIZADO </a:t>
            </a:r>
            <a:endParaRPr lang="en-US" sz="1400" dirty="0"/>
          </a:p>
        </p:txBody>
      </p:sp>
      <p:sp>
        <p:nvSpPr>
          <p:cNvPr id="18" name="Text 16"/>
          <p:cNvSpPr/>
          <p:nvPr/>
        </p:nvSpPr>
        <p:spPr>
          <a:xfrm>
            <a:off x="6291072" y="1371600"/>
            <a:ext cx="5623560" cy="5029200"/>
          </a:xfrm>
          <a:prstGeom prst="rect">
            <a:avLst/>
          </a:prstGeom>
          <a:noFill/>
          <a:ln/>
        </p:spPr>
        <p:txBody>
          <a:bodyPr wrap="square" lIns="0" tIns="0" rIns="0" bIns="0" rtlCol="0" anchor="t"/>
          <a:lstStyle/>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Sprint 5 – Alcance ajustado: </a:t>
            </a:r>
            <a:r>
              <a:rPr lang="en-US" sz="1400" dirty="0">
                <a:solidFill>
                  <a:srgbClr val="E2E8F0"/>
                </a:solidFill>
                <a:latin typeface="Calibri" pitchFamily="34" charset="0"/>
                <a:ea typeface="Calibri" pitchFamily="34" charset="-122"/>
                <a:cs typeface="Calibri" pitchFamily="34" charset="-120"/>
              </a:rPr>
              <a:t> REDUCIDO de 42 SP a 28 SP. HUs diferidas: escalabilidad nuevas áreas (8 SP) + reportería ROI (6 SP). Aprobado por PO y Sponsor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Tarea crítica Sprint 5: </a:t>
            </a:r>
            <a:r>
              <a:rPr lang="en-US" sz="1400" dirty="0">
                <a:solidFill>
                  <a:srgbClr val="E2E8F0"/>
                </a:solidFill>
                <a:latin typeface="Calibri" pitchFamily="34" charset="0"/>
                <a:ea typeface="Calibri" pitchFamily="34" charset="-122"/>
                <a:cs typeface="Calibri" pitchFamily="34" charset="-120"/>
              </a:rPr>
              <a:t> 'Traspaso técnico HANDOFF – documentar arquitectura API + motor reglas en Confluence' (4 SP, bloqueante). Fecha límite: día 5 Sprint 5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HU-T04 – Documentación técnica: </a:t>
            </a:r>
            <a:r>
              <a:rPr lang="en-US" sz="1400" dirty="0">
                <a:solidFill>
                  <a:srgbClr val="E2E8F0"/>
                </a:solidFill>
                <a:latin typeface="Calibri" pitchFamily="34" charset="0"/>
                <a:ea typeface="Calibri" pitchFamily="34" charset="-122"/>
                <a:cs typeface="Calibri" pitchFamily="34" charset="-120"/>
              </a:rPr>
              <a:t> NUEVA (4 SP, Sprint 5): documentar integración TCC + motor de reglas + lógica excepciones para que cualquier developer Junior pueda continuar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RIESGO-06 CRÍTICO: </a:t>
            </a:r>
            <a:r>
              <a:rPr lang="en-US" sz="1400" dirty="0">
                <a:solidFill>
                  <a:srgbClr val="E2E8F0"/>
                </a:solidFill>
                <a:latin typeface="Calibri" pitchFamily="34" charset="0"/>
                <a:ea typeface="Calibri" pitchFamily="34" charset="-122"/>
                <a:cs typeface="Calibri" pitchFamily="34" charset="-120"/>
              </a:rPr>
              <a:t> Go-live Sprint 6 en riesgo si no hay refuerzo técnico. Plan A: contratar freelance APIs bancarias. Plan B: extender 1 sprint con Sponsor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Acuerdo de equipo: </a:t>
            </a:r>
            <a:r>
              <a:rPr lang="en-US" sz="1400" dirty="0">
                <a:solidFill>
                  <a:srgbClr val="E2E8F0"/>
                </a:solidFill>
                <a:latin typeface="Calibri" pitchFamily="34" charset="0"/>
                <a:ea typeface="Calibri" pitchFamily="34" charset="-122"/>
                <a:cs typeface="Calibri" pitchFamily="34" charset="-120"/>
              </a:rPr>
              <a:t> Desde Sprint 6: pair programming obligatorio en integraciones críticas como parte de la DoD. Cero conocimiento de una sola persona</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85344" cy="6858000"/>
          </a:xfrm>
          <a:prstGeom prst="rect">
            <a:avLst/>
          </a:prstGeom>
          <a:solidFill>
            <a:srgbClr val="34D399"/>
          </a:solidFill>
          <a:ln w="12700">
            <a:solidFill>
              <a:srgbClr val="34D399"/>
            </a:solidFill>
            <a:prstDash val="solid"/>
          </a:ln>
        </p:spPr>
      </p:sp>
      <p:sp>
        <p:nvSpPr>
          <p:cNvPr id="3" name="Shape 1"/>
          <p:cNvSpPr/>
          <p:nvPr/>
        </p:nvSpPr>
        <p:spPr>
          <a:xfrm>
            <a:off x="85344" y="0"/>
            <a:ext cx="12106656" cy="1036320"/>
          </a:xfrm>
          <a:prstGeom prst="rect">
            <a:avLst/>
          </a:prstGeom>
          <a:solidFill>
            <a:srgbClr val="0A1428"/>
          </a:solidFill>
          <a:ln w="12700">
            <a:solidFill>
              <a:srgbClr val="0A1428"/>
            </a:solidFill>
            <a:prstDash val="solid"/>
          </a:ln>
        </p:spPr>
      </p:sp>
      <p:sp>
        <p:nvSpPr>
          <p:cNvPr id="4" name="Shape 2"/>
          <p:cNvSpPr/>
          <p:nvPr/>
        </p:nvSpPr>
        <p:spPr>
          <a:xfrm>
            <a:off x="268224" y="170688"/>
            <a:ext cx="1950720" cy="341376"/>
          </a:xfrm>
          <a:prstGeom prst="rect">
            <a:avLst/>
          </a:prstGeom>
          <a:solidFill>
            <a:srgbClr val="34D399"/>
          </a:solidFill>
          <a:ln w="12700">
            <a:solidFill>
              <a:srgbClr val="34D399"/>
            </a:solidFill>
            <a:prstDash val="solid"/>
          </a:ln>
        </p:spPr>
      </p:sp>
      <p:sp>
        <p:nvSpPr>
          <p:cNvPr id="5" name="Text 3"/>
          <p:cNvSpPr/>
          <p:nvPr/>
        </p:nvSpPr>
        <p:spPr>
          <a:xfrm>
            <a:off x="268224" y="170688"/>
            <a:ext cx="1950720" cy="341376"/>
          </a:xfrm>
          <a:prstGeom prst="rect">
            <a:avLst/>
          </a:prstGeom>
          <a:noFill/>
          <a:ln/>
        </p:spPr>
        <p:txBody>
          <a:bodyPr wrap="square" lIns="0" tIns="0" rIns="0" bIns="0" rtlCol="0" anchor="ctr"/>
          <a:lstStyle/>
          <a:p>
            <a:pPr algn="ctr"/>
            <a:r>
              <a:rPr lang="en-US" sz="1067" b="1" kern="0" spc="267" dirty="0">
                <a:solidFill>
                  <a:srgbClr val="FFFFFF"/>
                </a:solidFill>
                <a:latin typeface="Calibri" pitchFamily="34" charset="0"/>
                <a:ea typeface="Calibri" pitchFamily="34" charset="-122"/>
                <a:cs typeface="Calibri" pitchFamily="34" charset="-120"/>
              </a:rPr>
              <a:t>CASO 10</a:t>
            </a:r>
            <a:endParaRPr lang="en-US" sz="1067" dirty="0"/>
          </a:p>
        </p:txBody>
      </p:sp>
      <p:sp>
        <p:nvSpPr>
          <p:cNvPr id="7" name="Text 5"/>
          <p:cNvSpPr/>
          <p:nvPr/>
        </p:nvSpPr>
        <p:spPr>
          <a:xfrm>
            <a:off x="2316480" y="170688"/>
            <a:ext cx="2316480" cy="341376"/>
          </a:xfrm>
          <a:prstGeom prst="rect">
            <a:avLst/>
          </a:prstGeom>
          <a:noFill/>
          <a:ln/>
        </p:spPr>
        <p:txBody>
          <a:bodyPr wrap="square" lIns="0" tIns="0" rIns="0" bIns="0" rtlCol="0" anchor="ctr"/>
          <a:lstStyle/>
          <a:p>
            <a:pPr algn="ctr"/>
            <a:endParaRPr lang="en-US" sz="1000" dirty="0"/>
          </a:p>
        </p:txBody>
      </p:sp>
      <p:sp>
        <p:nvSpPr>
          <p:cNvPr id="8" name="Text 6"/>
          <p:cNvSpPr/>
          <p:nvPr/>
        </p:nvSpPr>
        <p:spPr>
          <a:xfrm>
            <a:off x="3661410" y="134112"/>
            <a:ext cx="7071360" cy="487680"/>
          </a:xfrm>
          <a:prstGeom prst="rect">
            <a:avLst/>
          </a:prstGeom>
          <a:noFill/>
          <a:ln/>
        </p:spPr>
        <p:txBody>
          <a:bodyPr wrap="square" lIns="0" tIns="0" rIns="0" bIns="0" rtlCol="0" anchor="ctr"/>
          <a:lstStyle/>
          <a:p>
            <a:r>
              <a:rPr lang="en-US" sz="2400" b="1" dirty="0">
                <a:solidFill>
                  <a:srgbClr val="FFFFFF"/>
                </a:solidFill>
                <a:latin typeface="Calibri" pitchFamily="34" charset="0"/>
                <a:ea typeface="Calibri" pitchFamily="34" charset="-122"/>
                <a:cs typeface="Calibri" pitchFamily="34" charset="-120"/>
              </a:rPr>
              <a:t>Error Crítico: Pagos Duplicados en Producción</a:t>
            </a:r>
            <a:endParaRPr lang="en-US" sz="2400" dirty="0"/>
          </a:p>
        </p:txBody>
      </p:sp>
      <p:sp>
        <p:nvSpPr>
          <p:cNvPr id="9" name="Text 7"/>
          <p:cNvSpPr/>
          <p:nvPr/>
        </p:nvSpPr>
        <p:spPr>
          <a:xfrm>
            <a:off x="268224" y="633984"/>
            <a:ext cx="11655552" cy="292608"/>
          </a:xfrm>
          <a:prstGeom prst="rect">
            <a:avLst/>
          </a:prstGeom>
          <a:noFill/>
          <a:ln/>
        </p:spPr>
        <p:txBody>
          <a:bodyPr wrap="square" lIns="0" tIns="0" rIns="0" bIns="0" rtlCol="0" anchor="ctr"/>
          <a:lstStyle/>
          <a:p>
            <a:r>
              <a:rPr lang="en-US" sz="1133" i="1" dirty="0">
                <a:solidFill>
                  <a:srgbClr val="38BDF8"/>
                </a:solidFill>
                <a:latin typeface="Calibri" pitchFamily="34" charset="0"/>
                <a:ea typeface="Calibri" pitchFamily="34" charset="-122"/>
                <a:cs typeface="Calibri" pitchFamily="34" charset="-120"/>
              </a:rPr>
              <a:t>Doble tap en botón 'Enviar rendición' genera registros duplicados · piloto suspendido · Sprint 5</a:t>
            </a:r>
            <a:endParaRPr lang="en-US" sz="1133" dirty="0"/>
          </a:p>
        </p:txBody>
      </p:sp>
      <p:sp>
        <p:nvSpPr>
          <p:cNvPr id="10" name="Shape 8"/>
          <p:cNvSpPr/>
          <p:nvPr/>
        </p:nvSpPr>
        <p:spPr>
          <a:xfrm>
            <a:off x="85344" y="1036321"/>
            <a:ext cx="12106656" cy="26823"/>
          </a:xfrm>
          <a:prstGeom prst="rect">
            <a:avLst/>
          </a:prstGeom>
          <a:solidFill>
            <a:srgbClr val="34D399"/>
          </a:solidFill>
          <a:ln w="12700">
            <a:solidFill>
              <a:srgbClr val="34D399"/>
            </a:solidFill>
            <a:prstDash val="solid"/>
          </a:ln>
        </p:spPr>
      </p:sp>
      <p:sp>
        <p:nvSpPr>
          <p:cNvPr id="11" name="Shape 9"/>
          <p:cNvSpPr/>
          <p:nvPr/>
        </p:nvSpPr>
        <p:spPr>
          <a:xfrm>
            <a:off x="268224" y="1133856"/>
            <a:ext cx="5754624" cy="5382768"/>
          </a:xfrm>
          <a:prstGeom prst="rect">
            <a:avLst/>
          </a:prstGeom>
          <a:solidFill>
            <a:srgbClr val="0B1A3A"/>
          </a:solidFill>
          <a:ln w="12700">
            <a:solidFill>
              <a:srgbClr val="34D399"/>
            </a:solidFill>
            <a:prstDash val="solid"/>
          </a:ln>
        </p:spPr>
      </p:sp>
      <p:sp>
        <p:nvSpPr>
          <p:cNvPr id="12" name="Shape 10"/>
          <p:cNvSpPr/>
          <p:nvPr/>
        </p:nvSpPr>
        <p:spPr>
          <a:xfrm>
            <a:off x="268224" y="1133856"/>
            <a:ext cx="5754624" cy="36576"/>
          </a:xfrm>
          <a:prstGeom prst="rect">
            <a:avLst/>
          </a:prstGeom>
          <a:solidFill>
            <a:srgbClr val="34D399"/>
          </a:solidFill>
          <a:ln w="12700">
            <a:solidFill>
              <a:srgbClr val="34D399"/>
            </a:solidFill>
            <a:prstDash val="solid"/>
          </a:ln>
        </p:spPr>
      </p:sp>
      <p:sp>
        <p:nvSpPr>
          <p:cNvPr id="13" name="Text 11"/>
          <p:cNvSpPr/>
          <p:nvPr/>
        </p:nvSpPr>
        <p:spPr>
          <a:xfrm>
            <a:off x="438912" y="1219200"/>
            <a:ext cx="5449824" cy="268224"/>
          </a:xfrm>
          <a:prstGeom prst="rect">
            <a:avLst/>
          </a:prstGeom>
          <a:noFill/>
          <a:ln/>
        </p:spPr>
        <p:txBody>
          <a:bodyPr wrap="square" lIns="0" tIns="0" rIns="0" bIns="0" rtlCol="0" anchor="ctr"/>
          <a:lstStyle/>
          <a:p>
            <a:r>
              <a:rPr lang="en-US" sz="1000" b="1" kern="0" spc="160" dirty="0">
                <a:solidFill>
                  <a:srgbClr val="34D399"/>
                </a:solidFill>
                <a:latin typeface="Calibri" pitchFamily="34" charset="0"/>
                <a:ea typeface="Calibri" pitchFamily="34" charset="-122"/>
                <a:cs typeface="Calibri" pitchFamily="34" charset="-120"/>
              </a:rPr>
              <a:t>DECISIONES Y RAZONAMIENTO</a:t>
            </a:r>
            <a:endParaRPr lang="en-US" sz="1000" dirty="0"/>
          </a:p>
        </p:txBody>
      </p:sp>
      <p:sp>
        <p:nvSpPr>
          <p:cNvPr id="14" name="Text 12"/>
          <p:cNvSpPr/>
          <p:nvPr/>
        </p:nvSpPr>
        <p:spPr>
          <a:xfrm>
            <a:off x="438912" y="1536192"/>
            <a:ext cx="5449824" cy="4895088"/>
          </a:xfrm>
          <a:prstGeom prst="rect">
            <a:avLst/>
          </a:prstGeom>
          <a:noFill/>
          <a:ln/>
        </p:spPr>
        <p:txBody>
          <a:bodyPr wrap="square" lIns="0" tIns="0" rIns="0" bIns="0" rtlCol="0" anchor="t"/>
          <a:lstStyle/>
          <a:p>
            <a:pPr>
              <a:lnSpc>
                <a:spcPct val="128000"/>
              </a:lnSpc>
            </a:pPr>
            <a:r>
              <a:rPr lang="en-US" sz="1093" b="1" dirty="0">
                <a:solidFill>
                  <a:srgbClr val="34D399"/>
                </a:solidFill>
                <a:latin typeface="Calibri" pitchFamily="34" charset="0"/>
                <a:ea typeface="Calibri" pitchFamily="34" charset="-122"/>
                <a:cs typeface="Calibri" pitchFamily="34" charset="-120"/>
              </a:rPr>
              <a:t>Tomé la decisión difícil: suspender el piloto de inmediato. </a:t>
            </a:r>
            <a:r>
              <a:rPr lang="en-US" sz="1093" dirty="0">
                <a:solidFill>
                  <a:srgbClr val="E2E8F0"/>
                </a:solidFill>
                <a:latin typeface="Calibri" pitchFamily="34" charset="0"/>
                <a:ea typeface="Calibri" pitchFamily="34" charset="-122"/>
                <a:cs typeface="Calibri" pitchFamily="34" charset="-120"/>
              </a:rPr>
              <a:t>Cuando se detectó el duplicado en el piloto, la tentación era seguir y ver si el error se repetía. La decisión correcta fue suspender el piloto ese mismo día: un error de integridad financiera en producción no se puede observar, se debe corregir. Esta decisión costó visibilidad ante los 10 choferes del piloto, pero protegió la confianza en el sistema. Autofeedback: ante un error financiero, la credibilidad del sistema vale más que el calendario.
</a:t>
            </a:r>
            <a:r>
              <a:rPr lang="en-US" sz="1093" b="1" dirty="0">
                <a:solidFill>
                  <a:srgbClr val="34D399"/>
                </a:solidFill>
                <a:latin typeface="Calibri" pitchFamily="34" charset="0"/>
                <a:ea typeface="Calibri" pitchFamily="34" charset="-122"/>
                <a:cs typeface="Calibri" pitchFamily="34" charset="-120"/>
              </a:rPr>
              <a:t>Clasifiqué el error como P1 Crítico y restructuré el sprint. </a:t>
            </a:r>
            <a:r>
              <a:rPr lang="en-US" sz="1093" dirty="0">
                <a:solidFill>
                  <a:srgbClr val="E2E8F0"/>
                </a:solidFill>
                <a:latin typeface="Calibri" pitchFamily="34" charset="0"/>
                <a:ea typeface="Calibri" pitchFamily="34" charset="-122"/>
                <a:cs typeface="Calibri" pitchFamily="34" charset="-120"/>
              </a:rPr>
              <a:t>El bug de duplicación pasó a ser el ítem #1 del Sprint 5, bloqueando todo lo demás hasta estar resuelto y regresionado. No hubo debate sobre si era 'urgente': cualquier error que afecte la integridad financiera o de auditoría es P1 por definición. Lección: el PO debe tener criterios pre-establecidos de clasificación de severidad para no perder tiempo debatiendo prioridades en crisis.
</a:t>
            </a:r>
            <a:r>
              <a:rPr lang="en-US" sz="1093" b="1" dirty="0">
                <a:solidFill>
                  <a:srgbClr val="34D399"/>
                </a:solidFill>
                <a:latin typeface="Calibri" pitchFamily="34" charset="0"/>
                <a:ea typeface="Calibri" pitchFamily="34" charset="-122"/>
                <a:cs typeface="Calibri" pitchFamily="34" charset="-120"/>
              </a:rPr>
              <a:t>Exigí una solución que también previniera, no solo que reparara. </a:t>
            </a:r>
            <a:r>
              <a:rPr lang="en-US" sz="1093" dirty="0">
                <a:solidFill>
                  <a:srgbClr val="E2E8F0"/>
                </a:solidFill>
                <a:latin typeface="Calibri" pitchFamily="34" charset="0"/>
                <a:ea typeface="Calibri" pitchFamily="34" charset="-122"/>
                <a:cs typeface="Calibri" pitchFamily="34" charset="-120"/>
              </a:rPr>
              <a:t>El token de idempotencia resuelve el error, pero la prueba de regresión permanente en el pipeline CI/CD previene que vuelva. Establecer que esta prueba nunca puede ser desactivada ni eliminada fue una decisión de producto y de arquitectura que el PO validó y documentó. Autofeedback: en errores críticos, el criterio de 'arreglado' incluye la garantía de que no se repetirá.
</a:t>
            </a:r>
            <a:r>
              <a:rPr lang="en-US" sz="1093" b="1" dirty="0">
                <a:solidFill>
                  <a:srgbClr val="34D399"/>
                </a:solidFill>
                <a:latin typeface="Calibri" pitchFamily="34" charset="0"/>
                <a:ea typeface="Calibri" pitchFamily="34" charset="-122"/>
                <a:cs typeface="Calibri" pitchFamily="34" charset="-120"/>
              </a:rPr>
              <a:t>Reactivé el piloto con criterios medibles, no con esperanzas. </a:t>
            </a:r>
            <a:r>
              <a:rPr lang="en-US" sz="1093" dirty="0">
                <a:solidFill>
                  <a:srgbClr val="E2E8F0"/>
                </a:solidFill>
                <a:latin typeface="Calibri" pitchFamily="34" charset="0"/>
                <a:ea typeface="Calibri" pitchFamily="34" charset="-122"/>
                <a:cs typeface="Calibri" pitchFamily="34" charset="-120"/>
              </a:rPr>
              <a:t>La condición para reactivar el piloto fue específica: fix en producción + prueba regresión verde + QA valida manualmente con 5 choferes + 0 duplicados en 24 horas de monitoreo. No 'cuando esté listo', no 'cuando el equipo lo confirme'. Criterios verificables con nombres y fechas. Lección final de autofeedback: la confianza en un sistema corregido se reconstruye con evidencia, no con declaraciones.</a:t>
            </a:r>
            <a:endParaRPr lang="en-US" sz="1093" dirty="0"/>
          </a:p>
        </p:txBody>
      </p:sp>
      <p:sp>
        <p:nvSpPr>
          <p:cNvPr id="15" name="Shape 13"/>
          <p:cNvSpPr/>
          <p:nvPr/>
        </p:nvSpPr>
        <p:spPr>
          <a:xfrm>
            <a:off x="6169152" y="1133856"/>
            <a:ext cx="5754624" cy="5382768"/>
          </a:xfrm>
          <a:prstGeom prst="rect">
            <a:avLst/>
          </a:prstGeom>
          <a:solidFill>
            <a:srgbClr val="091428"/>
          </a:solidFill>
          <a:ln w="12700">
            <a:solidFill>
              <a:srgbClr val="38BDF8"/>
            </a:solidFill>
            <a:prstDash val="solid"/>
          </a:ln>
        </p:spPr>
      </p:sp>
      <p:sp>
        <p:nvSpPr>
          <p:cNvPr id="16" name="Shape 14"/>
          <p:cNvSpPr/>
          <p:nvPr/>
        </p:nvSpPr>
        <p:spPr>
          <a:xfrm>
            <a:off x="6169152" y="1133856"/>
            <a:ext cx="5754624" cy="36576"/>
          </a:xfrm>
          <a:prstGeom prst="rect">
            <a:avLst/>
          </a:prstGeom>
          <a:solidFill>
            <a:srgbClr val="38BDF8"/>
          </a:solidFill>
          <a:ln w="12700">
            <a:solidFill>
              <a:srgbClr val="38BDF8"/>
            </a:solidFill>
            <a:prstDash val="solid"/>
          </a:ln>
        </p:spPr>
      </p:sp>
      <p:sp>
        <p:nvSpPr>
          <p:cNvPr id="17" name="Text 15"/>
          <p:cNvSpPr/>
          <p:nvPr/>
        </p:nvSpPr>
        <p:spPr>
          <a:xfrm>
            <a:off x="6339840" y="1219200"/>
            <a:ext cx="5449824" cy="268224"/>
          </a:xfrm>
          <a:prstGeom prst="rect">
            <a:avLst/>
          </a:prstGeom>
          <a:noFill/>
          <a:ln/>
        </p:spPr>
        <p:txBody>
          <a:bodyPr wrap="square" lIns="0" tIns="0" rIns="0" bIns="0" rtlCol="0" anchor="ctr"/>
          <a:lstStyle/>
          <a:p>
            <a:r>
              <a:rPr lang="en-US" sz="1000" b="1" kern="0" spc="160" dirty="0">
                <a:solidFill>
                  <a:srgbClr val="38BDF8"/>
                </a:solidFill>
                <a:latin typeface="Calibri" pitchFamily="34" charset="0"/>
                <a:ea typeface="Calibri" pitchFamily="34" charset="-122"/>
                <a:cs typeface="Calibri" pitchFamily="34" charset="-120"/>
              </a:rPr>
              <a:t>PUNTOS CLAVE A RECORDAR</a:t>
            </a:r>
            <a:endParaRPr lang="en-US" sz="1000" dirty="0"/>
          </a:p>
        </p:txBody>
      </p:sp>
      <p:sp>
        <p:nvSpPr>
          <p:cNvPr id="18" name="Text 16"/>
          <p:cNvSpPr/>
          <p:nvPr/>
        </p:nvSpPr>
        <p:spPr>
          <a:xfrm>
            <a:off x="6339840" y="1536192"/>
            <a:ext cx="5449824" cy="4895088"/>
          </a:xfrm>
          <a:prstGeom prst="rect">
            <a:avLst/>
          </a:prstGeom>
          <a:noFill/>
          <a:ln/>
        </p:spPr>
        <p:txBody>
          <a:bodyPr wrap="square" lIns="0" tIns="0" rIns="0" bIns="0" rtlCol="0" anchor="t"/>
          <a:lstStyle/>
          <a:p>
            <a:pPr>
              <a:lnSpc>
                <a:spcPct val="128000"/>
              </a:lnSpc>
            </a:pP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Decisión correcta: </a:t>
            </a:r>
            <a:r>
              <a:rPr lang="en-US" sz="1093" dirty="0">
                <a:solidFill>
                  <a:srgbClr val="E2E8F0"/>
                </a:solidFill>
                <a:latin typeface="Calibri" pitchFamily="34" charset="0"/>
                <a:ea typeface="Calibri" pitchFamily="34" charset="-122"/>
                <a:cs typeface="Calibri" pitchFamily="34" charset="-120"/>
              </a:rPr>
              <a:t>Suspender el piloto inmediatamente. Ante un error de integridad financiera, continuar y observar no es una opción válida. La credibilidad del sistema es el activo más importante en un piloto.
</a:t>
            </a: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Criterio de severidad: </a:t>
            </a:r>
            <a:r>
              <a:rPr lang="en-US" sz="1093" dirty="0">
                <a:solidFill>
                  <a:srgbClr val="E2E8F0"/>
                </a:solidFill>
                <a:latin typeface="Calibri" pitchFamily="34" charset="0"/>
                <a:ea typeface="Calibri" pitchFamily="34" charset="-122"/>
                <a:cs typeface="Calibri" pitchFamily="34" charset="-120"/>
              </a:rPr>
              <a:t>Todo error que afecte integridad financiera, de auditoría o de datos personales es P1 automáticamente. Definir estos criterios antes de que ocurra el primer bug.
</a:t>
            </a: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Aprendizaje de diseño: </a:t>
            </a:r>
            <a:r>
              <a:rPr lang="en-US" sz="1093" dirty="0">
                <a:solidFill>
                  <a:srgbClr val="E2E8F0"/>
                </a:solidFill>
                <a:latin typeface="Calibri" pitchFamily="34" charset="0"/>
                <a:ea typeface="Calibri" pitchFamily="34" charset="-122"/>
                <a:cs typeface="Calibri" pitchFamily="34" charset="-120"/>
              </a:rPr>
              <a:t>Los botones de acción con impacto financiero (enviar, aprobar, rechazar) deben tener protección de idempotencia desde el diseño inicial. No es un detalle técnico, es un requisito de negocio.
</a:t>
            </a: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Herramienta clave: </a:t>
            </a:r>
            <a:r>
              <a:rPr lang="en-US" sz="1093" dirty="0">
                <a:solidFill>
                  <a:srgbClr val="E2E8F0"/>
                </a:solidFill>
                <a:latin typeface="Calibri" pitchFamily="34" charset="0"/>
                <a:ea typeface="Calibri" pitchFamily="34" charset="-122"/>
                <a:cs typeface="Calibri" pitchFamily="34" charset="-120"/>
              </a:rPr>
              <a:t>Prueba de regresión permanente en CI/CD que simula el doble envío. Esta prueba existe para siempre porque el error es grave. El pipeline es la primera línea de defensa.
</a:t>
            </a:r>
            <a:r>
              <a:rPr lang="en-US" sz="1200" b="1" dirty="0">
                <a:solidFill>
                  <a:srgbClr val="38BDF8"/>
                </a:solidFill>
                <a:latin typeface="Calibri" pitchFamily="34" charset="0"/>
                <a:ea typeface="Calibri" pitchFamily="34" charset="-122"/>
                <a:cs typeface="Calibri" pitchFamily="34" charset="-120"/>
              </a:rPr>
              <a:t>▸  </a:t>
            </a:r>
            <a:r>
              <a:rPr lang="en-US" sz="1093" b="1" dirty="0">
                <a:solidFill>
                  <a:srgbClr val="FFFFFF"/>
                </a:solidFill>
                <a:latin typeface="Calibri" pitchFamily="34" charset="0"/>
                <a:ea typeface="Calibri" pitchFamily="34" charset="-122"/>
                <a:cs typeface="Calibri" pitchFamily="34" charset="-120"/>
              </a:rPr>
              <a:t>Frase de cierre: </a:t>
            </a:r>
            <a:r>
              <a:rPr lang="en-US" sz="1093" dirty="0">
                <a:solidFill>
                  <a:srgbClr val="E2E8F0"/>
                </a:solidFill>
                <a:latin typeface="Calibri" pitchFamily="34" charset="0"/>
                <a:ea typeface="Calibri" pitchFamily="34" charset="-122"/>
                <a:cs typeface="Calibri" pitchFamily="34" charset="-120"/>
              </a:rPr>
              <a:t>'Un bug en producción que afecta dinero tiene siempre impacto en la confianza. La confianza se pierde en minutos y se reconstruye en semanas. Protegerla es prioridad sobre cualquier calendario.'</a:t>
            </a:r>
            <a:endParaRPr lang="en-US" sz="1200" dirty="0"/>
          </a:p>
        </p:txBody>
      </p:sp>
      <p:sp>
        <p:nvSpPr>
          <p:cNvPr id="19" name="Shape 17"/>
          <p:cNvSpPr/>
          <p:nvPr/>
        </p:nvSpPr>
        <p:spPr>
          <a:xfrm>
            <a:off x="0" y="6699504"/>
            <a:ext cx="12192000" cy="158496"/>
          </a:xfrm>
          <a:prstGeom prst="rect">
            <a:avLst/>
          </a:prstGeom>
          <a:solidFill>
            <a:srgbClr val="1246B3"/>
          </a:solidFill>
          <a:ln w="12700">
            <a:solidFill>
              <a:srgbClr val="1246B3"/>
            </a:solidFill>
            <a:prstDash val="solid"/>
          </a:ln>
        </p:spPr>
      </p:sp>
      <p:sp>
        <p:nvSpPr>
          <p:cNvPr id="20" name="Text 18"/>
          <p:cNvSpPr/>
          <p:nvPr/>
        </p:nvSpPr>
        <p:spPr>
          <a:xfrm>
            <a:off x="243840" y="6565392"/>
            <a:ext cx="11704320" cy="158496"/>
          </a:xfrm>
          <a:prstGeom prst="rect">
            <a:avLst/>
          </a:prstGeom>
          <a:noFill/>
          <a:ln/>
        </p:spPr>
        <p:txBody>
          <a:bodyPr wrap="square" lIns="0" tIns="0" rIns="0" bIns="0" rtlCol="0" anchor="ctr"/>
          <a:lstStyle/>
          <a:p>
            <a:r>
              <a:rPr lang="en-US" sz="800" i="1" dirty="0">
                <a:solidFill>
                  <a:srgbClr val="475569"/>
                </a:solidFill>
                <a:latin typeface="Calibri" pitchFamily="34" charset="0"/>
                <a:ea typeface="Calibri" pitchFamily="34" charset="-122"/>
                <a:cs typeface="Calibri" pitchFamily="34" charset="-120"/>
              </a:rPr>
              <a:t>Gabriel Sandoval G.  ·  Product Owner  ·  ABP Módulo 5  ·  Rediseño Flujo Viáticos  ·  Caso 10 – Error Crítico Pagos Duplicados  ·  Registro de Autofeedback</a:t>
            </a:r>
            <a:endParaRPr lang="en-US" sz="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Slide 20">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1246B3"/>
          </a:solidFill>
          <a:ln w="12700">
            <a:solidFill>
              <a:srgbClr val="1246B3"/>
            </a:solidFill>
            <a:prstDash val="solid"/>
          </a:ln>
        </p:spPr>
      </p:sp>
      <p:sp>
        <p:nvSpPr>
          <p:cNvPr id="3" name="Shape 1"/>
          <p:cNvSpPr/>
          <p:nvPr/>
        </p:nvSpPr>
        <p:spPr>
          <a:xfrm>
            <a:off x="82296" y="0"/>
            <a:ext cx="12106656" cy="914400"/>
          </a:xfrm>
          <a:prstGeom prst="rect">
            <a:avLst/>
          </a:prstGeom>
          <a:solidFill>
            <a:srgbClr val="0A1428"/>
          </a:solidFill>
          <a:ln w="12700">
            <a:solidFill>
              <a:srgbClr val="0A1428"/>
            </a:solidFill>
            <a:prstDash val="solid"/>
          </a:ln>
        </p:spPr>
      </p:sp>
      <p:sp>
        <p:nvSpPr>
          <p:cNvPr id="4" name="Shape 2"/>
          <p:cNvSpPr/>
          <p:nvPr/>
        </p:nvSpPr>
        <p:spPr>
          <a:xfrm>
            <a:off x="228600" y="201168"/>
            <a:ext cx="1920240" cy="292608"/>
          </a:xfrm>
          <a:prstGeom prst="roundRect">
            <a:avLst>
              <a:gd name="adj" fmla="val 12500"/>
            </a:avLst>
          </a:prstGeom>
          <a:solidFill>
            <a:srgbClr val="1246B3"/>
          </a:solidFill>
          <a:ln w="12700">
            <a:solidFill>
              <a:srgbClr val="1246B3"/>
            </a:solidFill>
            <a:prstDash val="solid"/>
          </a:ln>
        </p:spPr>
      </p:sp>
      <p:sp>
        <p:nvSpPr>
          <p:cNvPr id="5" name="Text 3"/>
          <p:cNvSpPr/>
          <p:nvPr/>
        </p:nvSpPr>
        <p:spPr>
          <a:xfrm>
            <a:off x="228600" y="201168"/>
            <a:ext cx="1920240" cy="29260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ENTREGABLE 3 – CASO 10</a:t>
            </a:r>
            <a:endParaRPr lang="en-US" sz="800" dirty="0"/>
          </a:p>
        </p:txBody>
      </p:sp>
      <p:sp>
        <p:nvSpPr>
          <p:cNvPr id="6" name="Text 4"/>
          <p:cNvSpPr/>
          <p:nvPr/>
        </p:nvSpPr>
        <p:spPr>
          <a:xfrm>
            <a:off x="2331720" y="137160"/>
            <a:ext cx="8229600" cy="384048"/>
          </a:xfrm>
          <a:prstGeom prst="rect">
            <a:avLst/>
          </a:prstGeom>
          <a:noFill/>
          <a:ln/>
        </p:spPr>
        <p:txBody>
          <a:bodyPr wrap="square" lIns="0" tIns="0" rIns="0" bIns="0"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Error – Pagos Duplicados en Piloto</a:t>
            </a:r>
            <a:endParaRPr lang="en-US" sz="2100" dirty="0"/>
          </a:p>
        </p:txBody>
      </p:sp>
      <p:sp>
        <p:nvSpPr>
          <p:cNvPr id="7" name="Text 5"/>
          <p:cNvSpPr/>
          <p:nvPr/>
        </p:nvSpPr>
        <p:spPr>
          <a:xfrm>
            <a:off x="2331720" y="521208"/>
            <a:ext cx="8961120" cy="256032"/>
          </a:xfrm>
          <a:prstGeom prst="rect">
            <a:avLst/>
          </a:prstGeom>
          <a:noFill/>
          <a:ln/>
        </p:spPr>
        <p:txBody>
          <a:bodyPr wrap="square" lIns="0" tIns="0" rIns="0" bIns="0" rtlCol="0" anchor="ctr"/>
          <a:lstStyle/>
          <a:p>
            <a:pPr marL="0" indent="0" algn="l">
              <a:buNone/>
            </a:pPr>
            <a:r>
              <a:rPr lang="en-US" sz="1000" i="1" dirty="0">
                <a:solidFill>
                  <a:srgbClr val="38BDF8"/>
                </a:solidFill>
                <a:latin typeface="Calibri" pitchFamily="34" charset="0"/>
                <a:ea typeface="Calibri" pitchFamily="34" charset="-122"/>
                <a:cs typeface="Calibri" pitchFamily="34" charset="-120"/>
              </a:rPr>
              <a:t>Refinamiento del Backlog</a:t>
            </a:r>
            <a:endParaRPr lang="en-US" sz="1000" dirty="0"/>
          </a:p>
        </p:txBody>
      </p:sp>
      <p:sp>
        <p:nvSpPr>
          <p:cNvPr id="8" name="Shape 6"/>
          <p:cNvSpPr/>
          <p:nvPr/>
        </p:nvSpPr>
        <p:spPr>
          <a:xfrm>
            <a:off x="82296" y="914400"/>
            <a:ext cx="12106656" cy="27432"/>
          </a:xfrm>
          <a:prstGeom prst="rect">
            <a:avLst/>
          </a:prstGeom>
          <a:solidFill>
            <a:srgbClr val="38BDF8"/>
          </a:solidFill>
          <a:ln w="12700">
            <a:solidFill>
              <a:srgbClr val="38BDF8"/>
            </a:solidFill>
            <a:prstDash val="solid"/>
          </a:ln>
        </p:spPr>
      </p:sp>
      <p:sp>
        <p:nvSpPr>
          <p:cNvPr id="9" name="Shape 7"/>
          <p:cNvSpPr/>
          <p:nvPr/>
        </p:nvSpPr>
        <p:spPr>
          <a:xfrm>
            <a:off x="0" y="6720840"/>
            <a:ext cx="12188952" cy="137160"/>
          </a:xfrm>
          <a:prstGeom prst="rect">
            <a:avLst/>
          </a:prstGeom>
          <a:solidFill>
            <a:srgbClr val="1246B3"/>
          </a:solidFill>
          <a:ln w="12700">
            <a:solidFill>
              <a:srgbClr val="1246B3"/>
            </a:solidFill>
            <a:prstDash val="solid"/>
          </a:ln>
        </p:spPr>
      </p:sp>
      <p:sp>
        <p:nvSpPr>
          <p:cNvPr id="10" name="Text 8"/>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14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1400" dirty="0"/>
          </a:p>
        </p:txBody>
      </p:sp>
      <p:sp>
        <p:nvSpPr>
          <p:cNvPr id="11" name="Shape 9"/>
          <p:cNvSpPr/>
          <p:nvPr/>
        </p:nvSpPr>
        <p:spPr>
          <a:xfrm>
            <a:off x="201168" y="1005840"/>
            <a:ext cx="5760720" cy="5559552"/>
          </a:xfrm>
          <a:prstGeom prst="rect">
            <a:avLst/>
          </a:prstGeom>
          <a:solidFill>
            <a:srgbClr val="0D1B3E"/>
          </a:solidFill>
          <a:ln w="12700">
            <a:solidFill>
              <a:srgbClr val="38BDF8"/>
            </a:solidFill>
            <a:prstDash val="solid"/>
          </a:ln>
        </p:spPr>
      </p:sp>
      <p:sp>
        <p:nvSpPr>
          <p:cNvPr id="12" name="Shape 10"/>
          <p:cNvSpPr/>
          <p:nvPr/>
        </p:nvSpPr>
        <p:spPr>
          <a:xfrm>
            <a:off x="201168" y="1005840"/>
            <a:ext cx="5760720" cy="32004"/>
          </a:xfrm>
          <a:prstGeom prst="rect">
            <a:avLst/>
          </a:prstGeom>
          <a:solidFill>
            <a:srgbClr val="38BDF8"/>
          </a:solidFill>
          <a:ln w="12700">
            <a:solidFill>
              <a:srgbClr val="38BDF8"/>
            </a:solidFill>
            <a:prstDash val="solid"/>
          </a:ln>
        </p:spPr>
      </p:sp>
      <p:sp>
        <p:nvSpPr>
          <p:cNvPr id="13" name="Text 11"/>
          <p:cNvSpPr/>
          <p:nvPr/>
        </p:nvSpPr>
        <p:spPr>
          <a:xfrm>
            <a:off x="347472" y="1078992"/>
            <a:ext cx="5486400" cy="237744"/>
          </a:xfrm>
          <a:prstGeom prst="rect">
            <a:avLst/>
          </a:prstGeom>
          <a:noFill/>
          <a:ln/>
        </p:spPr>
        <p:txBody>
          <a:bodyPr wrap="square" lIns="0" tIns="0" rIns="0" bIns="0" rtlCol="0" anchor="ctr"/>
          <a:lstStyle/>
          <a:p>
            <a:pPr marL="0" indent="0">
              <a:buNone/>
            </a:pPr>
            <a:r>
              <a:rPr lang="en-US" sz="1400" b="1" kern="0" spc="120" dirty="0">
                <a:solidFill>
                  <a:srgbClr val="38BDF8"/>
                </a:solidFill>
                <a:latin typeface="Calibri" pitchFamily="34" charset="0"/>
                <a:ea typeface="Calibri" pitchFamily="34" charset="-122"/>
                <a:cs typeface="Calibri" pitchFamily="34" charset="-120"/>
              </a:rPr>
              <a:t>RESOLUCIÓN APLICADA AL PROYECTO</a:t>
            </a:r>
            <a:endParaRPr lang="en-US" sz="1400" dirty="0"/>
          </a:p>
        </p:txBody>
      </p:sp>
      <p:sp>
        <p:nvSpPr>
          <p:cNvPr id="14" name="Text 12"/>
          <p:cNvSpPr/>
          <p:nvPr/>
        </p:nvSpPr>
        <p:spPr>
          <a:xfrm>
            <a:off x="347472" y="1371600"/>
            <a:ext cx="5486400" cy="5029200"/>
          </a:xfrm>
          <a:prstGeom prst="rect">
            <a:avLst/>
          </a:prstGeom>
          <a:noFill/>
          <a:ln/>
        </p:spPr>
        <p:txBody>
          <a:bodyPr wrap="square" lIns="0" tIns="0" rIns="0" bIns="0" rtlCol="0" anchor="t"/>
          <a:lstStyle/>
          <a:p>
            <a:pPr marL="0" indent="0">
              <a:lnSpc>
                <a:spcPct val="128000"/>
              </a:lnSpc>
              <a:buNone/>
            </a:pPr>
            <a:r>
              <a:rPr lang="en-US" sz="1400" b="1" dirty="0">
                <a:solidFill>
                  <a:srgbClr val="38BDF8"/>
                </a:solidFill>
                <a:latin typeface="Calibri" pitchFamily="34" charset="0"/>
                <a:ea typeface="Calibri" pitchFamily="34" charset="-122"/>
                <a:cs typeface="Calibri" pitchFamily="34" charset="-120"/>
              </a:rPr>
              <a:t>Resolución: </a:t>
            </a:r>
            <a:r>
              <a:rPr lang="en-US" sz="1400" dirty="0">
                <a:solidFill>
                  <a:srgbClr val="E2E8F0"/>
                </a:solidFill>
                <a:latin typeface="Calibri" pitchFamily="34" charset="0"/>
                <a:ea typeface="Calibri" pitchFamily="34" charset="-122"/>
                <a:cs typeface="Calibri" pitchFamily="34" charset="-120"/>
              </a:rPr>
              <a:t> Piloto Sprint 5: al presionar 'Enviar rendición' dos veces rápido (doble tap), el sistema creaba 2 registros idénticos. Un chofer generó 3 duplicados en 1 hora. Compromete integridad financiera.
</a:t>
            </a:r>
            <a:r>
              <a:rPr lang="en-US" sz="1400" b="1" dirty="0">
                <a:solidFill>
                  <a:srgbClr val="38BDF8"/>
                </a:solidFill>
                <a:latin typeface="Calibri" pitchFamily="34" charset="0"/>
                <a:ea typeface="Calibri" pitchFamily="34" charset="-122"/>
                <a:cs typeface="Calibri" pitchFamily="34" charset="-120"/>
              </a:rPr>
              <a:t>Clasificación y priorización: </a:t>
            </a:r>
            <a:r>
              <a:rPr lang="en-US" sz="1400" dirty="0">
                <a:solidFill>
                  <a:srgbClr val="E2E8F0"/>
                </a:solidFill>
                <a:latin typeface="Calibri" pitchFamily="34" charset="0"/>
                <a:ea typeface="Calibri" pitchFamily="34" charset="-122"/>
                <a:cs typeface="Calibri" pitchFamily="34" charset="-120"/>
              </a:rPr>
              <a:t> Severidad P1 – Crítico. Impacto: financiero (pagos duplicados), auditoría (registros inconsistentes), confianza (piloto en pausa). Decisión día 1: piloto suspendido. El fix pasa a ser ítem #1 del Sprint 5.
</a:t>
            </a:r>
            <a:r>
              <a:rPr lang="en-US" sz="1400" b="1" dirty="0">
                <a:solidFill>
                  <a:srgbClr val="38BDF8"/>
                </a:solidFill>
                <a:latin typeface="Calibri" pitchFamily="34" charset="0"/>
                <a:ea typeface="Calibri" pitchFamily="34" charset="-122"/>
                <a:cs typeface="Calibri" pitchFamily="34" charset="-120"/>
              </a:rPr>
              <a:t>Criterios de corrección: </a:t>
            </a:r>
            <a:r>
              <a:rPr lang="en-US" sz="1400" dirty="0">
                <a:solidFill>
                  <a:srgbClr val="E2E8F0"/>
                </a:solidFill>
                <a:latin typeface="Calibri" pitchFamily="34" charset="0"/>
                <a:ea typeface="Calibri" pitchFamily="34" charset="-122"/>
                <a:cs typeface="Calibri" pitchFamily="34" charset="-120"/>
              </a:rPr>
              <a:t> Token de idempotencia único por rendición generado en frontend. Backend rechaza segundo request con mismo token. Criterio 'arreglado': 'Enviar 10 veces → 1 registro creado, 9 rechazados con log timestamp'. Prueba de regresión permanente en CI/CD.</a:t>
            </a:r>
            <a:endParaRPr lang="en-US" sz="1400" dirty="0"/>
          </a:p>
        </p:txBody>
      </p:sp>
      <p:sp>
        <p:nvSpPr>
          <p:cNvPr id="15" name="Shape 13"/>
          <p:cNvSpPr/>
          <p:nvPr/>
        </p:nvSpPr>
        <p:spPr>
          <a:xfrm>
            <a:off x="6144768" y="1005840"/>
            <a:ext cx="5852160" cy="5559552"/>
          </a:xfrm>
          <a:prstGeom prst="rect">
            <a:avLst/>
          </a:prstGeom>
          <a:solidFill>
            <a:srgbClr val="091428"/>
          </a:solidFill>
          <a:ln w="12700">
            <a:solidFill>
              <a:srgbClr val="FBBF24"/>
            </a:solidFill>
            <a:prstDash val="solid"/>
          </a:ln>
        </p:spPr>
      </p:sp>
      <p:sp>
        <p:nvSpPr>
          <p:cNvPr id="16" name="Shape 14"/>
          <p:cNvSpPr/>
          <p:nvPr/>
        </p:nvSpPr>
        <p:spPr>
          <a:xfrm>
            <a:off x="6144768" y="1005840"/>
            <a:ext cx="5852160" cy="32004"/>
          </a:xfrm>
          <a:prstGeom prst="rect">
            <a:avLst/>
          </a:prstGeom>
          <a:solidFill>
            <a:srgbClr val="FBBF24"/>
          </a:solidFill>
          <a:ln w="12700">
            <a:solidFill>
              <a:srgbClr val="FBBF24"/>
            </a:solidFill>
            <a:prstDash val="solid"/>
          </a:ln>
        </p:spPr>
      </p:sp>
      <p:sp>
        <p:nvSpPr>
          <p:cNvPr id="17" name="Text 15"/>
          <p:cNvSpPr/>
          <p:nvPr/>
        </p:nvSpPr>
        <p:spPr>
          <a:xfrm>
            <a:off x="6291072" y="1078992"/>
            <a:ext cx="5623560" cy="237744"/>
          </a:xfrm>
          <a:prstGeom prst="rect">
            <a:avLst/>
          </a:prstGeom>
          <a:noFill/>
          <a:ln/>
        </p:spPr>
        <p:txBody>
          <a:bodyPr wrap="square" lIns="0" tIns="0" rIns="0" bIns="0" rtlCol="0" anchor="ctr"/>
          <a:lstStyle/>
          <a:p>
            <a:pPr marL="0" indent="0">
              <a:buNone/>
            </a:pPr>
            <a:r>
              <a:rPr lang="en-US" sz="1400" b="1" kern="0" spc="120" dirty="0">
                <a:solidFill>
                  <a:srgbClr val="FBBF24"/>
                </a:solidFill>
                <a:latin typeface="Calibri" pitchFamily="34" charset="0"/>
                <a:ea typeface="Calibri" pitchFamily="34" charset="-122"/>
                <a:cs typeface="Calibri" pitchFamily="34" charset="-120"/>
              </a:rPr>
              <a:t>BACKLOG ACTUALIZADO </a:t>
            </a:r>
            <a:endParaRPr lang="en-US" sz="1400" dirty="0"/>
          </a:p>
        </p:txBody>
      </p:sp>
      <p:sp>
        <p:nvSpPr>
          <p:cNvPr id="18" name="Text 16"/>
          <p:cNvSpPr/>
          <p:nvPr/>
        </p:nvSpPr>
        <p:spPr>
          <a:xfrm>
            <a:off x="6291072" y="1371600"/>
            <a:ext cx="5623560" cy="5029200"/>
          </a:xfrm>
          <a:prstGeom prst="rect">
            <a:avLst/>
          </a:prstGeom>
          <a:noFill/>
          <a:ln/>
        </p:spPr>
        <p:txBody>
          <a:bodyPr wrap="square" lIns="0" tIns="0" rIns="0" bIns="0" rtlCol="0" anchor="t"/>
          <a:lstStyle/>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Bug B-001 – CRÍTICO P1: </a:t>
            </a:r>
            <a:r>
              <a:rPr lang="en-US" sz="1400" dirty="0">
                <a:solidFill>
                  <a:srgbClr val="E2E8F0"/>
                </a:solidFill>
                <a:latin typeface="Calibri" pitchFamily="34" charset="0"/>
                <a:ea typeface="Calibri" pitchFamily="34" charset="-122"/>
                <a:cs typeface="Calibri" pitchFamily="34" charset="-120"/>
              </a:rPr>
              <a:t> 'Duplicación de rendiciones por doble tap'. Dev Frontend + Backend. SLA: 48h. Piloto suspendido hasta fix en producción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Fix técnico: </a:t>
            </a:r>
            <a:r>
              <a:rPr lang="en-US" sz="1400" dirty="0">
                <a:solidFill>
                  <a:srgbClr val="E2E8F0"/>
                </a:solidFill>
                <a:latin typeface="Calibri" pitchFamily="34" charset="0"/>
                <a:ea typeface="Calibri" pitchFamily="34" charset="-122"/>
                <a:cs typeface="Calibri" pitchFamily="34" charset="-120"/>
              </a:rPr>
              <a:t> Token de idempotencia UUID en endpoint POST /rendiciones. Frontend genera token al abrir formulario; backend rechaza duplicados con HTTP 409 + log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HU10 CA-07 NUEVO: </a:t>
            </a:r>
            <a:r>
              <a:rPr lang="en-US" sz="1400" dirty="0">
                <a:solidFill>
                  <a:srgbClr val="E2E8F0"/>
                </a:solidFill>
                <a:latin typeface="Calibri" pitchFamily="34" charset="0"/>
                <a:ea typeface="Calibri" pitchFamily="34" charset="-122"/>
                <a:cs typeface="Calibri" pitchFamily="34" charset="-120"/>
              </a:rPr>
              <a:t> 'Dado: usuario presiona Enviar múltiples veces. Cuando: requests duplicados. Entonces: 1 registro creado + HTTP 409 con mensaje Rendición ya enviada'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Prueba de regresión permanente: </a:t>
            </a:r>
            <a:r>
              <a:rPr lang="en-US" sz="1400" dirty="0">
                <a:solidFill>
                  <a:srgbClr val="E2E8F0"/>
                </a:solidFill>
                <a:latin typeface="Calibri" pitchFamily="34" charset="0"/>
                <a:ea typeface="Calibri" pitchFamily="34" charset="-122"/>
                <a:cs typeface="Calibri" pitchFamily="34" charset="-120"/>
              </a:rPr>
              <a:t> Test automatizado CI/CD: simula 10 envíos consecutivos y valida que solo se crea 1 registro. Esta prueba nunca puede ser desactivada
</a:t>
            </a:r>
            <a:endParaRPr lang="en-US" sz="1400" dirty="0"/>
          </a:p>
          <a:p>
            <a:pPr marL="0" indent="0">
              <a:lnSpc>
                <a:spcPct val="128500"/>
              </a:lnSpc>
              <a:buNone/>
            </a:pPr>
            <a:r>
              <a:rPr lang="en-US" sz="1400" b="1" dirty="0">
                <a:solidFill>
                  <a:srgbClr val="FBBF24"/>
                </a:solidFill>
                <a:latin typeface="Calibri" pitchFamily="34" charset="0"/>
                <a:ea typeface="Calibri" pitchFamily="34" charset="-122"/>
                <a:cs typeface="Calibri" pitchFamily="34" charset="-120"/>
              </a:rPr>
              <a:t>▪ Piloto reactivado con criterio: </a:t>
            </a:r>
            <a:r>
              <a:rPr lang="en-US" sz="1400" dirty="0">
                <a:solidFill>
                  <a:srgbClr val="E2E8F0"/>
                </a:solidFill>
                <a:latin typeface="Calibri" pitchFamily="34" charset="0"/>
                <a:ea typeface="Calibri" pitchFamily="34" charset="-122"/>
                <a:cs typeface="Calibri" pitchFamily="34" charset="-120"/>
              </a:rPr>
              <a:t> Fix en producción + regresión verde + QA manual 5 choferes + 0 duplicados en 24h de monitoreo</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Slide 21">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5029200" cy="6858000"/>
          </a:xfrm>
          <a:prstGeom prst="rect">
            <a:avLst/>
          </a:prstGeom>
          <a:solidFill>
            <a:srgbClr val="0B1A3A"/>
          </a:solidFill>
          <a:ln w="12700">
            <a:solidFill>
              <a:srgbClr val="0B1A3A"/>
            </a:solidFill>
            <a:prstDash val="solid"/>
          </a:ln>
        </p:spPr>
        <p:txBody>
          <a:bodyPr/>
          <a:lstStyle/>
          <a:p>
            <a:endParaRPr lang="es-ES_tradnl"/>
          </a:p>
        </p:txBody>
      </p:sp>
      <p:sp>
        <p:nvSpPr>
          <p:cNvPr id="3" name="Shape 1"/>
          <p:cNvSpPr/>
          <p:nvPr/>
        </p:nvSpPr>
        <p:spPr>
          <a:xfrm>
            <a:off x="0" y="0"/>
            <a:ext cx="82296" cy="6858000"/>
          </a:xfrm>
          <a:prstGeom prst="rect">
            <a:avLst/>
          </a:prstGeom>
          <a:solidFill>
            <a:srgbClr val="1246B3"/>
          </a:solidFill>
          <a:ln w="12700">
            <a:solidFill>
              <a:srgbClr val="1246B3"/>
            </a:solidFill>
            <a:prstDash val="solid"/>
          </a:ln>
        </p:spPr>
      </p:sp>
      <p:sp>
        <p:nvSpPr>
          <p:cNvPr id="4" name="Shape 2"/>
          <p:cNvSpPr/>
          <p:nvPr/>
        </p:nvSpPr>
        <p:spPr>
          <a:xfrm>
            <a:off x="9601200" y="-1371600"/>
            <a:ext cx="5029200" cy="5029200"/>
          </a:xfrm>
          <a:prstGeom prst="ellipse">
            <a:avLst/>
          </a:prstGeom>
          <a:solidFill>
            <a:srgbClr val="1246B3">
              <a:alpha val="14000"/>
            </a:srgbClr>
          </a:solidFill>
          <a:ln w="12700">
            <a:solidFill>
              <a:srgbClr val="1246B3">
                <a:alpha val="14000"/>
              </a:srgbClr>
            </a:solidFill>
            <a:prstDash val="solid"/>
          </a:ln>
        </p:spPr>
      </p:sp>
      <p:sp>
        <p:nvSpPr>
          <p:cNvPr id="5" name="Shape 3"/>
          <p:cNvSpPr/>
          <p:nvPr/>
        </p:nvSpPr>
        <p:spPr>
          <a:xfrm>
            <a:off x="7315200" y="4754880"/>
            <a:ext cx="2743200" cy="2743200"/>
          </a:xfrm>
          <a:prstGeom prst="ellipse">
            <a:avLst/>
          </a:prstGeom>
          <a:solidFill>
            <a:srgbClr val="1246B3">
              <a:alpha val="12000"/>
            </a:srgbClr>
          </a:solidFill>
          <a:ln w="12700">
            <a:solidFill>
              <a:srgbClr val="1246B3">
                <a:alpha val="12000"/>
              </a:srgbClr>
            </a:solidFill>
            <a:prstDash val="solid"/>
          </a:ln>
        </p:spPr>
      </p:sp>
      <p:sp>
        <p:nvSpPr>
          <p:cNvPr id="6" name="Shape 4"/>
          <p:cNvSpPr/>
          <p:nvPr/>
        </p:nvSpPr>
        <p:spPr>
          <a:xfrm>
            <a:off x="201168" y="201168"/>
            <a:ext cx="1920240" cy="292608"/>
          </a:xfrm>
          <a:prstGeom prst="roundRect">
            <a:avLst>
              <a:gd name="adj" fmla="val 12500"/>
            </a:avLst>
          </a:prstGeom>
          <a:solidFill>
            <a:srgbClr val="1246B3"/>
          </a:solidFill>
          <a:ln w="12700">
            <a:solidFill>
              <a:srgbClr val="1246B3"/>
            </a:solidFill>
            <a:prstDash val="solid"/>
          </a:ln>
        </p:spPr>
      </p:sp>
      <p:sp>
        <p:nvSpPr>
          <p:cNvPr id="7" name="Text 5"/>
          <p:cNvSpPr/>
          <p:nvPr/>
        </p:nvSpPr>
        <p:spPr>
          <a:xfrm>
            <a:off x="201168" y="201168"/>
            <a:ext cx="1920240" cy="292608"/>
          </a:xfrm>
          <a:prstGeom prst="rect">
            <a:avLst/>
          </a:prstGeom>
          <a:noFill/>
          <a:ln/>
        </p:spPr>
        <p:txBody>
          <a:bodyPr wrap="square" lIns="0" tIns="0" rIns="0" bIns="0" rtlCol="0" anchor="ctr"/>
          <a:lstStyle/>
          <a:p>
            <a:pPr marL="0" indent="0" algn="ctr">
              <a:buNone/>
            </a:pPr>
            <a:r>
              <a:rPr lang="en-US" sz="750" b="1" kern="0" spc="150" dirty="0">
                <a:solidFill>
                  <a:srgbClr val="FFFFFF"/>
                </a:solidFill>
                <a:latin typeface="Calibri" pitchFamily="34" charset="0"/>
                <a:ea typeface="Calibri" pitchFamily="34" charset="-122"/>
                <a:cs typeface="Calibri" pitchFamily="34" charset="-120"/>
              </a:rPr>
              <a:t>CIERRE DEL PROYECTO</a:t>
            </a:r>
            <a:endParaRPr lang="en-US" sz="750" dirty="0"/>
          </a:p>
        </p:txBody>
      </p:sp>
      <p:sp>
        <p:nvSpPr>
          <p:cNvPr id="8" name="Text 6"/>
          <p:cNvSpPr/>
          <p:nvPr/>
        </p:nvSpPr>
        <p:spPr>
          <a:xfrm>
            <a:off x="201168" y="621792"/>
            <a:ext cx="4663440" cy="2651760"/>
          </a:xfrm>
          <a:prstGeom prst="rect">
            <a:avLst/>
          </a:prstGeom>
          <a:noFill/>
          <a:ln/>
        </p:spPr>
        <p:txBody>
          <a:bodyPr wrap="square" lIns="0" tIns="0" rIns="0" bIns="0" rtlCol="0" anchor="ctr"/>
          <a:lstStyle/>
          <a:p>
            <a:pPr marL="0" indent="0" algn="l">
              <a:lnSpc>
                <a:spcPct val="96000"/>
              </a:lnSpc>
              <a:buNone/>
            </a:pPr>
            <a:r>
              <a:rPr lang="en-US" sz="4600" b="1" dirty="0">
                <a:solidFill>
                  <a:srgbClr val="38BDF8"/>
                </a:solidFill>
                <a:latin typeface="Calibri" pitchFamily="34" charset="0"/>
                <a:ea typeface="Calibri" pitchFamily="34" charset="-122"/>
                <a:cs typeface="Calibri" pitchFamily="34" charset="-120"/>
              </a:rPr>
              <a:t>Hoy,
</a:t>
            </a:r>
            <a:r>
              <a:rPr lang="en-US" sz="4600" b="1" dirty="0">
                <a:solidFill>
                  <a:srgbClr val="FFFFFF"/>
                </a:solidFill>
                <a:latin typeface="Calibri" pitchFamily="34" charset="0"/>
                <a:ea typeface="Calibri" pitchFamily="34" charset="-122"/>
                <a:cs typeface="Calibri" pitchFamily="34" charset="-120"/>
              </a:rPr>
              <a:t>tu tiempo</a:t>
            </a:r>
            <a:endParaRPr lang="en-US" sz="4600" dirty="0"/>
          </a:p>
          <a:p>
            <a:pPr marL="0" indent="0" algn="l">
              <a:lnSpc>
                <a:spcPct val="96000"/>
              </a:lnSpc>
              <a:buNone/>
            </a:pPr>
            <a:r>
              <a:rPr lang="en-US" sz="4600" b="1" dirty="0">
                <a:solidFill>
                  <a:srgbClr val="FFFFFF"/>
                </a:solidFill>
                <a:latin typeface="Calibri" pitchFamily="34" charset="0"/>
                <a:ea typeface="Calibri" pitchFamily="34" charset="-122"/>
                <a:cs typeface="Calibri" pitchFamily="34" charset="-120"/>
              </a:rPr>
              <a:t>vale más.</a:t>
            </a:r>
            <a:endParaRPr lang="en-US" sz="4600" dirty="0"/>
          </a:p>
        </p:txBody>
      </p:sp>
      <p:sp>
        <p:nvSpPr>
          <p:cNvPr id="9" name="Text 7"/>
          <p:cNvSpPr/>
          <p:nvPr/>
        </p:nvSpPr>
        <p:spPr>
          <a:xfrm>
            <a:off x="201168" y="3310128"/>
            <a:ext cx="4663440" cy="310896"/>
          </a:xfrm>
          <a:prstGeom prst="rect">
            <a:avLst/>
          </a:prstGeom>
          <a:noFill/>
          <a:ln/>
        </p:spPr>
        <p:txBody>
          <a:bodyPr wrap="square" lIns="0" tIns="0" rIns="0" bIns="0" rtlCol="0" anchor="ctr"/>
          <a:lstStyle/>
          <a:p>
            <a:pPr marL="0" indent="0" algn="l">
              <a:buNone/>
            </a:pPr>
            <a:r>
              <a:rPr lang="en-US" sz="1600" i="1" dirty="0">
                <a:solidFill>
                  <a:srgbClr val="FBBF24"/>
                </a:solidFill>
                <a:latin typeface="Calibri" pitchFamily="34" charset="0"/>
                <a:ea typeface="Calibri" pitchFamily="34" charset="-122"/>
                <a:cs typeface="Calibri" pitchFamily="34" charset="-120"/>
              </a:rPr>
              <a:t>Viáticos sin fricción. compliance sin burocracia</a:t>
            </a:r>
            <a:r>
              <a:rPr lang="en-US" sz="1200" i="1" dirty="0">
                <a:solidFill>
                  <a:srgbClr val="FBBF24"/>
                </a:solidFill>
                <a:latin typeface="Calibri" pitchFamily="34" charset="0"/>
                <a:ea typeface="Calibri" pitchFamily="34" charset="-122"/>
                <a:cs typeface="Calibri" pitchFamily="34" charset="-120"/>
              </a:rPr>
              <a:t>.</a:t>
            </a:r>
            <a:endParaRPr lang="en-US" sz="1200" dirty="0"/>
          </a:p>
        </p:txBody>
      </p:sp>
      <p:sp>
        <p:nvSpPr>
          <p:cNvPr id="10" name="Shape 8"/>
          <p:cNvSpPr/>
          <p:nvPr/>
        </p:nvSpPr>
        <p:spPr>
          <a:xfrm>
            <a:off x="201168" y="3712464"/>
            <a:ext cx="4626864" cy="13716"/>
          </a:xfrm>
          <a:prstGeom prst="rect">
            <a:avLst/>
          </a:prstGeom>
          <a:solidFill>
            <a:srgbClr val="1246B3"/>
          </a:solidFill>
          <a:ln w="12700">
            <a:solidFill>
              <a:srgbClr val="1246B3"/>
            </a:solidFill>
            <a:prstDash val="solid"/>
          </a:ln>
        </p:spPr>
      </p:sp>
      <p:sp>
        <p:nvSpPr>
          <p:cNvPr id="11" name="Text 9"/>
          <p:cNvSpPr/>
          <p:nvPr/>
        </p:nvSpPr>
        <p:spPr>
          <a:xfrm>
            <a:off x="201168" y="3776472"/>
            <a:ext cx="4626864" cy="640080"/>
          </a:xfrm>
          <a:prstGeom prst="rect">
            <a:avLst/>
          </a:prstGeom>
          <a:noFill/>
          <a:ln/>
        </p:spPr>
        <p:txBody>
          <a:bodyPr wrap="square" lIns="0" tIns="0" rIns="0" bIns="0" rtlCol="0" anchor="ctr"/>
          <a:lstStyle/>
          <a:p>
            <a:pPr marL="0" indent="0" algn="l">
              <a:lnSpc>
                <a:spcPct val="125000"/>
              </a:lnSpc>
              <a:buNone/>
            </a:pPr>
            <a:r>
              <a:rPr lang="es-CL" sz="1200" dirty="0">
                <a:solidFill>
                  <a:schemeClr val="bg1"/>
                </a:solidFill>
              </a:rPr>
              <a:t>Durante años, nuestros colaboradores, debían dedicar horas adicionales a rendir sus gastos en Excel, correos y múltiples aprobaciones que aportaban muy poco valor a su verdadera actividad.</a:t>
            </a:r>
            <a:r>
              <a:rPr lang="en-US" sz="1200" dirty="0">
                <a:solidFill>
                  <a:schemeClr val="bg1"/>
                </a:solidFill>
                <a:latin typeface="Calibri" pitchFamily="34" charset="0"/>
                <a:ea typeface="Calibri" pitchFamily="34" charset="-122"/>
                <a:cs typeface="Calibri" pitchFamily="34" charset="-120"/>
              </a:rPr>
              <a:t> </a:t>
            </a:r>
            <a:endParaRPr lang="en-US" sz="1200" dirty="0">
              <a:solidFill>
                <a:schemeClr val="bg1"/>
              </a:solidFill>
            </a:endParaRPr>
          </a:p>
        </p:txBody>
      </p:sp>
      <p:sp>
        <p:nvSpPr>
          <p:cNvPr id="12" name="Text 10"/>
          <p:cNvSpPr/>
          <p:nvPr/>
        </p:nvSpPr>
        <p:spPr>
          <a:xfrm>
            <a:off x="201168" y="4462272"/>
            <a:ext cx="4626864" cy="365760"/>
          </a:xfrm>
          <a:prstGeom prst="rect">
            <a:avLst/>
          </a:prstGeom>
          <a:noFill/>
          <a:ln/>
        </p:spPr>
        <p:txBody>
          <a:bodyPr wrap="square" lIns="0" tIns="0" rIns="0" bIns="0" rtlCol="0" anchor="ctr"/>
          <a:lstStyle/>
          <a:p>
            <a:pPr marL="0" indent="0" algn="l">
              <a:lnSpc>
                <a:spcPct val="120000"/>
              </a:lnSpc>
              <a:buNone/>
            </a:pPr>
            <a:r>
              <a:rPr lang="en-US" sz="1200" b="1" dirty="0">
                <a:solidFill>
                  <a:srgbClr val="FFFFFF"/>
                </a:solidFill>
                <a:latin typeface="Calibri" pitchFamily="34" charset="0"/>
                <a:ea typeface="Calibri" pitchFamily="34" charset="-122"/>
                <a:cs typeface="Calibri" pitchFamily="34" charset="-120"/>
              </a:rPr>
              <a:t>Este proyecto no optimizó ese proceso. Lo reemplazó por inteligencia.</a:t>
            </a:r>
            <a:endParaRPr lang="en-US" sz="1200" dirty="0"/>
          </a:p>
        </p:txBody>
      </p:sp>
      <p:sp>
        <p:nvSpPr>
          <p:cNvPr id="13" name="Text 11"/>
          <p:cNvSpPr/>
          <p:nvPr/>
        </p:nvSpPr>
        <p:spPr>
          <a:xfrm>
            <a:off x="201168" y="4873752"/>
            <a:ext cx="4626864" cy="502920"/>
          </a:xfrm>
          <a:prstGeom prst="rect">
            <a:avLst/>
          </a:prstGeom>
          <a:noFill/>
          <a:ln/>
        </p:spPr>
        <p:txBody>
          <a:bodyPr wrap="square" lIns="0" tIns="0" rIns="0" bIns="0" rtlCol="0" anchor="ctr"/>
          <a:lstStyle/>
          <a:p>
            <a:pPr marL="0" indent="0" algn="l">
              <a:lnSpc>
                <a:spcPct val="125000"/>
              </a:lnSpc>
              <a:buNone/>
            </a:pPr>
            <a:r>
              <a:rPr lang="en-US" sz="1100" dirty="0">
                <a:solidFill>
                  <a:srgbClr val="E2E8F0"/>
                </a:solidFill>
                <a:latin typeface="Calibri" pitchFamily="34" charset="0"/>
                <a:ea typeface="Calibri" pitchFamily="34" charset="-122"/>
                <a:cs typeface="Calibri" pitchFamily="34" charset="-120"/>
              </a:rPr>
              <a:t>Con IA, automatización y datos en tiempo real, avanzamos hacia una organización donde la tecnología trabaja por las personas y no al revés.</a:t>
            </a:r>
            <a:endParaRPr lang="en-US" sz="1100" dirty="0"/>
          </a:p>
        </p:txBody>
      </p:sp>
      <p:sp>
        <p:nvSpPr>
          <p:cNvPr id="14" name="Shape 12"/>
          <p:cNvSpPr/>
          <p:nvPr/>
        </p:nvSpPr>
        <p:spPr>
          <a:xfrm>
            <a:off x="177845" y="5719572"/>
            <a:ext cx="45720" cy="658368"/>
          </a:xfrm>
          <a:prstGeom prst="rect">
            <a:avLst/>
          </a:prstGeom>
          <a:solidFill>
            <a:srgbClr val="FBBF24"/>
          </a:solidFill>
          <a:ln w="12700">
            <a:solidFill>
              <a:srgbClr val="FBBF24"/>
            </a:solidFill>
            <a:prstDash val="solid"/>
          </a:ln>
        </p:spPr>
      </p:sp>
      <p:sp>
        <p:nvSpPr>
          <p:cNvPr id="15" name="Text 13"/>
          <p:cNvSpPr/>
          <p:nvPr/>
        </p:nvSpPr>
        <p:spPr>
          <a:xfrm>
            <a:off x="320040" y="5664708"/>
            <a:ext cx="4507992" cy="658368"/>
          </a:xfrm>
          <a:prstGeom prst="rect">
            <a:avLst/>
          </a:prstGeom>
          <a:noFill/>
          <a:ln/>
        </p:spPr>
        <p:txBody>
          <a:bodyPr wrap="square" lIns="0" tIns="0" rIns="0" bIns="0" rtlCol="0" anchor="ctr"/>
          <a:lstStyle/>
          <a:p>
            <a:pPr marL="0" indent="0" algn="l">
              <a:lnSpc>
                <a:spcPct val="125000"/>
              </a:lnSpc>
              <a:buNone/>
            </a:pPr>
            <a:r>
              <a:rPr lang="en-US" sz="1600" b="1" i="1" dirty="0">
                <a:solidFill>
                  <a:srgbClr val="FBBF24"/>
                </a:solidFill>
                <a:latin typeface="Calibri" pitchFamily="34" charset="0"/>
                <a:ea typeface="Calibri" pitchFamily="34" charset="-122"/>
                <a:cs typeface="Calibri" pitchFamily="34" charset="-120"/>
              </a:rPr>
              <a:t>"El tiempo que antes se perdía rindiendo cuentas, hoy se invierte en hacer crecer el negocio."</a:t>
            </a:r>
            <a:endParaRPr lang="en-US" sz="1600" b="1" dirty="0"/>
          </a:p>
        </p:txBody>
      </p:sp>
      <p:sp>
        <p:nvSpPr>
          <p:cNvPr id="16" name="Text 14"/>
          <p:cNvSpPr/>
          <p:nvPr/>
        </p:nvSpPr>
        <p:spPr>
          <a:xfrm>
            <a:off x="5230368" y="182880"/>
            <a:ext cx="6766560" cy="420624"/>
          </a:xfrm>
          <a:prstGeom prst="rect">
            <a:avLst/>
          </a:prstGeom>
          <a:noFill/>
          <a:ln/>
        </p:spPr>
        <p:txBody>
          <a:bodyPr wrap="square" lIns="0" tIns="0" rIns="0" bIns="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Lo que este avance le entrega a la organización</a:t>
            </a:r>
            <a:endParaRPr lang="en-US" sz="1250" dirty="0"/>
          </a:p>
        </p:txBody>
      </p:sp>
      <p:sp>
        <p:nvSpPr>
          <p:cNvPr id="17" name="Shape 15"/>
          <p:cNvSpPr/>
          <p:nvPr/>
        </p:nvSpPr>
        <p:spPr>
          <a:xfrm>
            <a:off x="5230368" y="713232"/>
            <a:ext cx="3310128" cy="1353312"/>
          </a:xfrm>
          <a:prstGeom prst="rect">
            <a:avLst/>
          </a:prstGeom>
          <a:solidFill>
            <a:srgbClr val="0B1733"/>
          </a:solidFill>
          <a:ln w="12700">
            <a:solidFill>
              <a:srgbClr val="38BDF8"/>
            </a:solidFill>
            <a:prstDash val="solid"/>
          </a:ln>
        </p:spPr>
      </p:sp>
      <p:sp>
        <p:nvSpPr>
          <p:cNvPr id="18" name="Shape 16"/>
          <p:cNvSpPr/>
          <p:nvPr/>
        </p:nvSpPr>
        <p:spPr>
          <a:xfrm>
            <a:off x="5230368" y="713232"/>
            <a:ext cx="3310128" cy="32004"/>
          </a:xfrm>
          <a:prstGeom prst="rect">
            <a:avLst/>
          </a:prstGeom>
          <a:solidFill>
            <a:srgbClr val="38BDF8"/>
          </a:solidFill>
          <a:ln w="12700">
            <a:solidFill>
              <a:srgbClr val="38BDF8"/>
            </a:solidFill>
            <a:prstDash val="solid"/>
          </a:ln>
        </p:spPr>
      </p:sp>
      <p:sp>
        <p:nvSpPr>
          <p:cNvPr id="19" name="Shape 17"/>
          <p:cNvSpPr/>
          <p:nvPr/>
        </p:nvSpPr>
        <p:spPr>
          <a:xfrm>
            <a:off x="5358384" y="822960"/>
            <a:ext cx="329184" cy="329184"/>
          </a:xfrm>
          <a:prstGeom prst="ellipse">
            <a:avLst/>
          </a:prstGeom>
          <a:solidFill>
            <a:srgbClr val="38BDF8">
              <a:alpha val="22000"/>
            </a:srgbClr>
          </a:solidFill>
          <a:ln w="12700">
            <a:solidFill>
              <a:srgbClr val="38BDF8"/>
            </a:solidFill>
            <a:prstDash val="solid"/>
          </a:ln>
        </p:spPr>
      </p:sp>
      <p:sp>
        <p:nvSpPr>
          <p:cNvPr id="20" name="Text 18"/>
          <p:cNvSpPr/>
          <p:nvPr/>
        </p:nvSpPr>
        <p:spPr>
          <a:xfrm>
            <a:off x="5358384" y="822960"/>
            <a:ext cx="329184" cy="329184"/>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21" name="Text 19"/>
          <p:cNvSpPr/>
          <p:nvPr/>
        </p:nvSpPr>
        <p:spPr>
          <a:xfrm>
            <a:off x="5760720" y="822960"/>
            <a:ext cx="2670048" cy="329184"/>
          </a:xfrm>
          <a:prstGeom prst="rect">
            <a:avLst/>
          </a:prstGeom>
          <a:noFill/>
          <a:ln/>
        </p:spPr>
        <p:txBody>
          <a:bodyPr wrap="square" lIns="0" tIns="0" rIns="0" bIns="0" rtlCol="0" anchor="ctr"/>
          <a:lstStyle/>
          <a:p>
            <a:pPr marL="0" indent="0" algn="l">
              <a:buNone/>
            </a:pPr>
            <a:r>
              <a:rPr lang="en-US" sz="1200" b="1" dirty="0">
                <a:solidFill>
                  <a:srgbClr val="38BDF8"/>
                </a:solidFill>
                <a:latin typeface="Calibri" pitchFamily="34" charset="0"/>
                <a:ea typeface="Calibri" pitchFamily="34" charset="-122"/>
                <a:cs typeface="Calibri" pitchFamily="34" charset="-120"/>
              </a:rPr>
              <a:t>Inteligencia Artificial</a:t>
            </a:r>
            <a:endParaRPr lang="en-US" sz="1200" dirty="0"/>
          </a:p>
        </p:txBody>
      </p:sp>
      <p:sp>
        <p:nvSpPr>
          <p:cNvPr id="22" name="Text 20"/>
          <p:cNvSpPr/>
          <p:nvPr/>
        </p:nvSpPr>
        <p:spPr>
          <a:xfrm>
            <a:off x="5358384" y="1216152"/>
            <a:ext cx="3081528" cy="786384"/>
          </a:xfrm>
          <a:prstGeom prst="rect">
            <a:avLst/>
          </a:prstGeom>
          <a:noFill/>
          <a:ln/>
        </p:spPr>
        <p:txBody>
          <a:bodyPr wrap="square" lIns="0" tIns="0" rIns="0" bIns="0" rtlCol="0" anchor="t"/>
          <a:lstStyle/>
          <a:p>
            <a:pPr marL="0" indent="0">
              <a:lnSpc>
                <a:spcPct val="120000"/>
              </a:lnSpc>
              <a:buNone/>
            </a:pPr>
            <a:r>
              <a:rPr lang="en-US" sz="1200" dirty="0">
                <a:solidFill>
                  <a:srgbClr val="E2E8F0"/>
                </a:solidFill>
                <a:latin typeface="Calibri" pitchFamily="34" charset="0"/>
                <a:ea typeface="Calibri" pitchFamily="34" charset="-122"/>
                <a:cs typeface="Calibri" pitchFamily="34" charset="-120"/>
              </a:rPr>
              <a:t>OCR + IA clasifica boletas automáticamente. El sistema decide, aprende y notifica sin intervención humana.</a:t>
            </a:r>
            <a:endParaRPr lang="en-US" sz="1200" dirty="0"/>
          </a:p>
        </p:txBody>
      </p:sp>
      <p:sp>
        <p:nvSpPr>
          <p:cNvPr id="23" name="Shape 21"/>
          <p:cNvSpPr/>
          <p:nvPr/>
        </p:nvSpPr>
        <p:spPr>
          <a:xfrm>
            <a:off x="8668512" y="713232"/>
            <a:ext cx="3310128" cy="1353312"/>
          </a:xfrm>
          <a:prstGeom prst="rect">
            <a:avLst/>
          </a:prstGeom>
          <a:solidFill>
            <a:srgbClr val="0B1733"/>
          </a:solidFill>
          <a:ln w="12700">
            <a:solidFill>
              <a:srgbClr val="FBBF24"/>
            </a:solidFill>
            <a:prstDash val="solid"/>
          </a:ln>
        </p:spPr>
      </p:sp>
      <p:sp>
        <p:nvSpPr>
          <p:cNvPr id="24" name="Shape 22"/>
          <p:cNvSpPr/>
          <p:nvPr/>
        </p:nvSpPr>
        <p:spPr>
          <a:xfrm>
            <a:off x="8668512" y="713232"/>
            <a:ext cx="3310128" cy="32004"/>
          </a:xfrm>
          <a:prstGeom prst="rect">
            <a:avLst/>
          </a:prstGeom>
          <a:solidFill>
            <a:srgbClr val="FBBF24"/>
          </a:solidFill>
          <a:ln w="12700">
            <a:solidFill>
              <a:srgbClr val="FBBF24"/>
            </a:solidFill>
            <a:prstDash val="solid"/>
          </a:ln>
        </p:spPr>
      </p:sp>
      <p:sp>
        <p:nvSpPr>
          <p:cNvPr id="25" name="Shape 23"/>
          <p:cNvSpPr/>
          <p:nvPr/>
        </p:nvSpPr>
        <p:spPr>
          <a:xfrm>
            <a:off x="8796528" y="822960"/>
            <a:ext cx="329184" cy="329184"/>
          </a:xfrm>
          <a:prstGeom prst="ellipse">
            <a:avLst/>
          </a:prstGeom>
          <a:solidFill>
            <a:srgbClr val="FBBF24">
              <a:alpha val="22000"/>
            </a:srgbClr>
          </a:solidFill>
          <a:ln w="12700">
            <a:solidFill>
              <a:srgbClr val="FBBF24"/>
            </a:solidFill>
            <a:prstDash val="solid"/>
          </a:ln>
        </p:spPr>
      </p:sp>
      <p:sp>
        <p:nvSpPr>
          <p:cNvPr id="26" name="Text 24"/>
          <p:cNvSpPr/>
          <p:nvPr/>
        </p:nvSpPr>
        <p:spPr>
          <a:xfrm>
            <a:off x="8796528" y="822960"/>
            <a:ext cx="329184" cy="329184"/>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27" name="Text 25"/>
          <p:cNvSpPr/>
          <p:nvPr/>
        </p:nvSpPr>
        <p:spPr>
          <a:xfrm>
            <a:off x="9198864" y="822960"/>
            <a:ext cx="2670048" cy="329184"/>
          </a:xfrm>
          <a:prstGeom prst="rect">
            <a:avLst/>
          </a:prstGeom>
          <a:noFill/>
          <a:ln/>
        </p:spPr>
        <p:txBody>
          <a:bodyPr wrap="square" lIns="0" tIns="0" rIns="0" bIns="0" rtlCol="0" anchor="ctr"/>
          <a:lstStyle/>
          <a:p>
            <a:pPr marL="0" indent="0" algn="l">
              <a:buNone/>
            </a:pPr>
            <a:r>
              <a:rPr lang="en-US" sz="1200" b="1" dirty="0">
                <a:solidFill>
                  <a:srgbClr val="FBBF24"/>
                </a:solidFill>
                <a:latin typeface="Calibri" pitchFamily="34" charset="0"/>
                <a:ea typeface="Calibri" pitchFamily="34" charset="-122"/>
                <a:cs typeface="Calibri" pitchFamily="34" charset="-120"/>
              </a:rPr>
              <a:t>Tiempo devuelto al colaborador</a:t>
            </a:r>
            <a:endParaRPr lang="en-US" sz="1200" dirty="0"/>
          </a:p>
        </p:txBody>
      </p:sp>
      <p:sp>
        <p:nvSpPr>
          <p:cNvPr id="28" name="Text 26"/>
          <p:cNvSpPr/>
          <p:nvPr/>
        </p:nvSpPr>
        <p:spPr>
          <a:xfrm>
            <a:off x="8796528" y="1216152"/>
            <a:ext cx="3081528" cy="786384"/>
          </a:xfrm>
          <a:prstGeom prst="rect">
            <a:avLst/>
          </a:prstGeom>
          <a:noFill/>
          <a:ln/>
        </p:spPr>
        <p:txBody>
          <a:bodyPr wrap="square" lIns="0" tIns="0" rIns="0" bIns="0" rtlCol="0" anchor="t"/>
          <a:lstStyle/>
          <a:p>
            <a:pPr marL="0" indent="0">
              <a:lnSpc>
                <a:spcPct val="120000"/>
              </a:lnSpc>
              <a:buNone/>
            </a:pPr>
            <a:r>
              <a:rPr lang="en-US" sz="1200" dirty="0">
                <a:solidFill>
                  <a:srgbClr val="E2E8F0"/>
                </a:solidFill>
                <a:latin typeface="Calibri" pitchFamily="34" charset="0"/>
                <a:ea typeface="Calibri" pitchFamily="34" charset="-122"/>
                <a:cs typeface="Calibri" pitchFamily="34" charset="-120"/>
              </a:rPr>
              <a:t>Cero horas perdidas </a:t>
            </a:r>
            <a:r>
              <a:rPr lang="en-US" sz="1200" dirty="0" err="1">
                <a:solidFill>
                  <a:srgbClr val="E2E8F0"/>
                </a:solidFill>
                <a:latin typeface="Calibri" pitchFamily="34" charset="0"/>
                <a:ea typeface="Calibri" pitchFamily="34" charset="-122"/>
                <a:cs typeface="Calibri" pitchFamily="34" charset="-120"/>
              </a:rPr>
              <a:t>en</a:t>
            </a:r>
            <a:r>
              <a:rPr lang="en-US" sz="1200" dirty="0">
                <a:solidFill>
                  <a:srgbClr val="E2E8F0"/>
                </a:solidFill>
                <a:latin typeface="Calibri" pitchFamily="34" charset="0"/>
                <a:ea typeface="Calibri" pitchFamily="34" charset="-122"/>
                <a:cs typeface="Calibri" pitchFamily="34" charset="-120"/>
              </a:rPr>
              <a:t> </a:t>
            </a:r>
            <a:r>
              <a:rPr lang="en-US" sz="1200" dirty="0" err="1">
                <a:solidFill>
                  <a:srgbClr val="E2E8F0"/>
                </a:solidFill>
                <a:latin typeface="Calibri" pitchFamily="34" charset="0"/>
                <a:ea typeface="Calibri" pitchFamily="34" charset="-122"/>
                <a:cs typeface="Calibri" pitchFamily="34" charset="-120"/>
              </a:rPr>
              <a:t>planillas</a:t>
            </a:r>
            <a:r>
              <a:rPr lang="en-US" sz="1200" dirty="0">
                <a:solidFill>
                  <a:srgbClr val="E2E8F0"/>
                </a:solidFill>
                <a:latin typeface="Calibri" pitchFamily="34" charset="0"/>
                <a:ea typeface="Calibri" pitchFamily="34" charset="-122"/>
                <a:cs typeface="Calibri" pitchFamily="34" charset="-120"/>
              </a:rPr>
              <a:t> y </a:t>
            </a:r>
            <a:r>
              <a:rPr lang="en-US" sz="1200" dirty="0" err="1">
                <a:solidFill>
                  <a:srgbClr val="E2E8F0"/>
                </a:solidFill>
                <a:latin typeface="Calibri" pitchFamily="34" charset="0"/>
                <a:ea typeface="Calibri" pitchFamily="34" charset="-122"/>
                <a:cs typeface="Calibri" pitchFamily="34" charset="-120"/>
              </a:rPr>
              <a:t>buscando</a:t>
            </a:r>
            <a:r>
              <a:rPr lang="en-US" sz="1200" dirty="0">
                <a:solidFill>
                  <a:srgbClr val="E2E8F0"/>
                </a:solidFill>
                <a:latin typeface="Calibri" pitchFamily="34" charset="0"/>
                <a:ea typeface="Calibri" pitchFamily="34" charset="-122"/>
                <a:cs typeface="Calibri" pitchFamily="34" charset="-120"/>
              </a:rPr>
              <a:t> </a:t>
            </a:r>
            <a:r>
              <a:rPr lang="en-US" sz="1200" dirty="0" err="1">
                <a:solidFill>
                  <a:srgbClr val="E2E8F0"/>
                </a:solidFill>
                <a:latin typeface="Calibri" pitchFamily="34" charset="0"/>
                <a:ea typeface="Calibri" pitchFamily="34" charset="-122"/>
                <a:cs typeface="Calibri" pitchFamily="34" charset="-120"/>
              </a:rPr>
              <a:t>una</a:t>
            </a:r>
            <a:r>
              <a:rPr lang="en-US" sz="1200" dirty="0">
                <a:solidFill>
                  <a:srgbClr val="E2E8F0"/>
                </a:solidFill>
                <a:latin typeface="Calibri" pitchFamily="34" charset="0"/>
                <a:ea typeface="Calibri" pitchFamily="34" charset="-122"/>
                <a:cs typeface="Calibri" pitchFamily="34" charset="-120"/>
              </a:rPr>
              <a:t> </a:t>
            </a:r>
            <a:r>
              <a:rPr lang="en-US" sz="1200" dirty="0" err="1">
                <a:solidFill>
                  <a:srgbClr val="E2E8F0"/>
                </a:solidFill>
                <a:latin typeface="Calibri" pitchFamily="34" charset="0"/>
                <a:ea typeface="Calibri" pitchFamily="34" charset="-122"/>
                <a:cs typeface="Calibri" pitchFamily="34" charset="-120"/>
              </a:rPr>
              <a:t>wifi</a:t>
            </a:r>
            <a:r>
              <a:rPr lang="en-US" sz="1200" dirty="0">
                <a:solidFill>
                  <a:srgbClr val="E2E8F0"/>
                </a:solidFill>
                <a:latin typeface="Calibri" pitchFamily="34" charset="0"/>
                <a:ea typeface="Calibri" pitchFamily="34" charset="-122"/>
                <a:cs typeface="Calibri" pitchFamily="34" charset="-120"/>
              </a:rPr>
              <a:t>. Cada minuto liberado regresa al trabajo que realmente importa.</a:t>
            </a:r>
            <a:endParaRPr lang="en-US" sz="1200" dirty="0"/>
          </a:p>
        </p:txBody>
      </p:sp>
      <p:sp>
        <p:nvSpPr>
          <p:cNvPr id="29" name="Shape 27"/>
          <p:cNvSpPr/>
          <p:nvPr/>
        </p:nvSpPr>
        <p:spPr>
          <a:xfrm>
            <a:off x="5230368" y="2176272"/>
            <a:ext cx="3310128" cy="1353312"/>
          </a:xfrm>
          <a:prstGeom prst="rect">
            <a:avLst/>
          </a:prstGeom>
          <a:solidFill>
            <a:srgbClr val="0B1733"/>
          </a:solidFill>
          <a:ln w="12700">
            <a:solidFill>
              <a:srgbClr val="34D399"/>
            </a:solidFill>
            <a:prstDash val="solid"/>
          </a:ln>
        </p:spPr>
      </p:sp>
      <p:sp>
        <p:nvSpPr>
          <p:cNvPr id="30" name="Shape 28"/>
          <p:cNvSpPr/>
          <p:nvPr/>
        </p:nvSpPr>
        <p:spPr>
          <a:xfrm>
            <a:off x="5230368" y="2176272"/>
            <a:ext cx="3310128" cy="32004"/>
          </a:xfrm>
          <a:prstGeom prst="rect">
            <a:avLst/>
          </a:prstGeom>
          <a:solidFill>
            <a:srgbClr val="34D399"/>
          </a:solidFill>
          <a:ln w="12700">
            <a:solidFill>
              <a:srgbClr val="34D399"/>
            </a:solidFill>
            <a:prstDash val="solid"/>
          </a:ln>
        </p:spPr>
      </p:sp>
      <p:sp>
        <p:nvSpPr>
          <p:cNvPr id="31" name="Shape 29"/>
          <p:cNvSpPr/>
          <p:nvPr/>
        </p:nvSpPr>
        <p:spPr>
          <a:xfrm>
            <a:off x="5358384" y="2286000"/>
            <a:ext cx="329184" cy="329184"/>
          </a:xfrm>
          <a:prstGeom prst="ellipse">
            <a:avLst/>
          </a:prstGeom>
          <a:solidFill>
            <a:srgbClr val="34D399">
              <a:alpha val="22000"/>
            </a:srgbClr>
          </a:solidFill>
          <a:ln w="12700">
            <a:solidFill>
              <a:srgbClr val="34D399"/>
            </a:solidFill>
            <a:prstDash val="solid"/>
          </a:ln>
        </p:spPr>
      </p:sp>
      <p:sp>
        <p:nvSpPr>
          <p:cNvPr id="32" name="Text 30"/>
          <p:cNvSpPr/>
          <p:nvPr/>
        </p:nvSpPr>
        <p:spPr>
          <a:xfrm>
            <a:off x="5358384" y="2286000"/>
            <a:ext cx="329184" cy="329184"/>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33" name="Text 31"/>
          <p:cNvSpPr/>
          <p:nvPr/>
        </p:nvSpPr>
        <p:spPr>
          <a:xfrm>
            <a:off x="5760720" y="2286000"/>
            <a:ext cx="2670048" cy="329184"/>
          </a:xfrm>
          <a:prstGeom prst="rect">
            <a:avLst/>
          </a:prstGeom>
          <a:noFill/>
          <a:ln/>
        </p:spPr>
        <p:txBody>
          <a:bodyPr wrap="square" lIns="0" tIns="0" rIns="0" bIns="0" rtlCol="0" anchor="ctr"/>
          <a:lstStyle/>
          <a:p>
            <a:pPr marL="0" indent="0" algn="l">
              <a:buNone/>
            </a:pPr>
            <a:r>
              <a:rPr lang="en-US" sz="1200" b="1" dirty="0">
                <a:solidFill>
                  <a:srgbClr val="34D399"/>
                </a:solidFill>
                <a:latin typeface="Calibri" pitchFamily="34" charset="0"/>
                <a:ea typeface="Calibri" pitchFamily="34" charset="-122"/>
                <a:cs typeface="Calibri" pitchFamily="34" charset="-120"/>
              </a:rPr>
              <a:t>Imagen como empleador</a:t>
            </a:r>
            <a:endParaRPr lang="en-US" sz="1200" dirty="0"/>
          </a:p>
        </p:txBody>
      </p:sp>
      <p:sp>
        <p:nvSpPr>
          <p:cNvPr id="34" name="Text 32"/>
          <p:cNvSpPr/>
          <p:nvPr/>
        </p:nvSpPr>
        <p:spPr>
          <a:xfrm>
            <a:off x="5358384" y="2679192"/>
            <a:ext cx="3081528" cy="786384"/>
          </a:xfrm>
          <a:prstGeom prst="rect">
            <a:avLst/>
          </a:prstGeom>
          <a:noFill/>
          <a:ln/>
        </p:spPr>
        <p:txBody>
          <a:bodyPr wrap="square" lIns="0" tIns="0" rIns="0" bIns="0" rtlCol="0" anchor="t"/>
          <a:lstStyle/>
          <a:p>
            <a:pPr marL="0" indent="0">
              <a:lnSpc>
                <a:spcPct val="120000"/>
              </a:lnSpc>
              <a:buNone/>
            </a:pPr>
            <a:r>
              <a:rPr lang="en-US" sz="1200" dirty="0">
                <a:solidFill>
                  <a:srgbClr val="E2E8F0"/>
                </a:solidFill>
                <a:latin typeface="Calibri" pitchFamily="34" charset="0"/>
                <a:ea typeface="Calibri" pitchFamily="34" charset="-122"/>
                <a:cs typeface="Calibri" pitchFamily="34" charset="-120"/>
              </a:rPr>
              <a:t>Automatizar lo tedioso demuestra que la empresa respeta el tiempo y la energía de sus </a:t>
            </a:r>
            <a:r>
              <a:rPr lang="en-US" sz="1200" dirty="0" err="1">
                <a:solidFill>
                  <a:srgbClr val="E2E8F0"/>
                </a:solidFill>
                <a:latin typeface="Calibri" pitchFamily="34" charset="0"/>
                <a:ea typeface="Calibri" pitchFamily="34" charset="-122"/>
                <a:cs typeface="Calibri" pitchFamily="34" charset="-120"/>
              </a:rPr>
              <a:t>colaboradores</a:t>
            </a:r>
            <a:r>
              <a:rPr lang="en-US" sz="1200" dirty="0">
                <a:solidFill>
                  <a:srgbClr val="E2E8F0"/>
                </a:solidFill>
                <a:latin typeface="Calibri" pitchFamily="34" charset="0"/>
                <a:ea typeface="Calibri" pitchFamily="34" charset="-122"/>
                <a:cs typeface="Calibri" pitchFamily="34" charset="-120"/>
              </a:rPr>
              <a:t>.</a:t>
            </a:r>
            <a:endParaRPr lang="en-US" sz="1200" dirty="0"/>
          </a:p>
        </p:txBody>
      </p:sp>
      <p:sp>
        <p:nvSpPr>
          <p:cNvPr id="35" name="Shape 33"/>
          <p:cNvSpPr/>
          <p:nvPr/>
        </p:nvSpPr>
        <p:spPr>
          <a:xfrm>
            <a:off x="8668512" y="2176272"/>
            <a:ext cx="3310128" cy="1353312"/>
          </a:xfrm>
          <a:prstGeom prst="rect">
            <a:avLst/>
          </a:prstGeom>
          <a:solidFill>
            <a:srgbClr val="0B1733"/>
          </a:solidFill>
          <a:ln w="12700">
            <a:solidFill>
              <a:srgbClr val="A78BFA"/>
            </a:solidFill>
            <a:prstDash val="solid"/>
          </a:ln>
        </p:spPr>
      </p:sp>
      <p:sp>
        <p:nvSpPr>
          <p:cNvPr id="36" name="Shape 34"/>
          <p:cNvSpPr/>
          <p:nvPr/>
        </p:nvSpPr>
        <p:spPr>
          <a:xfrm>
            <a:off x="8668512" y="2176272"/>
            <a:ext cx="3310128" cy="32004"/>
          </a:xfrm>
          <a:prstGeom prst="rect">
            <a:avLst/>
          </a:prstGeom>
          <a:solidFill>
            <a:srgbClr val="A78BFA"/>
          </a:solidFill>
          <a:ln w="12700">
            <a:solidFill>
              <a:srgbClr val="A78BFA"/>
            </a:solidFill>
            <a:prstDash val="solid"/>
          </a:ln>
        </p:spPr>
      </p:sp>
      <p:sp>
        <p:nvSpPr>
          <p:cNvPr id="37" name="Shape 35"/>
          <p:cNvSpPr/>
          <p:nvPr/>
        </p:nvSpPr>
        <p:spPr>
          <a:xfrm>
            <a:off x="8796528" y="2286000"/>
            <a:ext cx="329184" cy="329184"/>
          </a:xfrm>
          <a:prstGeom prst="ellipse">
            <a:avLst/>
          </a:prstGeom>
          <a:solidFill>
            <a:srgbClr val="A78BFA">
              <a:alpha val="22000"/>
            </a:srgbClr>
          </a:solidFill>
          <a:ln w="12700">
            <a:solidFill>
              <a:srgbClr val="A78BFA"/>
            </a:solidFill>
            <a:prstDash val="solid"/>
          </a:ln>
        </p:spPr>
      </p:sp>
      <p:sp>
        <p:nvSpPr>
          <p:cNvPr id="38" name="Text 36"/>
          <p:cNvSpPr/>
          <p:nvPr/>
        </p:nvSpPr>
        <p:spPr>
          <a:xfrm>
            <a:off x="8796528" y="2286000"/>
            <a:ext cx="329184" cy="329184"/>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39" name="Text 37"/>
          <p:cNvSpPr/>
          <p:nvPr/>
        </p:nvSpPr>
        <p:spPr>
          <a:xfrm>
            <a:off x="9198864" y="2286000"/>
            <a:ext cx="2670048" cy="329184"/>
          </a:xfrm>
          <a:prstGeom prst="rect">
            <a:avLst/>
          </a:prstGeom>
          <a:noFill/>
          <a:ln/>
        </p:spPr>
        <p:txBody>
          <a:bodyPr wrap="square" lIns="0" tIns="0" rIns="0" bIns="0" rtlCol="0" anchor="ctr"/>
          <a:lstStyle/>
          <a:p>
            <a:pPr marL="0" indent="0" algn="l">
              <a:buNone/>
            </a:pPr>
            <a:r>
              <a:rPr lang="en-US" sz="1200" b="1" dirty="0">
                <a:solidFill>
                  <a:srgbClr val="A78BFA"/>
                </a:solidFill>
                <a:latin typeface="Calibri" pitchFamily="34" charset="0"/>
                <a:ea typeface="Calibri" pitchFamily="34" charset="-122"/>
                <a:cs typeface="Calibri" pitchFamily="34" charset="-120"/>
              </a:rPr>
              <a:t>Control total en tiempo real</a:t>
            </a:r>
            <a:endParaRPr lang="en-US" sz="1200" dirty="0"/>
          </a:p>
        </p:txBody>
      </p:sp>
      <p:sp>
        <p:nvSpPr>
          <p:cNvPr id="40" name="Text 38"/>
          <p:cNvSpPr/>
          <p:nvPr/>
        </p:nvSpPr>
        <p:spPr>
          <a:xfrm>
            <a:off x="8796528" y="2679192"/>
            <a:ext cx="3081528" cy="786384"/>
          </a:xfrm>
          <a:prstGeom prst="rect">
            <a:avLst/>
          </a:prstGeom>
          <a:noFill/>
          <a:ln/>
        </p:spPr>
        <p:txBody>
          <a:bodyPr wrap="square" lIns="0" tIns="0" rIns="0" bIns="0" rtlCol="0" anchor="t"/>
          <a:lstStyle/>
          <a:p>
            <a:pPr marL="0" indent="0">
              <a:lnSpc>
                <a:spcPct val="120000"/>
              </a:lnSpc>
              <a:buNone/>
            </a:pPr>
            <a:r>
              <a:rPr lang="en-US" sz="1200" dirty="0">
                <a:solidFill>
                  <a:srgbClr val="E2E8F0"/>
                </a:solidFill>
                <a:latin typeface="Calibri" pitchFamily="34" charset="0"/>
                <a:ea typeface="Calibri" pitchFamily="34" charset="-122"/>
                <a:cs typeface="Calibri" pitchFamily="34" charset="-120"/>
              </a:rPr>
              <a:t>Gerencia visualiza el gasto al instante con trazabilidad y alertas automáticas ante excepciones.</a:t>
            </a:r>
            <a:endParaRPr lang="en-US" sz="1200" dirty="0"/>
          </a:p>
        </p:txBody>
      </p:sp>
      <p:sp>
        <p:nvSpPr>
          <p:cNvPr id="41" name="Shape 39"/>
          <p:cNvSpPr/>
          <p:nvPr/>
        </p:nvSpPr>
        <p:spPr>
          <a:xfrm>
            <a:off x="5230368" y="3639312"/>
            <a:ext cx="3310128" cy="1353312"/>
          </a:xfrm>
          <a:prstGeom prst="rect">
            <a:avLst/>
          </a:prstGeom>
          <a:solidFill>
            <a:srgbClr val="0B1733"/>
          </a:solidFill>
          <a:ln w="12700">
            <a:solidFill>
              <a:srgbClr val="FB7185"/>
            </a:solidFill>
            <a:prstDash val="solid"/>
          </a:ln>
        </p:spPr>
      </p:sp>
      <p:sp>
        <p:nvSpPr>
          <p:cNvPr id="42" name="Shape 40"/>
          <p:cNvSpPr/>
          <p:nvPr/>
        </p:nvSpPr>
        <p:spPr>
          <a:xfrm>
            <a:off x="5230368" y="3639312"/>
            <a:ext cx="3310128" cy="32004"/>
          </a:xfrm>
          <a:prstGeom prst="rect">
            <a:avLst/>
          </a:prstGeom>
          <a:solidFill>
            <a:srgbClr val="FB7185"/>
          </a:solidFill>
          <a:ln w="12700">
            <a:solidFill>
              <a:srgbClr val="FB7185"/>
            </a:solidFill>
            <a:prstDash val="solid"/>
          </a:ln>
        </p:spPr>
      </p:sp>
      <p:sp>
        <p:nvSpPr>
          <p:cNvPr id="43" name="Shape 41"/>
          <p:cNvSpPr/>
          <p:nvPr/>
        </p:nvSpPr>
        <p:spPr>
          <a:xfrm>
            <a:off x="5358384" y="3749040"/>
            <a:ext cx="329184" cy="329184"/>
          </a:xfrm>
          <a:prstGeom prst="ellipse">
            <a:avLst/>
          </a:prstGeom>
          <a:solidFill>
            <a:srgbClr val="FB7185">
              <a:alpha val="22000"/>
            </a:srgbClr>
          </a:solidFill>
          <a:ln w="12700">
            <a:solidFill>
              <a:srgbClr val="FB7185"/>
            </a:solidFill>
            <a:prstDash val="solid"/>
          </a:ln>
        </p:spPr>
      </p:sp>
      <p:sp>
        <p:nvSpPr>
          <p:cNvPr id="44" name="Text 42"/>
          <p:cNvSpPr/>
          <p:nvPr/>
        </p:nvSpPr>
        <p:spPr>
          <a:xfrm>
            <a:off x="5358384" y="3749040"/>
            <a:ext cx="329184" cy="329184"/>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45" name="Text 43"/>
          <p:cNvSpPr/>
          <p:nvPr/>
        </p:nvSpPr>
        <p:spPr>
          <a:xfrm>
            <a:off x="5760720" y="3749040"/>
            <a:ext cx="2670048" cy="329184"/>
          </a:xfrm>
          <a:prstGeom prst="rect">
            <a:avLst/>
          </a:prstGeom>
          <a:noFill/>
          <a:ln/>
        </p:spPr>
        <p:txBody>
          <a:bodyPr wrap="square" lIns="0" tIns="0" rIns="0" bIns="0" rtlCol="0" anchor="ctr"/>
          <a:lstStyle/>
          <a:p>
            <a:pPr marL="0" indent="0" algn="l">
              <a:buNone/>
            </a:pPr>
            <a:r>
              <a:rPr lang="en-US" sz="1200" b="1" dirty="0">
                <a:solidFill>
                  <a:srgbClr val="FB7185"/>
                </a:solidFill>
                <a:latin typeface="Calibri" pitchFamily="34" charset="0"/>
                <a:ea typeface="Calibri" pitchFamily="34" charset="-122"/>
                <a:cs typeface="Calibri" pitchFamily="34" charset="-120"/>
              </a:rPr>
              <a:t>Cero burocracia</a:t>
            </a:r>
            <a:endParaRPr lang="en-US" sz="1200" dirty="0"/>
          </a:p>
        </p:txBody>
      </p:sp>
      <p:sp>
        <p:nvSpPr>
          <p:cNvPr id="46" name="Text 44"/>
          <p:cNvSpPr/>
          <p:nvPr/>
        </p:nvSpPr>
        <p:spPr>
          <a:xfrm>
            <a:off x="5358384" y="4142232"/>
            <a:ext cx="3081528" cy="786384"/>
          </a:xfrm>
          <a:prstGeom prst="rect">
            <a:avLst/>
          </a:prstGeom>
          <a:noFill/>
          <a:ln/>
        </p:spPr>
        <p:txBody>
          <a:bodyPr wrap="square" lIns="0" tIns="0" rIns="0" bIns="0" rtlCol="0" anchor="t"/>
          <a:lstStyle/>
          <a:p>
            <a:pPr marL="0" indent="0">
              <a:lnSpc>
                <a:spcPct val="120000"/>
              </a:lnSpc>
              <a:buNone/>
            </a:pPr>
            <a:r>
              <a:rPr lang="en-US" sz="1200" dirty="0">
                <a:solidFill>
                  <a:srgbClr val="E2E8F0"/>
                </a:solidFill>
                <a:latin typeface="Calibri" pitchFamily="34" charset="0"/>
                <a:ea typeface="Calibri" pitchFamily="34" charset="-122"/>
                <a:cs typeface="Calibri" pitchFamily="34" charset="-120"/>
              </a:rPr>
              <a:t>Sin Excel, </a:t>
            </a:r>
            <a:r>
              <a:rPr lang="en-US" sz="1200" dirty="0" err="1">
                <a:solidFill>
                  <a:srgbClr val="E2E8F0"/>
                </a:solidFill>
                <a:latin typeface="Calibri" pitchFamily="34" charset="0"/>
                <a:ea typeface="Calibri" pitchFamily="34" charset="-122"/>
                <a:cs typeface="Calibri" pitchFamily="34" charset="-120"/>
              </a:rPr>
              <a:t>correos</a:t>
            </a:r>
            <a:r>
              <a:rPr lang="en-US" sz="1200" dirty="0">
                <a:solidFill>
                  <a:srgbClr val="E2E8F0"/>
                </a:solidFill>
                <a:latin typeface="Calibri" pitchFamily="34" charset="0"/>
                <a:ea typeface="Calibri" pitchFamily="34" charset="-122"/>
                <a:cs typeface="Calibri" pitchFamily="34" charset="-120"/>
              </a:rPr>
              <a:t>, ni aprobaciones manuales. Las reglas </a:t>
            </a:r>
            <a:r>
              <a:rPr lang="en-US" sz="1200" dirty="0" err="1">
                <a:solidFill>
                  <a:srgbClr val="E2E8F0"/>
                </a:solidFill>
                <a:latin typeface="Calibri" pitchFamily="34" charset="0"/>
                <a:ea typeface="Calibri" pitchFamily="34" charset="-122"/>
                <a:cs typeface="Calibri" pitchFamily="34" charset="-120"/>
              </a:rPr>
              <a:t>inteligentes</a:t>
            </a:r>
            <a:r>
              <a:rPr lang="en-US" sz="1200" dirty="0">
                <a:solidFill>
                  <a:srgbClr val="E2E8F0"/>
                </a:solidFill>
                <a:latin typeface="Calibri" pitchFamily="34" charset="0"/>
                <a:ea typeface="Calibri" pitchFamily="34" charset="-122"/>
                <a:cs typeface="Calibri" pitchFamily="34" charset="-120"/>
              </a:rPr>
              <a:t> </a:t>
            </a:r>
            <a:r>
              <a:rPr lang="en-US" sz="1200" dirty="0" err="1">
                <a:solidFill>
                  <a:srgbClr val="E2E8F0"/>
                </a:solidFill>
                <a:latin typeface="Calibri" pitchFamily="34" charset="0"/>
                <a:ea typeface="Calibri" pitchFamily="34" charset="-122"/>
                <a:cs typeface="Calibri" pitchFamily="34" charset="-120"/>
              </a:rPr>
              <a:t>agilizan</a:t>
            </a:r>
            <a:r>
              <a:rPr lang="en-US" sz="1200" dirty="0">
                <a:solidFill>
                  <a:srgbClr val="E2E8F0"/>
                </a:solidFill>
                <a:latin typeface="Calibri" pitchFamily="34" charset="0"/>
                <a:ea typeface="Calibri" pitchFamily="34" charset="-122"/>
                <a:cs typeface="Calibri" pitchFamily="34" charset="-120"/>
              </a:rPr>
              <a:t> </a:t>
            </a:r>
            <a:r>
              <a:rPr lang="en-US" sz="1200" dirty="0" err="1">
                <a:solidFill>
                  <a:srgbClr val="E2E8F0"/>
                </a:solidFill>
                <a:latin typeface="Calibri" pitchFamily="34" charset="0"/>
                <a:ea typeface="Calibri" pitchFamily="34" charset="-122"/>
                <a:cs typeface="Calibri" pitchFamily="34" charset="-120"/>
              </a:rPr>
              <a:t>el</a:t>
            </a:r>
            <a:r>
              <a:rPr lang="en-US" sz="1200" dirty="0">
                <a:solidFill>
                  <a:srgbClr val="E2E8F0"/>
                </a:solidFill>
                <a:latin typeface="Calibri" pitchFamily="34" charset="0"/>
                <a:ea typeface="Calibri" pitchFamily="34" charset="-122"/>
                <a:cs typeface="Calibri" pitchFamily="34" charset="-120"/>
              </a:rPr>
              <a:t> </a:t>
            </a:r>
            <a:r>
              <a:rPr lang="en-US" sz="1200" dirty="0" err="1">
                <a:solidFill>
                  <a:srgbClr val="E2E8F0"/>
                </a:solidFill>
                <a:latin typeface="Calibri" pitchFamily="34" charset="0"/>
                <a:ea typeface="Calibri" pitchFamily="34" charset="-122"/>
                <a:cs typeface="Calibri" pitchFamily="34" charset="-120"/>
              </a:rPr>
              <a:t>proceso</a:t>
            </a:r>
            <a:r>
              <a:rPr lang="en-US" sz="1200" dirty="0">
                <a:solidFill>
                  <a:srgbClr val="E2E8F0"/>
                </a:solidFill>
                <a:latin typeface="Calibri" pitchFamily="34" charset="0"/>
                <a:ea typeface="Calibri" pitchFamily="34" charset="-122"/>
                <a:cs typeface="Calibri" pitchFamily="34" charset="-120"/>
              </a:rPr>
              <a:t>.</a:t>
            </a:r>
            <a:endParaRPr lang="en-US" sz="1200" dirty="0"/>
          </a:p>
        </p:txBody>
      </p:sp>
      <p:sp>
        <p:nvSpPr>
          <p:cNvPr id="47" name="Shape 45"/>
          <p:cNvSpPr/>
          <p:nvPr/>
        </p:nvSpPr>
        <p:spPr>
          <a:xfrm>
            <a:off x="8668512" y="3639312"/>
            <a:ext cx="3310128" cy="1353312"/>
          </a:xfrm>
          <a:prstGeom prst="rect">
            <a:avLst/>
          </a:prstGeom>
          <a:solidFill>
            <a:srgbClr val="0B1733"/>
          </a:solidFill>
          <a:ln w="12700">
            <a:solidFill>
              <a:srgbClr val="1246B3"/>
            </a:solidFill>
            <a:prstDash val="solid"/>
          </a:ln>
        </p:spPr>
      </p:sp>
      <p:sp>
        <p:nvSpPr>
          <p:cNvPr id="48" name="Shape 46"/>
          <p:cNvSpPr/>
          <p:nvPr/>
        </p:nvSpPr>
        <p:spPr>
          <a:xfrm>
            <a:off x="8668512" y="3639312"/>
            <a:ext cx="3310128" cy="32004"/>
          </a:xfrm>
          <a:prstGeom prst="rect">
            <a:avLst/>
          </a:prstGeom>
          <a:solidFill>
            <a:srgbClr val="1246B3"/>
          </a:solidFill>
          <a:ln w="12700">
            <a:solidFill>
              <a:srgbClr val="1246B3"/>
            </a:solidFill>
            <a:prstDash val="solid"/>
          </a:ln>
        </p:spPr>
      </p:sp>
      <p:sp>
        <p:nvSpPr>
          <p:cNvPr id="49" name="Shape 47"/>
          <p:cNvSpPr/>
          <p:nvPr/>
        </p:nvSpPr>
        <p:spPr>
          <a:xfrm>
            <a:off x="8796528" y="3749040"/>
            <a:ext cx="329184" cy="329184"/>
          </a:xfrm>
          <a:prstGeom prst="ellipse">
            <a:avLst/>
          </a:prstGeom>
          <a:solidFill>
            <a:srgbClr val="1246B3">
              <a:alpha val="22000"/>
            </a:srgbClr>
          </a:solidFill>
          <a:ln w="12700">
            <a:solidFill>
              <a:srgbClr val="1246B3"/>
            </a:solidFill>
            <a:prstDash val="solid"/>
          </a:ln>
        </p:spPr>
      </p:sp>
      <p:sp>
        <p:nvSpPr>
          <p:cNvPr id="50" name="Text 48"/>
          <p:cNvSpPr/>
          <p:nvPr/>
        </p:nvSpPr>
        <p:spPr>
          <a:xfrm>
            <a:off x="8796528" y="3749040"/>
            <a:ext cx="329184" cy="329184"/>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51" name="Text 49"/>
          <p:cNvSpPr/>
          <p:nvPr/>
        </p:nvSpPr>
        <p:spPr>
          <a:xfrm>
            <a:off x="9198864" y="3749040"/>
            <a:ext cx="2670048" cy="329184"/>
          </a:xfrm>
          <a:prstGeom prst="rect">
            <a:avLst/>
          </a:prstGeom>
          <a:noFill/>
          <a:ln/>
        </p:spPr>
        <p:txBody>
          <a:bodyPr wrap="square" lIns="0" tIns="0" rIns="0" bIns="0" rtlCol="0" anchor="ctr"/>
          <a:lstStyle/>
          <a:p>
            <a:pPr marL="0" indent="0" algn="l">
              <a:buNone/>
            </a:pPr>
            <a:r>
              <a:rPr lang="en-US" sz="1200" b="1" dirty="0">
                <a:solidFill>
                  <a:srgbClr val="1246B3"/>
                </a:solidFill>
                <a:latin typeface="Calibri" pitchFamily="34" charset="0"/>
                <a:ea typeface="Calibri" pitchFamily="34" charset="-122"/>
                <a:cs typeface="Calibri" pitchFamily="34" charset="-120"/>
              </a:rPr>
              <a:t>Transformación digital real</a:t>
            </a:r>
            <a:endParaRPr lang="en-US" sz="1200" dirty="0"/>
          </a:p>
        </p:txBody>
      </p:sp>
      <p:sp>
        <p:nvSpPr>
          <p:cNvPr id="52" name="Text 50"/>
          <p:cNvSpPr/>
          <p:nvPr/>
        </p:nvSpPr>
        <p:spPr>
          <a:xfrm>
            <a:off x="8796528" y="4142232"/>
            <a:ext cx="3081528" cy="786384"/>
          </a:xfrm>
          <a:prstGeom prst="rect">
            <a:avLst/>
          </a:prstGeom>
          <a:noFill/>
          <a:ln/>
        </p:spPr>
        <p:txBody>
          <a:bodyPr wrap="square" lIns="0" tIns="0" rIns="0" bIns="0" rtlCol="0" anchor="t"/>
          <a:lstStyle/>
          <a:p>
            <a:pPr marL="0" indent="0">
              <a:lnSpc>
                <a:spcPct val="120000"/>
              </a:lnSpc>
              <a:buNone/>
            </a:pPr>
            <a:r>
              <a:rPr lang="en-US" sz="1200" dirty="0">
                <a:solidFill>
                  <a:srgbClr val="E2E8F0"/>
                </a:solidFill>
                <a:latin typeface="Calibri" pitchFamily="34" charset="0"/>
                <a:ea typeface="Calibri" pitchFamily="34" charset="-122"/>
                <a:cs typeface="Calibri" pitchFamily="34" charset="-120"/>
              </a:rPr>
              <a:t>El primer paso hacia una cultura basada en datos, automatización y mejora continua.</a:t>
            </a:r>
            <a:endParaRPr lang="en-US" sz="1200" dirty="0"/>
          </a:p>
        </p:txBody>
      </p:sp>
      <p:sp>
        <p:nvSpPr>
          <p:cNvPr id="53" name="Shape 51"/>
          <p:cNvSpPr/>
          <p:nvPr/>
        </p:nvSpPr>
        <p:spPr>
          <a:xfrm>
            <a:off x="5230368" y="5193792"/>
            <a:ext cx="2212848" cy="502920"/>
          </a:xfrm>
          <a:prstGeom prst="rect">
            <a:avLst/>
          </a:prstGeom>
          <a:solidFill>
            <a:srgbClr val="091428"/>
          </a:solidFill>
          <a:ln w="12700">
            <a:solidFill>
              <a:srgbClr val="34D399"/>
            </a:solidFill>
            <a:prstDash val="solid"/>
          </a:ln>
        </p:spPr>
      </p:sp>
      <p:sp>
        <p:nvSpPr>
          <p:cNvPr id="54" name="Text 52"/>
          <p:cNvSpPr/>
          <p:nvPr/>
        </p:nvSpPr>
        <p:spPr>
          <a:xfrm>
            <a:off x="5230368" y="5230368"/>
            <a:ext cx="2212848" cy="256032"/>
          </a:xfrm>
          <a:prstGeom prst="rect">
            <a:avLst/>
          </a:prstGeom>
          <a:noFill/>
          <a:ln/>
        </p:spPr>
        <p:txBody>
          <a:bodyPr wrap="square" lIns="0" tIns="0" rIns="0" bIns="0" rtlCol="0" anchor="ctr"/>
          <a:lstStyle/>
          <a:p>
            <a:pPr marL="0" indent="0" algn="ctr">
              <a:buNone/>
            </a:pPr>
            <a:r>
              <a:rPr lang="en-US" sz="1200" b="1" dirty="0">
                <a:solidFill>
                  <a:srgbClr val="34D399"/>
                </a:solidFill>
                <a:latin typeface="Calibri" pitchFamily="34" charset="0"/>
                <a:ea typeface="Calibri" pitchFamily="34" charset="-122"/>
                <a:cs typeface="Calibri" pitchFamily="34" charset="-120"/>
              </a:rPr>
              <a:t>ROI +68.6%</a:t>
            </a:r>
            <a:endParaRPr lang="en-US" sz="1200" dirty="0"/>
          </a:p>
        </p:txBody>
      </p:sp>
      <p:sp>
        <p:nvSpPr>
          <p:cNvPr id="55" name="Text 53"/>
          <p:cNvSpPr/>
          <p:nvPr/>
        </p:nvSpPr>
        <p:spPr>
          <a:xfrm>
            <a:off x="5230368" y="5495544"/>
            <a:ext cx="2212848" cy="155448"/>
          </a:xfrm>
          <a:prstGeom prst="rect">
            <a:avLst/>
          </a:prstGeom>
          <a:noFill/>
          <a:ln/>
        </p:spPr>
        <p:txBody>
          <a:bodyPr wrap="square" lIns="0" tIns="0" rIns="0" bIns="0" rtlCol="0" anchor="ctr"/>
          <a:lstStyle/>
          <a:p>
            <a:pPr marL="0" indent="0" algn="ctr">
              <a:buNone/>
            </a:pPr>
            <a:r>
              <a:rPr lang="en-US" sz="1200" dirty="0">
                <a:solidFill>
                  <a:schemeClr val="bg1"/>
                </a:solidFill>
                <a:latin typeface="Calibri" pitchFamily="34" charset="0"/>
                <a:ea typeface="Calibri" pitchFamily="34" charset="-122"/>
                <a:cs typeface="Calibri" pitchFamily="34" charset="-120"/>
              </a:rPr>
              <a:t>a 24 meses</a:t>
            </a:r>
            <a:endParaRPr lang="en-US" sz="1200" dirty="0">
              <a:solidFill>
                <a:schemeClr val="bg1"/>
              </a:solidFill>
            </a:endParaRPr>
          </a:p>
        </p:txBody>
      </p:sp>
      <p:sp>
        <p:nvSpPr>
          <p:cNvPr id="56" name="Shape 54"/>
          <p:cNvSpPr/>
          <p:nvPr/>
        </p:nvSpPr>
        <p:spPr>
          <a:xfrm>
            <a:off x="7534656" y="5193792"/>
            <a:ext cx="2212848" cy="502920"/>
          </a:xfrm>
          <a:prstGeom prst="rect">
            <a:avLst/>
          </a:prstGeom>
          <a:solidFill>
            <a:srgbClr val="091428"/>
          </a:solidFill>
          <a:ln w="12700">
            <a:solidFill>
              <a:srgbClr val="FBBF24"/>
            </a:solidFill>
            <a:prstDash val="solid"/>
          </a:ln>
        </p:spPr>
      </p:sp>
      <p:sp>
        <p:nvSpPr>
          <p:cNvPr id="57" name="Text 55"/>
          <p:cNvSpPr/>
          <p:nvPr/>
        </p:nvSpPr>
        <p:spPr>
          <a:xfrm>
            <a:off x="7534656" y="5230368"/>
            <a:ext cx="2212848" cy="256032"/>
          </a:xfrm>
          <a:prstGeom prst="rect">
            <a:avLst/>
          </a:prstGeom>
          <a:noFill/>
          <a:ln/>
        </p:spPr>
        <p:txBody>
          <a:bodyPr wrap="square" lIns="0" tIns="0" rIns="0" bIns="0" rtlCol="0" anchor="ctr"/>
          <a:lstStyle/>
          <a:p>
            <a:pPr marL="0" indent="0" algn="ctr">
              <a:buNone/>
            </a:pPr>
            <a:r>
              <a:rPr lang="en-US" sz="1200" b="1" dirty="0">
                <a:solidFill>
                  <a:srgbClr val="FBBF24"/>
                </a:solidFill>
                <a:latin typeface="Calibri" pitchFamily="34" charset="0"/>
                <a:ea typeface="Calibri" pitchFamily="34" charset="-122"/>
                <a:cs typeface="Calibri" pitchFamily="34" charset="-120"/>
              </a:rPr>
              <a:t>14.2 meses</a:t>
            </a:r>
            <a:endParaRPr lang="en-US" sz="1200" dirty="0"/>
          </a:p>
        </p:txBody>
      </p:sp>
      <p:sp>
        <p:nvSpPr>
          <p:cNvPr id="58" name="Text 56"/>
          <p:cNvSpPr/>
          <p:nvPr/>
        </p:nvSpPr>
        <p:spPr>
          <a:xfrm>
            <a:off x="7534656" y="5495544"/>
            <a:ext cx="2212848" cy="155448"/>
          </a:xfrm>
          <a:prstGeom prst="rect">
            <a:avLst/>
          </a:prstGeom>
          <a:noFill/>
          <a:ln/>
        </p:spPr>
        <p:txBody>
          <a:bodyPr wrap="square" lIns="0" tIns="0" rIns="0" bIns="0" rtlCol="0" anchor="ctr"/>
          <a:lstStyle/>
          <a:p>
            <a:pPr marL="0" indent="0" algn="ctr">
              <a:buNone/>
            </a:pPr>
            <a:r>
              <a:rPr lang="en-US" sz="1200" dirty="0">
                <a:solidFill>
                  <a:schemeClr val="bg1"/>
                </a:solidFill>
                <a:latin typeface="Calibri" pitchFamily="34" charset="0"/>
                <a:ea typeface="Calibri" pitchFamily="34" charset="-122"/>
                <a:cs typeface="Calibri" pitchFamily="34" charset="-120"/>
              </a:rPr>
              <a:t>payback estimado</a:t>
            </a:r>
            <a:endParaRPr lang="en-US" sz="1200" dirty="0">
              <a:solidFill>
                <a:schemeClr val="bg1"/>
              </a:solidFill>
            </a:endParaRPr>
          </a:p>
        </p:txBody>
      </p:sp>
      <p:sp>
        <p:nvSpPr>
          <p:cNvPr id="59" name="Shape 57"/>
          <p:cNvSpPr/>
          <p:nvPr/>
        </p:nvSpPr>
        <p:spPr>
          <a:xfrm>
            <a:off x="9838944" y="5193792"/>
            <a:ext cx="2212848" cy="502920"/>
          </a:xfrm>
          <a:prstGeom prst="rect">
            <a:avLst/>
          </a:prstGeom>
          <a:solidFill>
            <a:srgbClr val="091428"/>
          </a:solidFill>
          <a:ln w="12700">
            <a:solidFill>
              <a:srgbClr val="38BDF8"/>
            </a:solidFill>
            <a:prstDash val="solid"/>
          </a:ln>
        </p:spPr>
      </p:sp>
      <p:sp>
        <p:nvSpPr>
          <p:cNvPr id="60" name="Text 58"/>
          <p:cNvSpPr/>
          <p:nvPr/>
        </p:nvSpPr>
        <p:spPr>
          <a:xfrm>
            <a:off x="9838944" y="5230368"/>
            <a:ext cx="2212848" cy="256032"/>
          </a:xfrm>
          <a:prstGeom prst="rect">
            <a:avLst/>
          </a:prstGeom>
          <a:noFill/>
          <a:ln/>
        </p:spPr>
        <p:txBody>
          <a:bodyPr wrap="square" lIns="0" tIns="0" rIns="0" bIns="0" rtlCol="0" anchor="ctr"/>
          <a:lstStyle/>
          <a:p>
            <a:pPr marL="0" indent="0" algn="ctr">
              <a:buNone/>
            </a:pPr>
            <a:r>
              <a:rPr lang="en-US" sz="1200" b="1" dirty="0">
                <a:solidFill>
                  <a:srgbClr val="38BDF8"/>
                </a:solidFill>
                <a:latin typeface="Calibri" pitchFamily="34" charset="0"/>
                <a:ea typeface="Calibri" pitchFamily="34" charset="-122"/>
                <a:cs typeface="Calibri" pitchFamily="34" charset="-120"/>
              </a:rPr>
              <a:t>$2.810.000</a:t>
            </a:r>
            <a:endParaRPr lang="en-US" sz="1200" dirty="0"/>
          </a:p>
        </p:txBody>
      </p:sp>
      <p:sp>
        <p:nvSpPr>
          <p:cNvPr id="61" name="Text 59"/>
          <p:cNvSpPr/>
          <p:nvPr/>
        </p:nvSpPr>
        <p:spPr>
          <a:xfrm>
            <a:off x="9838944" y="5495544"/>
            <a:ext cx="2212848" cy="155448"/>
          </a:xfrm>
          <a:prstGeom prst="rect">
            <a:avLst/>
          </a:prstGeom>
          <a:noFill/>
          <a:ln/>
        </p:spPr>
        <p:txBody>
          <a:bodyPr wrap="square" lIns="0" tIns="0" rIns="0" bIns="0" rtlCol="0" anchor="ctr"/>
          <a:lstStyle/>
          <a:p>
            <a:pPr marL="0" indent="0" algn="ctr">
              <a:buNone/>
            </a:pPr>
            <a:r>
              <a:rPr lang="en-US" sz="1200" dirty="0">
                <a:solidFill>
                  <a:schemeClr val="bg1"/>
                </a:solidFill>
                <a:latin typeface="Calibri" pitchFamily="34" charset="0"/>
                <a:ea typeface="Calibri" pitchFamily="34" charset="-122"/>
                <a:cs typeface="Calibri" pitchFamily="34" charset="-120"/>
              </a:rPr>
              <a:t>ahorro neto / mes</a:t>
            </a:r>
            <a:endParaRPr lang="en-US" sz="1200" dirty="0">
              <a:solidFill>
                <a:schemeClr val="bg1"/>
              </a:solidFill>
            </a:endParaRPr>
          </a:p>
        </p:txBody>
      </p:sp>
      <p:sp>
        <p:nvSpPr>
          <p:cNvPr id="62" name="Shape 60"/>
          <p:cNvSpPr/>
          <p:nvPr/>
        </p:nvSpPr>
        <p:spPr>
          <a:xfrm>
            <a:off x="0" y="6720840"/>
            <a:ext cx="12188952" cy="137160"/>
          </a:xfrm>
          <a:prstGeom prst="rect">
            <a:avLst/>
          </a:prstGeom>
          <a:solidFill>
            <a:srgbClr val="1246B3"/>
          </a:solidFill>
          <a:ln w="12700">
            <a:solidFill>
              <a:srgbClr val="1246B3"/>
            </a:solidFill>
            <a:prstDash val="solid"/>
          </a:ln>
        </p:spPr>
      </p:sp>
      <p:sp>
        <p:nvSpPr>
          <p:cNvPr id="63" name="Text 61"/>
          <p:cNvSpPr/>
          <p:nvPr/>
        </p:nvSpPr>
        <p:spPr>
          <a:xfrm>
            <a:off x="182880" y="6611112"/>
            <a:ext cx="11823192" cy="128016"/>
          </a:xfrm>
          <a:prstGeom prst="rect">
            <a:avLst/>
          </a:prstGeom>
          <a:noFill/>
          <a:ln/>
        </p:spPr>
        <p:txBody>
          <a:bodyPr wrap="square" lIns="0" tIns="0" rIns="0" bIns="0" rtlCol="0" anchor="ctr"/>
          <a:lstStyle/>
          <a:p>
            <a:pPr marL="0" indent="0" algn="l">
              <a:buNone/>
            </a:pPr>
            <a:r>
              <a:rPr lang="en-US" sz="700" i="1" dirty="0">
                <a:solidFill>
                  <a:srgbClr val="475569"/>
                </a:solidFill>
                <a:latin typeface="Calibri" pitchFamily="34" charset="0"/>
                <a:ea typeface="Calibri" pitchFamily="34" charset="-122"/>
                <a:cs typeface="Calibri" pitchFamily="34" charset="-120"/>
              </a:rPr>
              <a:t>Gabriel Sandoval G.  ·  Product Owner  ·  Proyecto ABP Módulo 5  ·  Rediseño del Flujo de Viáticos  ·  2025</a:t>
            </a:r>
            <a:endParaRPr lang="en-US" sz="7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name="Slide 22">
    <p:bg>
      <p:bgPr>
        <a:solidFill>
          <a:srgbClr val="060D1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A3A"/>
          </a:solidFill>
          <a:ln w="12700">
            <a:solidFill>
              <a:srgbClr val="0B1A3A"/>
            </a:solidFill>
            <a:prstDash val="solid"/>
          </a:ln>
        </p:spPr>
      </p:sp>
      <p:sp>
        <p:nvSpPr>
          <p:cNvPr id="3" name="Shape 1"/>
          <p:cNvSpPr/>
          <p:nvPr/>
        </p:nvSpPr>
        <p:spPr>
          <a:xfrm>
            <a:off x="0" y="0"/>
            <a:ext cx="82296" cy="6858000"/>
          </a:xfrm>
          <a:prstGeom prst="rect">
            <a:avLst/>
          </a:prstGeom>
          <a:solidFill>
            <a:srgbClr val="1246B3"/>
          </a:solidFill>
          <a:ln w="12700">
            <a:solidFill>
              <a:srgbClr val="1246B3"/>
            </a:solidFill>
            <a:prstDash val="solid"/>
          </a:ln>
        </p:spPr>
      </p:sp>
      <p:sp>
        <p:nvSpPr>
          <p:cNvPr id="4" name="Shape 2"/>
          <p:cNvSpPr/>
          <p:nvPr/>
        </p:nvSpPr>
        <p:spPr>
          <a:xfrm>
            <a:off x="7772400" y="-1828800"/>
            <a:ext cx="6400800" cy="6400800"/>
          </a:xfrm>
          <a:prstGeom prst="ellipse">
            <a:avLst/>
          </a:prstGeom>
          <a:solidFill>
            <a:srgbClr val="1246B3">
              <a:alpha val="12000"/>
            </a:srgbClr>
          </a:solidFill>
          <a:ln w="12700">
            <a:solidFill>
              <a:srgbClr val="1246B3">
                <a:alpha val="12000"/>
              </a:srgbClr>
            </a:solidFill>
            <a:prstDash val="solid"/>
          </a:ln>
        </p:spPr>
      </p:sp>
      <p:sp>
        <p:nvSpPr>
          <p:cNvPr id="5" name="Shape 3"/>
          <p:cNvSpPr/>
          <p:nvPr/>
        </p:nvSpPr>
        <p:spPr>
          <a:xfrm>
            <a:off x="5486400" y="4572000"/>
            <a:ext cx="3657600" cy="3657600"/>
          </a:xfrm>
          <a:prstGeom prst="ellipse">
            <a:avLst/>
          </a:prstGeom>
          <a:solidFill>
            <a:srgbClr val="1246B3">
              <a:alpha val="10000"/>
            </a:srgbClr>
          </a:solidFill>
          <a:ln w="12700">
            <a:solidFill>
              <a:srgbClr val="1246B3">
                <a:alpha val="10000"/>
              </a:srgbClr>
            </a:solidFill>
            <a:prstDash val="solid"/>
          </a:ln>
        </p:spPr>
      </p:sp>
      <p:sp>
        <p:nvSpPr>
          <p:cNvPr id="7" name="Text 4"/>
          <p:cNvSpPr/>
          <p:nvPr/>
        </p:nvSpPr>
        <p:spPr>
          <a:xfrm>
            <a:off x="274320" y="1645920"/>
            <a:ext cx="6400800" cy="320040"/>
          </a:xfrm>
          <a:prstGeom prst="rect">
            <a:avLst/>
          </a:prstGeom>
          <a:noFill/>
          <a:ln/>
        </p:spPr>
        <p:txBody>
          <a:bodyPr wrap="square" lIns="0" tIns="0" rIns="0" bIns="0" rtlCol="0" anchor="ctr"/>
          <a:lstStyle/>
          <a:p>
            <a:pPr marL="0" indent="0" algn="l">
              <a:buNone/>
            </a:pPr>
            <a:r>
              <a:rPr lang="en-US" sz="1000" b="1" kern="0" spc="200" dirty="0">
                <a:solidFill>
                  <a:srgbClr val="38BDF8"/>
                </a:solidFill>
                <a:latin typeface="Calibri" pitchFamily="34" charset="0"/>
                <a:ea typeface="Calibri" pitchFamily="34" charset="-122"/>
                <a:cs typeface="Calibri" pitchFamily="34" charset="-120"/>
              </a:rPr>
              <a:t>PROYECTO ABP · MÓDULO 5</a:t>
            </a:r>
            <a:endParaRPr lang="en-US" sz="1000" dirty="0"/>
          </a:p>
        </p:txBody>
      </p:sp>
      <p:sp>
        <p:nvSpPr>
          <p:cNvPr id="8" name="Text 5"/>
          <p:cNvSpPr/>
          <p:nvPr/>
        </p:nvSpPr>
        <p:spPr>
          <a:xfrm>
            <a:off x="274320" y="2011680"/>
            <a:ext cx="6400800" cy="2286000"/>
          </a:xfrm>
          <a:prstGeom prst="rect">
            <a:avLst/>
          </a:prstGeom>
          <a:noFill/>
          <a:ln/>
        </p:spPr>
        <p:txBody>
          <a:bodyPr wrap="square" lIns="0" tIns="0" rIns="0" bIns="0" rtlCol="0" anchor="ctr"/>
          <a:lstStyle/>
          <a:p>
            <a:pPr marL="0" indent="0" algn="l">
              <a:lnSpc>
                <a:spcPct val="95000"/>
              </a:lnSpc>
              <a:buNone/>
            </a:pPr>
            <a:r>
              <a:rPr lang="en-US" sz="5200" b="1" dirty="0">
                <a:solidFill>
                  <a:srgbClr val="FFFFFF"/>
                </a:solidFill>
                <a:latin typeface="Calibri" pitchFamily="34" charset="0"/>
                <a:ea typeface="Calibri" pitchFamily="34" charset="-122"/>
                <a:cs typeface="Calibri" pitchFamily="34" charset="-120"/>
              </a:rPr>
              <a:t>Expense
</a:t>
            </a:r>
            <a:r>
              <a:rPr lang="en-US" sz="5200" b="1" dirty="0">
                <a:solidFill>
                  <a:srgbClr val="38BDF8"/>
                </a:solidFill>
                <a:latin typeface="Calibri" pitchFamily="34" charset="0"/>
                <a:ea typeface="Calibri" pitchFamily="34" charset="-122"/>
                <a:cs typeface="Calibri" pitchFamily="34" charset="-120"/>
              </a:rPr>
              <a:t>Mobility System AI</a:t>
            </a:r>
            <a:endParaRPr lang="en-US" sz="5200" dirty="0"/>
          </a:p>
        </p:txBody>
      </p:sp>
      <p:sp>
        <p:nvSpPr>
          <p:cNvPr id="9" name="Shape 6"/>
          <p:cNvSpPr/>
          <p:nvPr/>
        </p:nvSpPr>
        <p:spPr>
          <a:xfrm>
            <a:off x="274320" y="4370832"/>
            <a:ext cx="2011680" cy="36576"/>
          </a:xfrm>
          <a:prstGeom prst="rect">
            <a:avLst/>
          </a:prstGeom>
          <a:solidFill>
            <a:srgbClr val="FBBF24"/>
          </a:solidFill>
          <a:ln w="12700">
            <a:solidFill>
              <a:srgbClr val="FBBF24"/>
            </a:solidFill>
            <a:prstDash val="solid"/>
          </a:ln>
        </p:spPr>
      </p:sp>
      <p:sp>
        <p:nvSpPr>
          <p:cNvPr id="10" name="Text 7"/>
          <p:cNvSpPr/>
          <p:nvPr/>
        </p:nvSpPr>
        <p:spPr>
          <a:xfrm>
            <a:off x="274320" y="4480560"/>
            <a:ext cx="6400800" cy="274320"/>
          </a:xfrm>
          <a:prstGeom prst="rect">
            <a:avLst/>
          </a:prstGeom>
          <a:noFill/>
          <a:ln/>
        </p:spPr>
        <p:txBody>
          <a:bodyPr wrap="square" lIns="0" tIns="0" rIns="0" bIns="0" rtlCol="0" anchor="ctr"/>
          <a:lstStyle/>
          <a:p>
            <a:pPr marL="0" indent="0" algn="l">
              <a:buNone/>
            </a:pPr>
            <a:r>
              <a:rPr lang="en-US" sz="1000" dirty="0">
                <a:solidFill>
                  <a:srgbClr val="E2E8F0"/>
                </a:solidFill>
                <a:latin typeface="Calibri" pitchFamily="34" charset="0"/>
                <a:ea typeface="Calibri" pitchFamily="34" charset="-122"/>
                <a:cs typeface="Calibri" pitchFamily="34" charset="-120"/>
              </a:rPr>
              <a:t>Product Owner: Gabriel Sandoval  ·  Marzo 2026  ·  Copyright©</a:t>
            </a:r>
            <a:endParaRPr lang="en-US" sz="1000" dirty="0"/>
          </a:p>
        </p:txBody>
      </p:sp>
      <p:sp>
        <p:nvSpPr>
          <p:cNvPr id="11" name="Shape 8"/>
          <p:cNvSpPr/>
          <p:nvPr/>
        </p:nvSpPr>
        <p:spPr>
          <a:xfrm>
            <a:off x="0" y="6720840"/>
            <a:ext cx="12188952" cy="137160"/>
          </a:xfrm>
          <a:prstGeom prst="rect">
            <a:avLst/>
          </a:prstGeom>
          <a:solidFill>
            <a:srgbClr val="1246B3"/>
          </a:solidFill>
          <a:ln w="12700">
            <a:solidFill>
              <a:srgbClr val="1246B3"/>
            </a:solidFill>
            <a:prstDash val="solid"/>
          </a:ln>
        </p:spPr>
      </p:sp>
      <p:pic>
        <p:nvPicPr>
          <p:cNvPr id="12" name="Imagen 11">
            <a:extLst>
              <a:ext uri="{FF2B5EF4-FFF2-40B4-BE49-F238E27FC236}">
                <a16:creationId xmlns:a16="http://schemas.microsoft.com/office/drawing/2014/main" id="{28CB1EAC-9995-FB76-AA90-84C8242F21B2}"/>
              </a:ext>
            </a:extLst>
          </p:cNvPr>
          <p:cNvPicPr>
            <a:picLocks noChangeAspect="1"/>
          </p:cNvPicPr>
          <p:nvPr/>
        </p:nvPicPr>
        <p:blipFill>
          <a:blip r:embed="rId3"/>
          <a:stretch>
            <a:fillRect/>
          </a:stretch>
        </p:blipFill>
        <p:spPr>
          <a:xfrm>
            <a:off x="7185923" y="1247503"/>
            <a:ext cx="4158313" cy="381435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277</TotalTime>
  <Words>11420</Words>
  <Application>Microsoft Macintosh PowerPoint</Application>
  <PresentationFormat>Panorámica</PresentationFormat>
  <Paragraphs>687</Paragraphs>
  <Slides>37</Slides>
  <Notes>34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37</vt:i4>
      </vt:variant>
    </vt:vector>
  </HeadingPairs>
  <TitlesOfParts>
    <vt:vector size="42" baseType="lpstr">
      <vt:lpstr>Arial Unicode MS</vt:lpstr>
      <vt:lpstr>Arial</vt:lpstr>
      <vt:lpstr>Calibri</vt:lpstr>
      <vt:lpstr>Gill Sans MT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GABRIEL SANDOVAL</cp:lastModifiedBy>
  <cp:revision>16</cp:revision>
  <dcterms:created xsi:type="dcterms:W3CDTF">2026-03-04T01:03:03Z</dcterms:created>
  <dcterms:modified xsi:type="dcterms:W3CDTF">2026-03-09T01:22:55Z</dcterms:modified>
</cp:coreProperties>
</file>