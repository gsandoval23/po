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51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62755"/>
          </a:solidFill>
          <a:ln w="12700">
            <a:solidFill>
              <a:srgbClr val="1627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1097280"/>
          </a:xfrm>
          <a:prstGeom prst="rect">
            <a:avLst/>
          </a:prstGeom>
          <a:solidFill>
            <a:srgbClr val="00C5A1">
              <a:alpha val="25000"/>
            </a:srgbClr>
          </a:solidFill>
          <a:ln w="12700">
            <a:solidFill>
              <a:srgbClr val="00C5A1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20040"/>
            <a:ext cx="2011680" cy="292608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MÓDULO ABP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Inception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One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4114800" cy="36576"/>
          </a:xfrm>
          <a:prstGeom prst="rect">
            <a:avLst/>
          </a:prstGeom>
          <a:solidFill>
            <a:srgbClr val="8B9AB4"/>
          </a:solidFill>
          <a:ln w="12700">
            <a:solidFill>
              <a:srgbClr val="8B9A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aprendizaje en un solo lugar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4"/>
                </a:solidFill>
              </a:rPr>
              <a:t>PO Bootcamp  •  </a:t>
            </a:r>
            <a:r>
              <a:rPr lang="en-US" sz="1100" b="1" dirty="0">
                <a:solidFill>
                  <a:srgbClr val="00C5A1"/>
                </a:solidFill>
              </a:rPr>
              <a:t>Gabriel Sandoval</a:t>
            </a:r>
            <a:r>
              <a:rPr lang="en-US" sz="1100" dirty="0">
                <a:solidFill>
                  <a:srgbClr val="8B9AB4"/>
                </a:solidFill>
              </a:rPr>
              <a:t>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600" dirty="0">
                <a:solidFill>
                  <a:srgbClr val="FFFFFF"/>
                </a:solidFill>
              </a:rPr>
              <a:t>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86868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2527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¿Por qué estamos aquí?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664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4"/>
                </a:solidFill>
              </a:rPr>
              <a:t>Problema, impacto y oportunidad estratégica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86868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344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13248" y="12527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Pitch del Producto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13248" y="1664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4"/>
                </a:solidFill>
              </a:rPr>
              <a:t>Propuesta de valor y product box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86000"/>
            <a:ext cx="73152" cy="86868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2350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MVP – Foco y Alcance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761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4"/>
                </a:solidFill>
              </a:rPr>
              <a:t>Ni list, trade-offs y balance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73152" cy="86868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13248" y="2350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Riesgos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13248" y="2761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4"/>
                </a:solidFill>
              </a:rPr>
              <a:t>¿Qué no nos deja dormir?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83280"/>
            <a:ext cx="73152" cy="86868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4290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24128" y="3447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Story Mapping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3858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4"/>
                </a:solidFill>
              </a:rPr>
              <a:t>Procesos, actividades y requerimientos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832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383280"/>
            <a:ext cx="73152" cy="86868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4290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13248" y="3447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Stakeholders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13248" y="3858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4"/>
                </a:solidFill>
              </a:rPr>
              <a:t>Vecinos y relacionamiento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</a:rPr>
              <a:t>¿POR QUÉ ESTAMOS AQUÍ?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658368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0C5A1"/>
                </a:solidFill>
              </a:rPr>
              <a:t>"El problema no es construir más, es hacer utilizable lo que ya existe."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</a:rPr>
              <a:t>El Problema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22199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A"/>
                </a:solidFill>
              </a:rPr>
              <a:t>EdTech creció en ventas y activos digitales, pero NO en experiencia unificada.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A4A"/>
                </a:solidFill>
              </a:rPr>
              <a:t>El ecosistema digital está fragmentado: múltiples herramientas, accesos distintos y alta fricción.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196596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828800"/>
            <a:ext cx="1965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22%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23957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4"/>
                </a:solidFill>
              </a:rPr>
              <a:t>Uso recurrente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1828800"/>
            <a:ext cx="196596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12280" y="1828800"/>
            <a:ext cx="1965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42%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23957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4"/>
                </a:solidFill>
              </a:rPr>
              <a:t>Abandono de sesión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196596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2608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15+ min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63440" y="34930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4"/>
                </a:solidFill>
              </a:rPr>
              <a:t>Buscando contenido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12280" y="2926080"/>
            <a:ext cx="196596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292608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↓ ROI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12280" y="34930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AB4"/>
                </a:solidFill>
              </a:rPr>
              <a:t>Retorno de activos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88620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Oportunidad: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A"/>
                </a:solidFill>
              </a:rPr>
              <a:t>Reorganizar el ecosistema digital para reducir la fricción de acceso, navegación y uso: mayor adopción, mejor percepción de valor e impacto directo en margen operacional.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755"/>
          </a:solidFill>
          <a:ln w="12700">
            <a:solidFill>
              <a:srgbClr val="1627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1188720" cy="292608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PITCH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Propuesta de Valor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6FA"/>
                </a:solidFill>
              </a:rPr>
              <a:t>La experiencia digital educativa está dispersa, fragmentada y llena de fricción.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C5A1"/>
                </a:solidFill>
              </a:rPr>
              <a:t>EdTech One lo cambia todo: </a:t>
            </a:r>
            <a:r>
              <a:rPr lang="en-US" sz="1300" dirty="0">
                <a:solidFill>
                  <a:srgbClr val="F4F6FA"/>
                </a:solidFill>
              </a:rPr>
              <a:t>una sola plataforma donde descubrir, acceder y usar recursos educativos — sin saltar entre herramientas, sin perder tiempo.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5303520" cy="594360"/>
          </a:xfrm>
          <a:prstGeom prst="rect">
            <a:avLst/>
          </a:prstGeom>
          <a:solidFill>
            <a:srgbClr val="001533"/>
          </a:solidFill>
          <a:ln w="12700">
            <a:solidFill>
              <a:srgbClr val="0015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063240"/>
            <a:ext cx="73152" cy="59436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5A1"/>
                </a:solidFill>
              </a:rPr>
              <a:t>"No es construir más, es hacer utilizable lo existente"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114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5A1"/>
                </a:solidFill>
              </a:rPr>
              <a:t>Product Box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743200" cy="50292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</a:rPr>
              <a:t>EdTech One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1417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F6FA"/>
                </a:solidFill>
              </a:rPr>
              <a:t>Todo el aprendizaje en un solo lugar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182880" cy="182880"/>
          </a:xfrm>
          <a:prstGeom prst="ellipse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74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Acceso único (SSO)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423160"/>
            <a:ext cx="182880" cy="182880"/>
          </a:xfrm>
          <a:prstGeom prst="ellipse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331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Buscador centralizado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182880" cy="182880"/>
          </a:xfrm>
          <a:prstGeom prst="ellipse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7889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Recomendaciones básicas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337560"/>
            <a:ext cx="182880" cy="182880"/>
          </a:xfrm>
          <a:prstGeom prst="ellipse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2461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Experiencia con continuidad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794760"/>
            <a:ext cx="182880" cy="182880"/>
          </a:xfrm>
          <a:prstGeom prst="ellipse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703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Dashboard docente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</a:rPr>
              <a:t>MVP – FOCO Y ALCANCE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6517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 ALCANCE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77393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642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Plataforma unificada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" y="224942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396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Buscador central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" y="27249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1518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Integración de contenidos existentes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" y="32004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9067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Login único (SSO)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" y="36758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661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Dashboard docente básico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" y="41513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416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Navegación simplificada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051560"/>
            <a:ext cx="26517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FUERA DE ALCANCE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47288" y="177393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16642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Creación masiva de contenido nuevo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47288" y="224942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1396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IA avanzada o motor de recomendación complejo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47288" y="272491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61518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Gamificación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47288" y="320040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309067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Rediseño pedagógico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051560"/>
            <a:ext cx="26517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SIN RESOLVER (AUN)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73368" y="177393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16642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Nivel de personalización del buscador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73368" y="224942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1396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Criterios de rol (alumno vs docente vs admin)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73368" y="27249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61518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Política de contenidos legacy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73368" y="320040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309067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4A"/>
                </a:solidFill>
              </a:rPr>
              <a:t>Integración con sistemas externos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</a:rPr>
              <a:t>BALANCE – QUÉ VAMOS A DAR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35661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325880"/>
            <a:ext cx="685800" cy="6858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</a:rPr>
              <a:t>Uso de Activos Existentes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AB4"/>
                </a:solidFill>
              </a:rPr>
              <a:t>Aprovechamos el 100% del contenido y herramientas ya disponibles, sin crear desde cero.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4114800"/>
            <a:ext cx="1600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148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BAJO RIESGO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606040" cy="35661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4300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325880"/>
            <a:ext cx="685800" cy="6858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</a:rPr>
              <a:t>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91840" y="21488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</a:rPr>
              <a:t>Integración de Experiencia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83464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AB4"/>
                </a:solidFill>
              </a:rPr>
              <a:t>Unificamos puntos de acceso, buscador y navegación para eliminar la fricción actual.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03320" y="4114800"/>
            <a:ext cx="1600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41148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MEDIO VALOR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143000"/>
            <a:ext cx="2606040" cy="35661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14300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1325880"/>
            <a:ext cx="685800" cy="685800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4444"/>
                </a:solidFill>
              </a:rPr>
              <a:t>◈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26480" y="21488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</a:rPr>
              <a:t>Escala Futura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283464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AB4"/>
                </a:solidFill>
              </a:rPr>
              <a:t>Arquitectura preparada para IA, gamificación y personalización avanzada en fases posteriores.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37960" y="4114800"/>
            <a:ext cx="1600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1148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ALTO IMPACTO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AB4"/>
                </a:solidFill>
              </a:rPr>
              <a:t>El MVP habilita valor incremental sin depender de nueva infraestructura — entrega rápida, validación temprana, escalabilidad posterior.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91328"/>
          </a:solidFill>
          <a:ln w="12700">
            <a:solidFill>
              <a:srgbClr val="0913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</a:rPr>
              <a:t>¿QUÉ NO NOS DEJA DORMIR? – RIESGOS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411480"/>
          </a:xfrm>
          <a:prstGeom prst="rect">
            <a:avLst/>
          </a:prstGeom>
          <a:solidFill>
            <a:srgbClr val="162755"/>
          </a:solidFill>
          <a:ln w="12700">
            <a:solidFill>
              <a:srgbClr val="1627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C5A1"/>
                </a:solidFill>
              </a:rPr>
              <a:t>Riesgo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10058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5A1"/>
                </a:solidFill>
              </a:rPr>
              <a:t>Severidad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0058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5A1"/>
                </a:solidFill>
              </a:rPr>
              <a:t>Calidad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0058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5A1"/>
                </a:solidFill>
              </a:rPr>
              <a:t>Impacto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10058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5A1"/>
                </a:solidFill>
              </a:rPr>
              <a:t>Complejidad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06640" y="10058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5A1"/>
                </a:solidFill>
              </a:rPr>
              <a:t>Costo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481328"/>
            <a:ext cx="850392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54480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Adopción insuficiente post-lanzamiento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67912" y="162763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62763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162763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48272" y="16276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08392" y="162763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03120"/>
            <a:ext cx="8503920" cy="566928"/>
          </a:xfrm>
          <a:prstGeom prst="rect">
            <a:avLst/>
          </a:prstGeom>
          <a:solidFill>
            <a:srgbClr val="0F2248"/>
          </a:solidFill>
          <a:ln w="12700">
            <a:solidFill>
              <a:srgbClr val="0F22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76272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Fricción técnica en integración de sistemas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67912" y="224942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2249424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88152" y="2249424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8272" y="2249424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8392" y="2249424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724912"/>
            <a:ext cx="850392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79806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Resistencia de stakeholders internos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67912" y="287121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287121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152" y="287121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48272" y="287121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08392" y="287121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346704"/>
            <a:ext cx="8503920" cy="566928"/>
          </a:xfrm>
          <a:prstGeom prst="rect">
            <a:avLst/>
          </a:prstGeom>
          <a:solidFill>
            <a:srgbClr val="0F2248"/>
          </a:solidFill>
          <a:ln w="12700">
            <a:solidFill>
              <a:srgbClr val="0F22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419856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Alcance no controlado (scope creep)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67912" y="349300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349300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88152" y="3493008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48272" y="3493008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08392" y="3493008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968496"/>
            <a:ext cx="850392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041648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Deuda técnica de sistemas legacy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67912" y="41148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411480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88152" y="411480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48272" y="411480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08392" y="411480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75488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4"/>
                </a:solidFill>
              </a:rPr>
              <a:t>Alto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737360" y="47548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93392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4"/>
                </a:solidFill>
              </a:rPr>
              <a:t>Medio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017520" y="475488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73552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4"/>
                </a:solidFill>
              </a:rPr>
              <a:t>Bajo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</a:rPr>
              <a:t>STORY MAPPING – BACKBONE MVP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438912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P1: Acceder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5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27632"/>
            <a:ext cx="64008" cy="41148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276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</a:rPr>
              <a:t>Login unificado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103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Acceso único (SSO)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560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Acceso persistente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22783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5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27832"/>
            <a:ext cx="64008" cy="41148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227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</a:rPr>
              <a:t>Landing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7033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703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Dashboard simple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1605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41605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Personalización básica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1051560"/>
            <a:ext cx="20116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1051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P2: Buscar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162763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68880" y="1627632"/>
            <a:ext cx="6400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78608" y="16276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</a:rPr>
              <a:t>Buscador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21031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103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Búsqueda rápida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0" y="25603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33472" y="2560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Filtros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322783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3227832"/>
            <a:ext cx="6400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3227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</a:rPr>
              <a:t>Navegación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37033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3703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Categorías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0" y="41605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33472" y="41605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Sugerencias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1051560"/>
            <a:ext cx="201168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1051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P3: Usar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162763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1627632"/>
            <a:ext cx="6400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16276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</a:rPr>
              <a:t>Consumo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21031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2103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Acceso directo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25603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2560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Sin redirecciones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322783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227832"/>
            <a:ext cx="6400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27448" y="3227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</a:rPr>
              <a:t>Guardar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37033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3703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Favoritos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41605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82312" y="41605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Historial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766560" y="1051560"/>
            <a:ext cx="2011680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1051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P4: Docente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766560" y="162763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766560" y="1627632"/>
            <a:ext cx="64008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76288" y="16276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</a:rPr>
              <a:t>Asignar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58000" y="21031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31152" y="2103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2 clics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858000" y="25603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31152" y="2560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Selección múltiple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766560" y="322783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766560" y="3227832"/>
            <a:ext cx="64008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76288" y="3227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</a:rPr>
              <a:t>Seguimiento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58000" y="37033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31152" y="3703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Visualización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858000" y="4160520"/>
            <a:ext cx="178308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1EDE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31152" y="41605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</a:rPr>
              <a:t>Progreso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solidFill>
            <a:srgbClr val="00C5A1">
              <a:alpha val="40000"/>
            </a:srgbClr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MVP: acceso &gt; búsqueda &gt; uso continuo &gt; visibilidad docente — entrega incremental validada con datos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300" dirty="0">
                <a:solidFill>
                  <a:srgbClr val="FFFFFF"/>
                </a:solidFill>
              </a:rPr>
              <a:t>STAKEHOLDERS – VECINOS Y RELACIONAMIENTO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24912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724912" cy="64008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2456" y="1234440"/>
            <a:ext cx="640080" cy="640080"/>
          </a:xfrm>
          <a:prstGeom prst="ellipse">
            <a:avLst/>
          </a:prstGeom>
          <a:solidFill>
            <a:srgbClr val="00C5A1">
              <a:alpha val="20000"/>
            </a:srgbClr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2456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5A1"/>
                </a:solidFill>
              </a:rPr>
              <a:t>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</a:rPr>
              <a:t>Comercial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4"/>
                </a:solidFill>
              </a:rPr>
              <a:t>Alineación con propuesta de valor, impacto en retención y upsell.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724912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97280"/>
            <a:ext cx="27249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97096" y="123444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7096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46120" y="196596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</a:rPr>
              <a:t>Tecnología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4"/>
                </a:solidFill>
              </a:rPr>
              <a:t>Integración técnica, SSO, buscador y arquitectura de plataforma.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1097280"/>
            <a:ext cx="2724912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097280"/>
            <a:ext cx="272491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31736" y="1234440"/>
            <a:ext cx="640080" cy="64008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1736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</a:rPr>
              <a:t>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80760" y="196596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</a:rPr>
              <a:t>Pedagogía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228600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4"/>
                </a:solidFill>
              </a:rPr>
              <a:t>Validación del modelo de experiencia y uso de activos didácticos.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37360" y="2971800"/>
            <a:ext cx="2724912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737360" y="2971800"/>
            <a:ext cx="2724912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79776" y="3108960"/>
            <a:ext cx="640080" cy="640080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55F7"/>
                </a:solidFill>
              </a:rPr>
              <a:t>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828800" y="384048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</a:rPr>
              <a:t>UX / UI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28800" y="416052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4"/>
                </a:solidFill>
              </a:rPr>
              <a:t>Diseño de la experiencia unificada, navegación y prototipado.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2971800"/>
            <a:ext cx="2724912" cy="16459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971800"/>
            <a:ext cx="2724912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14416" y="3108960"/>
            <a:ext cx="640080" cy="64008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</a:rPr>
              <a:t>★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663440" y="384048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</a:rPr>
              <a:t>Colegios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416052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4"/>
                </a:solidFill>
              </a:rPr>
              <a:t>Usuario final (docentes y alumnos): adopción, feedback y NPS.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62755"/>
          </a:solidFill>
          <a:ln w="12700">
            <a:solidFill>
              <a:srgbClr val="1627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54864" cy="514350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286000" cy="32004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RESUMEN EJECUTIVO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Conclusiones Clave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384048" cy="384048"/>
          </a:xfrm>
          <a:prstGeom prst="ellipse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</a:rPr>
              <a:t>El problema central es de experiencia, no de contenido. Los activos existen pero están fragmentados.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</a:rPr>
              <a:t>El MVP prioriza acceso único, buscador y navegación simple — habilitadores antes que features.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</a:rPr>
              <a:t>La entrega es incremental: validar adopción, medir impacto y escalar con datos.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A"/>
                </a:solidFill>
              </a:rPr>
              <a:t>Alineado con objetivos 2026: mejor experiencia, máximo retorno de activos, operación eficiente.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0" y="4114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5A1"/>
                </a:solidFill>
              </a:rPr>
              <a:t>KPIs de Éxito MVP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914400"/>
            <a:ext cx="2834640" cy="822960"/>
          </a:xfrm>
          <a:prstGeom prst="rect">
            <a:avLst/>
          </a:prstGeom>
          <a:solidFill>
            <a:srgbClr val="091328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960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5A1"/>
                </a:solidFill>
              </a:rPr>
              <a:t>&gt;40%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0" y="1344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</a:rPr>
              <a:t>Uso recurrente (vs 22%)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1920240"/>
            <a:ext cx="2834640" cy="822960"/>
          </a:xfrm>
          <a:prstGeom prst="rect">
            <a:avLst/>
          </a:prstGeom>
          <a:solidFill>
            <a:srgbClr val="091328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9659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5A1"/>
                </a:solidFill>
              </a:rPr>
              <a:t>&lt;5 min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43600" y="23500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</a:rPr>
              <a:t>Tiempo búsqueda (vs 15+)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926080"/>
            <a:ext cx="2834640" cy="822960"/>
          </a:xfrm>
          <a:prstGeom prst="rect">
            <a:avLst/>
          </a:prstGeom>
          <a:solidFill>
            <a:srgbClr val="091328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9718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5A1"/>
                </a:solidFill>
              </a:rPr>
              <a:t>&lt;20%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43600" y="33558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</a:rPr>
              <a:t>Tasa de abandono (vs 42%)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3931920"/>
            <a:ext cx="2834640" cy="822960"/>
          </a:xfrm>
          <a:prstGeom prst="rect">
            <a:avLst/>
          </a:prstGeom>
          <a:solidFill>
            <a:srgbClr val="091328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977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5A1"/>
                </a:solidFill>
              </a:rPr>
              <a:t>NPS 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943600" y="43616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6FA"/>
                </a:solidFill>
              </a:rPr>
              <a:t>Percepción de valor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5A1"/>
          </a:solidFill>
          <a:ln w="12700">
            <a:solidFill>
              <a:srgbClr val="00C5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331720"/>
            <a:ext cx="8979408" cy="45720"/>
          </a:xfrm>
          <a:prstGeom prst="rect">
            <a:avLst/>
          </a:prstGeom>
          <a:solidFill>
            <a:srgbClr val="00C5A1">
              <a:alpha val="30000"/>
            </a:srgbClr>
          </a:solidFill>
          <a:ln w="12700">
            <a:solidFill>
              <a:srgbClr val="00C5A1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FFFFF"/>
                </a:solidFill>
              </a:rPr>
              <a:t>EdTech One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C5A1"/>
                </a:solidFill>
              </a:rPr>
              <a:t>Simple. Integrada. Centrada en el aprendizaje.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AB4"/>
                </a:solidFill>
              </a:rPr>
              <a:t>"No construir más. Hacer utilizable lo que existe."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Gabriel Sandoval  </a:t>
            </a:r>
            <a:r>
              <a:rPr lang="en-US" sz="1300" dirty="0">
                <a:solidFill>
                  <a:srgbClr val="8B9AB4"/>
                </a:solidFill>
              </a:rPr>
              <a:t>•  PO Bootcamp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Macintosh PowerPoint</Application>
  <PresentationFormat>Presentación en pantalla (16:9)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Inception – EdTech One</dc:title>
  <dc:subject>PptxGenJS Presentation</dc:subject>
  <dc:creator>PptxGenJS</dc:creator>
  <cp:lastModifiedBy>GABRIEL SANDOVAL</cp:lastModifiedBy>
  <cp:revision>1</cp:revision>
  <dcterms:created xsi:type="dcterms:W3CDTF">2026-03-25T21:13:04Z</dcterms:created>
  <dcterms:modified xsi:type="dcterms:W3CDTF">2026-03-25T21:15:30Z</dcterms:modified>
</cp:coreProperties>
</file>