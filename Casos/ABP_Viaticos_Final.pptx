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4"/>
  </p:notesMasterIdLst>
  <p:sldIdLst>
    <p:sldId id="256" r:id="rId2"/>
    <p:sldId id="267" r:id="rId3"/>
    <p:sldId id="260" r:id="rId4"/>
    <p:sldId id="261" r:id="rId5"/>
    <p:sldId id="270" r:id="rId6"/>
    <p:sldId id="262" r:id="rId7"/>
    <p:sldId id="266" r:id="rId8"/>
    <p:sldId id="263" r:id="rId9"/>
    <p:sldId id="265" r:id="rId10"/>
    <p:sldId id="264" r:id="rId11"/>
    <p:sldId id="268" r:id="rId12"/>
    <p:sldId id="269" r:id="rId13"/>
  </p:sldIdLst>
  <p:sldSz cx="12599988" cy="1079976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969" userDrawn="1">
          <p15:clr>
            <a:srgbClr val="A4A3A4"/>
          </p15:clr>
        </p15:guide>
        <p15:guide id="3" orient="horz" pos="340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87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2504" y="168"/>
      </p:cViewPr>
      <p:guideLst>
        <p:guide pos="3969"/>
        <p:guide orient="horz" pos="34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ECEA4-91A0-E740-82E3-8F687A160B98}" type="datetimeFigureOut">
              <a:rPr lang="es-ES_tradnl" smtClean="0"/>
              <a:t>24/2/26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221038" y="857250"/>
            <a:ext cx="27019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D7B47-2DE5-D447-A6AA-EA9C911DE95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714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4814" y="1263436"/>
            <a:ext cx="7629238" cy="4002166"/>
          </a:xfrm>
        </p:spPr>
        <p:txBody>
          <a:bodyPr bIns="0" anchor="b">
            <a:normAutofit/>
          </a:bodyPr>
          <a:lstStyle>
            <a:lvl1pPr algn="l">
              <a:defRPr sz="7441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14814" y="5560831"/>
            <a:ext cx="7629238" cy="1539527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205" b="0" cap="all" baseline="0">
                <a:solidFill>
                  <a:schemeClr val="tx1"/>
                </a:solidFill>
              </a:defRPr>
            </a:lvl1pPr>
            <a:lvl2pPr marL="472516" indent="0" algn="ctr">
              <a:buNone/>
              <a:defRPr sz="2067"/>
            </a:lvl2pPr>
            <a:lvl3pPr marL="945032" indent="0" algn="ctr">
              <a:buNone/>
              <a:defRPr sz="1860"/>
            </a:lvl3pPr>
            <a:lvl4pPr marL="1417549" indent="0" algn="ctr">
              <a:buNone/>
              <a:defRPr sz="1654"/>
            </a:lvl4pPr>
            <a:lvl5pPr marL="1890065" indent="0" algn="ctr">
              <a:buNone/>
              <a:defRPr sz="1654"/>
            </a:lvl5pPr>
            <a:lvl6pPr marL="2362581" indent="0" algn="ctr">
              <a:buNone/>
              <a:defRPr sz="1654"/>
            </a:lvl6pPr>
            <a:lvl7pPr marL="2835097" indent="0" algn="ctr">
              <a:buNone/>
              <a:defRPr sz="1654"/>
            </a:lvl7pPr>
            <a:lvl8pPr marL="3307613" indent="0" algn="ctr">
              <a:buNone/>
              <a:defRPr sz="1654"/>
            </a:lvl8pPr>
            <a:lvl9pPr marL="3780130" indent="0" algn="ctr">
              <a:buNone/>
              <a:defRPr sz="1654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4814" y="518585"/>
            <a:ext cx="4139957" cy="486920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76952" y="1258197"/>
            <a:ext cx="1105124" cy="793019"/>
          </a:xfrm>
        </p:spPr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>
            <a:off x="3192044" y="1258199"/>
            <a:ext cx="0" cy="4007403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49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>
            <a:off x="1890118" y="1258197"/>
            <a:ext cx="0" cy="1680543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93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723" y="2765499"/>
            <a:ext cx="7613293" cy="2973084"/>
          </a:xfrm>
        </p:spPr>
        <p:txBody>
          <a:bodyPr anchor="b">
            <a:normAutofit/>
          </a:bodyPr>
          <a:lstStyle>
            <a:lvl1pPr algn="l">
              <a:defRPr sz="441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5724" y="5993879"/>
            <a:ext cx="7613293" cy="1595129"/>
          </a:xfrm>
        </p:spPr>
        <p:txBody>
          <a:bodyPr tIns="91440">
            <a:normAutofit/>
          </a:bodyPr>
          <a:lstStyle>
            <a:lvl1pPr marL="0" indent="0" algn="l">
              <a:buNone/>
              <a:defRPr sz="2480">
                <a:solidFill>
                  <a:schemeClr val="tx1"/>
                </a:solidFill>
              </a:defRPr>
            </a:lvl1pPr>
            <a:lvl2pPr marL="472516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2pPr>
            <a:lvl3pPr marL="945032" indent="0">
              <a:buNone/>
              <a:defRPr sz="1860">
                <a:solidFill>
                  <a:schemeClr val="tx1">
                    <a:tint val="75000"/>
                  </a:schemeClr>
                </a:solidFill>
              </a:defRPr>
            </a:lvl3pPr>
            <a:lvl4pPr marL="1417549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4pPr>
            <a:lvl5pPr marL="1890065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5pPr>
            <a:lvl6pPr marL="2362581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6pPr>
            <a:lvl7pPr marL="2835097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7pPr>
            <a:lvl8pPr marL="3307613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8pPr>
            <a:lvl9pPr marL="378013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>
            <a:off x="1890118" y="1258198"/>
            <a:ext cx="0" cy="4480385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2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725" y="1267516"/>
            <a:ext cx="8928328" cy="166816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15723" y="3171483"/>
            <a:ext cx="4243663" cy="541336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388" y="3171484"/>
            <a:ext cx="4243663" cy="541336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>
            <a:off x="1890118" y="1258197"/>
            <a:ext cx="0" cy="1680543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5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725" y="1266373"/>
            <a:ext cx="8928329" cy="1663458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5725" y="3180325"/>
            <a:ext cx="4243663" cy="126287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032" b="0" cap="all" baseline="0">
                <a:solidFill>
                  <a:schemeClr val="accent1"/>
                </a:solidFill>
              </a:defRPr>
            </a:lvl1pPr>
            <a:lvl2pPr marL="472516" indent="0">
              <a:buNone/>
              <a:defRPr sz="2067" b="1"/>
            </a:lvl2pPr>
            <a:lvl3pPr marL="945032" indent="0">
              <a:buNone/>
              <a:defRPr sz="1860" b="1"/>
            </a:lvl3pPr>
            <a:lvl4pPr marL="1417549" indent="0">
              <a:buNone/>
              <a:defRPr sz="1654" b="1"/>
            </a:lvl4pPr>
            <a:lvl5pPr marL="1890065" indent="0">
              <a:buNone/>
              <a:defRPr sz="1654" b="1"/>
            </a:lvl5pPr>
            <a:lvl6pPr marL="2362581" indent="0">
              <a:buNone/>
              <a:defRPr sz="1654" b="1"/>
            </a:lvl6pPr>
            <a:lvl7pPr marL="2835097" indent="0">
              <a:buNone/>
              <a:defRPr sz="1654" b="1"/>
            </a:lvl7pPr>
            <a:lvl8pPr marL="3307613" indent="0">
              <a:buNone/>
              <a:defRPr sz="1654" b="1"/>
            </a:lvl8pPr>
            <a:lvl9pPr marL="3780130" indent="0">
              <a:buNone/>
              <a:defRPr sz="1654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15725" y="4447572"/>
            <a:ext cx="4243663" cy="416440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387" y="3185764"/>
            <a:ext cx="4243665" cy="126333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032" b="0" cap="all" baseline="0">
                <a:solidFill>
                  <a:schemeClr val="accent1"/>
                </a:solidFill>
              </a:defRPr>
            </a:lvl1pPr>
            <a:lvl2pPr marL="472516" indent="0">
              <a:buNone/>
              <a:defRPr sz="2067" b="1"/>
            </a:lvl2pPr>
            <a:lvl3pPr marL="945032" indent="0">
              <a:buNone/>
              <a:defRPr sz="1860" b="1"/>
            </a:lvl3pPr>
            <a:lvl4pPr marL="1417549" indent="0">
              <a:buNone/>
              <a:defRPr sz="1654" b="1"/>
            </a:lvl4pPr>
            <a:lvl5pPr marL="1890065" indent="0">
              <a:buNone/>
              <a:defRPr sz="1654" b="1"/>
            </a:lvl5pPr>
            <a:lvl6pPr marL="2362581" indent="0">
              <a:buNone/>
              <a:defRPr sz="1654" b="1"/>
            </a:lvl6pPr>
            <a:lvl7pPr marL="2835097" indent="0">
              <a:buNone/>
              <a:defRPr sz="1654" b="1"/>
            </a:lvl7pPr>
            <a:lvl8pPr marL="3307613" indent="0">
              <a:buNone/>
              <a:defRPr sz="1654" b="1"/>
            </a:lvl8pPr>
            <a:lvl9pPr marL="3780130" indent="0">
              <a:buNone/>
              <a:defRPr sz="1654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387" y="4443196"/>
            <a:ext cx="4243665" cy="415324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11" name="Straight Connector 10"/>
          <p:cNvCxnSpPr/>
          <p:nvPr/>
        </p:nvCxnSpPr>
        <p:spPr>
          <a:xfrm>
            <a:off x="1890118" y="1258197"/>
            <a:ext cx="0" cy="1680543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5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/>
          <p:cNvCxnSpPr/>
          <p:nvPr/>
        </p:nvCxnSpPr>
        <p:spPr>
          <a:xfrm>
            <a:off x="1890118" y="1258197"/>
            <a:ext cx="0" cy="1680543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81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0167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5647" y="1258199"/>
            <a:ext cx="3210124" cy="3538689"/>
          </a:xfrm>
        </p:spPr>
        <p:txBody>
          <a:bodyPr anchor="b">
            <a:normAutofit/>
          </a:bodyPr>
          <a:lstStyle>
            <a:lvl1pPr algn="l">
              <a:defRPr sz="3307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009" y="1258199"/>
            <a:ext cx="5275043" cy="7336573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5725" y="5047909"/>
            <a:ext cx="3212002" cy="3540365"/>
          </a:xfrm>
        </p:spPr>
        <p:txBody>
          <a:bodyPr>
            <a:normAutofit/>
          </a:bodyPr>
          <a:lstStyle>
            <a:lvl1pPr marL="0" indent="0" algn="l">
              <a:buNone/>
              <a:defRPr sz="2205"/>
            </a:lvl1pPr>
            <a:lvl2pPr marL="472516" indent="0">
              <a:buNone/>
              <a:defRPr sz="1447"/>
            </a:lvl2pPr>
            <a:lvl3pPr marL="945032" indent="0">
              <a:buNone/>
              <a:defRPr sz="1240"/>
            </a:lvl3pPr>
            <a:lvl4pPr marL="1417549" indent="0">
              <a:buNone/>
              <a:defRPr sz="1034"/>
            </a:lvl4pPr>
            <a:lvl5pPr marL="1890065" indent="0">
              <a:buNone/>
              <a:defRPr sz="1034"/>
            </a:lvl5pPr>
            <a:lvl6pPr marL="2362581" indent="0">
              <a:buNone/>
              <a:defRPr sz="1034"/>
            </a:lvl6pPr>
            <a:lvl7pPr marL="2835097" indent="0">
              <a:buNone/>
              <a:defRPr sz="1034"/>
            </a:lvl7pPr>
            <a:lvl8pPr marL="3307613" indent="0">
              <a:buNone/>
              <a:defRPr sz="1034"/>
            </a:lvl8pPr>
            <a:lvl9pPr marL="3780130" indent="0">
              <a:buNone/>
              <a:defRPr sz="1034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>
            <a:off x="1890118" y="1258199"/>
            <a:ext cx="0" cy="3538689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23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884936" y="759308"/>
            <a:ext cx="4838521" cy="8108643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11" y="1778722"/>
            <a:ext cx="4344518" cy="2882746"/>
          </a:xfrm>
        </p:spPr>
        <p:txBody>
          <a:bodyPr anchor="b">
            <a:normAutofit/>
          </a:bodyPr>
          <a:lstStyle>
            <a:lvl1pPr>
              <a:defRPr sz="441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1822" y="1767746"/>
            <a:ext cx="3079719" cy="6088570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307"/>
            </a:lvl1pPr>
            <a:lvl2pPr marL="472516" indent="0">
              <a:buNone/>
              <a:defRPr sz="2894"/>
            </a:lvl2pPr>
            <a:lvl3pPr marL="945032" indent="0">
              <a:buNone/>
              <a:defRPr sz="2480"/>
            </a:lvl3pPr>
            <a:lvl4pPr marL="1417549" indent="0">
              <a:buNone/>
              <a:defRPr sz="2067"/>
            </a:lvl4pPr>
            <a:lvl5pPr marL="1890065" indent="0">
              <a:buNone/>
              <a:defRPr sz="2067"/>
            </a:lvl5pPr>
            <a:lvl6pPr marL="2362581" indent="0">
              <a:buNone/>
              <a:defRPr sz="2067"/>
            </a:lvl6pPr>
            <a:lvl7pPr marL="2835097" indent="0">
              <a:buNone/>
              <a:defRPr sz="2067"/>
            </a:lvl7pPr>
            <a:lvl8pPr marL="3307613" indent="0">
              <a:buNone/>
              <a:defRPr sz="2067"/>
            </a:lvl8pPr>
            <a:lvl9pPr marL="3780130" indent="0">
              <a:buNone/>
              <a:defRPr sz="2067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5724" y="4954209"/>
            <a:ext cx="4338294" cy="3155430"/>
          </a:xfrm>
        </p:spPr>
        <p:txBody>
          <a:bodyPr>
            <a:normAutofit/>
          </a:bodyPr>
          <a:lstStyle>
            <a:lvl1pPr marL="0" indent="0" algn="l">
              <a:buNone/>
              <a:defRPr sz="2480"/>
            </a:lvl1pPr>
            <a:lvl2pPr marL="472516" indent="0">
              <a:buNone/>
              <a:defRPr sz="1447"/>
            </a:lvl2pPr>
            <a:lvl3pPr marL="945032" indent="0">
              <a:buNone/>
              <a:defRPr sz="1240"/>
            </a:lvl3pPr>
            <a:lvl4pPr marL="1417549" indent="0">
              <a:buNone/>
              <a:defRPr sz="1034"/>
            </a:lvl4pPr>
            <a:lvl5pPr marL="1890065" indent="0">
              <a:buNone/>
              <a:defRPr sz="1034"/>
            </a:lvl5pPr>
            <a:lvl6pPr marL="2362581" indent="0">
              <a:buNone/>
              <a:defRPr sz="1034"/>
            </a:lvl6pPr>
            <a:lvl7pPr marL="2835097" indent="0">
              <a:buNone/>
              <a:defRPr sz="1034"/>
            </a:lvl7pPr>
            <a:lvl8pPr marL="3307613" indent="0">
              <a:buNone/>
              <a:defRPr sz="1034"/>
            </a:lvl8pPr>
            <a:lvl9pPr marL="3780130" indent="0">
              <a:buNone/>
              <a:defRPr sz="1034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15723" y="8613760"/>
            <a:ext cx="4345607" cy="504120"/>
          </a:xfrm>
        </p:spPr>
        <p:txBody>
          <a:bodyPr/>
          <a:lstStyle>
            <a:lvl1pPr algn="l">
              <a:defRPr/>
            </a:lvl1pPr>
          </a:lstStyle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16881" y="501787"/>
            <a:ext cx="4344448" cy="505392"/>
          </a:xfrm>
        </p:spPr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12" name="Straight Connector 11"/>
          <p:cNvCxnSpPr/>
          <p:nvPr/>
        </p:nvCxnSpPr>
        <p:spPr>
          <a:xfrm>
            <a:off x="1890118" y="1258198"/>
            <a:ext cx="0" cy="340327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9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>
            <a:off x="1890118" y="1258197"/>
            <a:ext cx="0" cy="1680543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60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707" y="1387795"/>
            <a:ext cx="1519918" cy="720865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15725" y="1387795"/>
            <a:ext cx="7177987" cy="720865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532707" y="1132689"/>
            <a:ext cx="1511345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307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26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174315"/>
            <a:ext cx="12599988" cy="653107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/>
          <a:srcRect t="2873" b="-2873"/>
          <a:stretch/>
        </p:blipFill>
        <p:spPr>
          <a:xfrm>
            <a:off x="0" y="9705387"/>
            <a:ext cx="12599988" cy="11267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15725" y="1266934"/>
            <a:ext cx="8928328" cy="1652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5725" y="3174314"/>
            <a:ext cx="8928328" cy="5433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80661" y="520257"/>
            <a:ext cx="3263391" cy="4869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70999-CB2C-460D-B981-41C4E9F33738}" type="datetimeFigureOut">
              <a:rPr lang="es-CL" smtClean="0"/>
              <a:t>24-02-26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15724" y="518585"/>
            <a:ext cx="5431998" cy="4869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062" y="1258197"/>
            <a:ext cx="1096499" cy="79301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858">
                <a:solidFill>
                  <a:schemeClr val="accent1"/>
                </a:solidFill>
              </a:defRPr>
            </a:lvl1pPr>
          </a:lstStyle>
          <a:p>
            <a:fld id="{E2E8D31D-3064-4226-9F39-EDFB4A46654C}" type="slidenum">
              <a:rPr lang="es-CL" smtClean="0"/>
              <a:t>‹Nº›</a:t>
            </a:fld>
            <a:endParaRPr lang="es-CL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9718325"/>
            <a:ext cx="12599988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98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txStyles>
    <p:titleStyle>
      <a:lvl1pPr algn="l" defTabSz="945032" rtl="0" eaLnBrk="1" latinLnBrk="0" hangingPunct="1">
        <a:lnSpc>
          <a:spcPct val="90000"/>
        </a:lnSpc>
        <a:spcBef>
          <a:spcPct val="0"/>
        </a:spcBef>
        <a:buNone/>
        <a:defRPr sz="441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15011" indent="-315011" algn="l" defTabSz="945032" rtl="0" eaLnBrk="1" latinLnBrk="0" hangingPunct="1">
        <a:lnSpc>
          <a:spcPct val="120000"/>
        </a:lnSpc>
        <a:spcBef>
          <a:spcPts val="1378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756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945032" indent="-315011" algn="l" defTabSz="945032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205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575054" indent="-315011" algn="l" defTabSz="945032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20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205076" indent="-315011" algn="l" defTabSz="945032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835097" indent="-315011" algn="l" defTabSz="945032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5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465119" indent="-315011" algn="l" defTabSz="1260043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54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095140" indent="-315011" algn="l" defTabSz="1260043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54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725162" indent="-315011" algn="l" defTabSz="1260043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54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355184" indent="-315011" algn="l" defTabSz="1260043" rtl="0" eaLnBrk="1" latinLnBrk="0" hangingPunct="1">
        <a:lnSpc>
          <a:spcPct val="120000"/>
        </a:lnSpc>
        <a:spcBef>
          <a:spcPts val="68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54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1pPr>
      <a:lvl2pPr marL="472516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2pPr>
      <a:lvl3pPr marL="945032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3pPr>
      <a:lvl4pPr marL="1417549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4pPr>
      <a:lvl5pPr marL="1890065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5pPr>
      <a:lvl6pPr marL="2362581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6pPr>
      <a:lvl7pPr marL="2835097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7pPr>
      <a:lvl8pPr marL="3307613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8pPr>
      <a:lvl9pPr marL="3780130" algn="l" defTabSz="945032" rtl="0" eaLnBrk="1" latinLnBrk="0" hangingPunct="1">
        <a:defRPr sz="1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sandoval.atlassian.net/jira/software/projects/SCRUM/boards/1/backlog?atlOrigin=eyJpIjoiNjA5NmUyNjU4NmJjNGI3ZThhM2NmMmM4YTlhMDE4YjUiLCJwIjoiaiJ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sandoval.atlassian.net/jira/software/projects/SCRUM/boards/1/backlog?atlOrigin=eyJpIjoiODY5YTk1MGYyYWUyNDQwZWI0ZjZmMDFmZGEyZjQ0OGEiLCJwIjoiaiJ9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0F78A08-AEA5-D7E5-FF56-2C177D4A43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70" b="7077"/>
          <a:stretch/>
        </p:blipFill>
        <p:spPr>
          <a:xfrm>
            <a:off x="356392" y="3329071"/>
            <a:ext cx="11279796" cy="192424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41D158A-E227-FB7E-E078-5B90A078B20A}"/>
              </a:ext>
            </a:extLst>
          </p:cNvPr>
          <p:cNvSpPr txBox="1"/>
          <p:nvPr/>
        </p:nvSpPr>
        <p:spPr>
          <a:xfrm>
            <a:off x="356392" y="351238"/>
            <a:ext cx="1188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CL" sz="28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Proyecto ABP </a:t>
            </a:r>
            <a:r>
              <a:rPr lang="es-CL" sz="2800" b="1" dirty="0">
                <a:solidFill>
                  <a:srgbClr val="000000"/>
                </a:solidFill>
                <a:latin typeface="Verdana" panose="020B0604030504040204" pitchFamily="34" charset="0"/>
              </a:rPr>
              <a:t>- </a:t>
            </a:r>
            <a:r>
              <a:rPr lang="es-CL" sz="28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Modulo 5 ”</a:t>
            </a:r>
            <a:r>
              <a:rPr lang="es-CL" sz="2800" b="1" i="0" u="none" strike="noStrike" dirty="0">
                <a:effectLst/>
                <a:latin typeface="Verdana" panose="020B0604030504040204" pitchFamily="34" charset="0"/>
              </a:rPr>
              <a:t> Rediseño </a:t>
            </a:r>
            <a:r>
              <a:rPr lang="es-CL" sz="28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del flujo de viáticos”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843C9D-74D1-8B1F-2337-7391F69C6E7D}"/>
              </a:ext>
            </a:extLst>
          </p:cNvPr>
          <p:cNvSpPr txBox="1"/>
          <p:nvPr/>
        </p:nvSpPr>
        <p:spPr>
          <a:xfrm>
            <a:off x="537882" y="9334620"/>
            <a:ext cx="8057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Alumno /  </a:t>
            </a:r>
            <a:r>
              <a:rPr lang="es-ES_tradnl" dirty="0" err="1"/>
              <a:t>Product</a:t>
            </a:r>
            <a:r>
              <a:rPr lang="es-ES_tradnl" dirty="0"/>
              <a:t> </a:t>
            </a:r>
            <a:r>
              <a:rPr lang="es-ES_tradnl" dirty="0" err="1"/>
              <a:t>Owner</a:t>
            </a:r>
            <a:r>
              <a:rPr lang="es-ES_tradnl" dirty="0"/>
              <a:t> : Gabriel Sandoval G.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3DB3E7-CB40-5583-30F7-0FCF0C5FA968}"/>
              </a:ext>
            </a:extLst>
          </p:cNvPr>
          <p:cNvSpPr txBox="1"/>
          <p:nvPr/>
        </p:nvSpPr>
        <p:spPr>
          <a:xfrm>
            <a:off x="537882" y="7277208"/>
            <a:ext cx="1188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https://gsandoval.atlassian.net/jira/software/projects/SCRUM/boards/1/backlog?atlOrigin=eyJpIjoiNjA5NmUyNjU4NmJjNGI3ZThhM2NmMmM4YTlhMDE4YjUiLCJwIjoiaiJ9</a:t>
            </a:r>
            <a:endParaRPr lang="en-US" sz="1800" b="1" kern="0" spc="551" dirty="0">
              <a:solidFill>
                <a:schemeClr val="accent5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030" name="Picture 6" descr="Jira - iObeya">
            <a:extLst>
              <a:ext uri="{FF2B5EF4-FFF2-40B4-BE49-F238E27FC236}">
                <a16:creationId xmlns:a16="http://schemas.microsoft.com/office/drawing/2014/main" id="{B0CA4BCA-E606-EFA4-CCC1-18492695B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2" y="7923539"/>
            <a:ext cx="1900518" cy="141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544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7B3C-6012-8EF7-B243-4D25EF7A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2511CF8-614F-0D7C-E4E0-5067A6D5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73" y="484094"/>
            <a:ext cx="11517994" cy="826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4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411480" y="100000"/>
            <a:ext cx="1188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ENTREGABLES_ 2) EPICAS &gt; HISTORIAS DE USUARIO (INVEST) &gt; TAREAS (SMART)</a:t>
            </a:r>
          </a:p>
          <a:p>
            <a:r>
              <a:rPr lang="es-CL" sz="1400" dirty="0"/>
              <a:t>A) 4 Epicas definidas | B) 5 HU con metodo INVEST por Epica | C) 2 Tareas SMART por HU | D) Estimacion de Esfuerzo (Story Points)</a:t>
            </a:r>
          </a:p>
        </p:txBody>
      </p:sp>
      <p:sp>
        <p:nvSpPr>
          <p:cNvPr id="4" name="Epicas"/>
          <p:cNvSpPr txBox="1"/>
          <p:nvPr/>
        </p:nvSpPr>
        <p:spPr>
          <a:xfrm>
            <a:off x="179994" y="700000"/>
            <a:ext cx="12240000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1. EPICAS:</a:t>
            </a:r>
          </a:p>
          <a:p>
            <a:r>
              <a:rPr lang="es-CL" sz="900" dirty="0"/>
              <a:t>1: Control en Origen (TCC y Reglas Automaticas)</a:t>
            </a:r>
          </a:p>
          <a:p>
            <a:r>
              <a:rPr lang="es-CL" sz="900" dirty="0"/>
              <a:t>2: App y Rendicion Digital</a:t>
            </a:r>
          </a:p>
          <a:p>
            <a:r>
              <a:rPr lang="es-CL" sz="900" dirty="0"/>
              <a:t>3: Gobierno del Gasto y Workflow de Excepciones</a:t>
            </a:r>
          </a:p>
          <a:p>
            <a:r>
              <a:rPr lang="es-CL" sz="900" dirty="0"/>
              <a:t>4: Metricas, ROI y Escalabilidad</a:t>
            </a:r>
          </a:p>
        </p:txBody>
      </p:sp>
      <p:sp>
        <p:nvSpPr>
          <p:cNvPr id="11" name="E1_HU1"/>
          <p:cNvSpPr txBox="1"/>
          <p:nvPr/>
        </p:nvSpPr>
        <p:spPr>
          <a:xfrm>
            <a:off x="179994" y="1500000"/>
            <a:ext cx="6000000" cy="2477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EPICA 1 &gt; HU1:</a:t>
            </a:r>
          </a:p>
          <a:p>
            <a:r>
              <a:rPr lang="es-CL" sz="1100" dirty="0"/>
              <a:t>Como chofer de larga distancia, quiero recibir una Tarjeta Corporativa Digital (TCC) con limites automaticos por cargo, para realizar mis gastos sin adelantar dinero propio durante el viaje.</a:t>
            </a:r>
          </a:p>
          <a:p>
            <a:r>
              <a:rPr lang="es-CL" sz="1100" b="1" dirty="0"/>
              <a:t>I: </a:t>
            </a:r>
            <a:r>
              <a:rPr lang="es-CL" sz="1100" dirty="0"/>
              <a:t>No depende de otras HU; puede implementarse de forma autonoma con la API bancaria.</a:t>
            </a:r>
          </a:p>
          <a:p>
            <a:r>
              <a:rPr lang="es-CL" sz="1100" b="1" dirty="0"/>
              <a:t>N: </a:t>
            </a:r>
            <a:r>
              <a:rPr lang="es-CL" sz="1100" dirty="0"/>
              <a:t>Los limites y categorias de gasto son configurables segun politica de la empresa.</a:t>
            </a:r>
          </a:p>
          <a:p>
            <a:r>
              <a:rPr lang="es-CL" sz="1100" b="1" dirty="0"/>
              <a:t>V: </a:t>
            </a:r>
            <a:r>
              <a:rPr lang="es-CL" sz="1100" dirty="0"/>
              <a:t>Elimina el principal dolor del usuario: el adelanto personal de dinero.</a:t>
            </a:r>
          </a:p>
          <a:p>
            <a:r>
              <a:rPr lang="es-CL" sz="1100" b="1" dirty="0"/>
              <a:t>(Esf) E=5: </a:t>
            </a:r>
            <a:r>
              <a:rPr lang="es-CL" sz="1100" dirty="0"/>
              <a:t>Factible en un sprint con integracion API bancaria disponible. Story Points: 5.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Entregable completo en un Sprint de 2 semanas con criterio claro de Done.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Chofer realiza gasto con TCC sin usar efectivo propio y transaccion queda registrada.</a:t>
            </a:r>
          </a:p>
          <a:p>
            <a:r>
              <a:rPr lang="es-CL" sz="1100" b="1" dirty="0"/>
              <a:t>Criterio de Aceptacion: </a:t>
            </a:r>
            <a:r>
              <a:rPr lang="es-CL" sz="1100" dirty="0"/>
              <a:t>Dado que el colaborador tiene TCC asignada con tope por cargo, cuando realiza un gasto dentro del límite, entonces la transacción se aprueba y queda registrada en ≤5 </a:t>
            </a:r>
            <a:r>
              <a:rPr lang="es-CL" sz="1100" dirty="0" err="1"/>
              <a:t>seg</a:t>
            </a:r>
            <a:r>
              <a:rPr lang="es-CL" sz="1100" dirty="0"/>
              <a:t>. </a:t>
            </a:r>
            <a:r>
              <a:rPr lang="es-CL" sz="1100" b="1" dirty="0"/>
              <a:t>[Condición de fallo]:</a:t>
            </a:r>
            <a:r>
              <a:rPr lang="es-CL" sz="1100" dirty="0"/>
              <a:t> Si el gasto supera el tope, la transacción se rechaza automáticamente y el colaborador recibe notificación en ≤5 </a:t>
            </a:r>
            <a:r>
              <a:rPr lang="es-CL" sz="1100" dirty="0" err="1"/>
              <a:t>seg</a:t>
            </a:r>
            <a:r>
              <a:rPr lang="es-CL" sz="1100" dirty="0"/>
              <a:t> sin intervención humana</a:t>
            </a:r>
          </a:p>
        </p:txBody>
      </p:sp>
      <p:sp>
        <p:nvSpPr>
          <p:cNvPr id="12" name="E1_HU1_Tareas"/>
          <p:cNvSpPr txBox="1"/>
          <p:nvPr/>
        </p:nvSpPr>
        <p:spPr>
          <a:xfrm>
            <a:off x="6250000" y="1500000"/>
            <a:ext cx="6000000" cy="35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E1_HU1_T1: Configurar perfiles de limite por cargo en sistema bancario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Configurar en la plataforma bancaria 4 perfiles de limite de gasto por tipo de cargo.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4 perfiles creados y validados por Finanzas antes del fin de la semana 1.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Equipo TI + API bancaria disponible; ya contamos con acceso al entorno.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Habilita la emision de la TCC con reglas correctas desde el dia 1.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Completado antes del dia 5 del Sprint 1.</a:t>
            </a:r>
          </a:p>
          <a:p>
            <a:r>
              <a:rPr lang="es-CL" sz="1200" b="1" dirty="0"/>
              <a:t>E1_HU1_T2: Emitir y activar TCC digital para pilotos de prueba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Emitir TCC digitales a 10 choferes piloto con sus limites asignados.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10 TCCs activas y probadas con al menos 1 transaccion exitosa cada una.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Banco confirma emision en 48 hrs; equipo disponible para activacion.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Validar que el control en origen funciona antes de escalar a todos los colaboradores.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Completado al final del Sprint 1 (dia 10).</a:t>
            </a:r>
          </a:p>
        </p:txBody>
      </p:sp>
      <p:sp>
        <p:nvSpPr>
          <p:cNvPr id="18" name="E1_HU5"/>
          <p:cNvSpPr txBox="1"/>
          <p:nvPr/>
        </p:nvSpPr>
        <p:spPr>
          <a:xfrm>
            <a:off x="179994" y="5100000"/>
            <a:ext cx="6000000" cy="2477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EPICA 1 &gt; HU5:</a:t>
            </a:r>
          </a:p>
          <a:p>
            <a:r>
              <a:rPr lang="es-CL" sz="1100" dirty="0"/>
              <a:t>Como gerente de ventas regional, quiero que el sistema detecte automaticamente cuando supero el limite de gasto y active un flujo de aprobacion jerarquica, para que la excepcion quede trazada y auditada sin reprocesos manuales.</a:t>
            </a:r>
          </a:p>
          <a:p>
            <a:r>
              <a:rPr lang="es-CL" sz="1100" b="1" dirty="0"/>
              <a:t>I: </a:t>
            </a:r>
            <a:r>
              <a:rPr lang="es-CL" sz="1100" dirty="0"/>
              <a:t>Independiente de otras HU; se construye sobre el motor de reglas base.</a:t>
            </a:r>
          </a:p>
          <a:p>
            <a:r>
              <a:rPr lang="es-CL" sz="1100" b="1" dirty="0"/>
              <a:t>N: </a:t>
            </a:r>
            <a:r>
              <a:rPr lang="es-CL" sz="1100" dirty="0"/>
              <a:t>Los umbrales y el flujo de aprobacion son ajustables por politica interna.</a:t>
            </a:r>
          </a:p>
          <a:p>
            <a:r>
              <a:rPr lang="es-CL" sz="1100" b="1" dirty="0"/>
              <a:t>V: </a:t>
            </a:r>
            <a:r>
              <a:rPr lang="es-CL" sz="1100" dirty="0"/>
              <a:t>Controla el riesgo de fuga de capital y da visibilidad a Finanzas en tiempo real.</a:t>
            </a:r>
          </a:p>
          <a:p>
            <a:r>
              <a:rPr lang="es-CL" sz="1100" b="1" dirty="0"/>
              <a:t>(Esf) E=8: </a:t>
            </a:r>
            <a:r>
              <a:rPr lang="es-CL" sz="1100" dirty="0"/>
              <a:t>Requiere motor de reglas + workflow de notificacion. Story Points: 8.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Scope definido: deteccion + notificacion + aprobacion digital con trazabilidad.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Sistema detecta exceso, notifica al supervisor y registra la aprobacion/rechazo.</a:t>
            </a:r>
          </a:p>
          <a:p>
            <a:r>
              <a:rPr lang="es-CL" sz="1100" b="1" dirty="0"/>
              <a:t>Criterio de Aceptacion: </a:t>
            </a:r>
            <a:r>
              <a:rPr lang="es-CL" sz="1100" dirty="0"/>
              <a:t>Dado que el gerente supera su límite, cuando el sistema detecta el exceso, entonces bloquea la transacción y notifica al supervisor en ≤2 min. </a:t>
            </a:r>
            <a:r>
              <a:rPr lang="es-CL" sz="1100" b="1" dirty="0"/>
              <a:t>[Escalación]:</a:t>
            </a:r>
            <a:r>
              <a:rPr lang="es-CL" sz="1100" dirty="0"/>
              <a:t> Si el supervisor no responde en 24h, el sistema escala a Nivel 2 automáticamente. La excepción queda auditada con </a:t>
            </a:r>
            <a:r>
              <a:rPr lang="es-CL" sz="1100" dirty="0" err="1"/>
              <a:t>timestamp</a:t>
            </a:r>
            <a:r>
              <a:rPr lang="es-CL" sz="1100" dirty="0"/>
              <a:t> en el </a:t>
            </a:r>
            <a:r>
              <a:rPr lang="es-CL" sz="1100" dirty="0" err="1"/>
              <a:t>dashboard</a:t>
            </a:r>
            <a:r>
              <a:rPr lang="es-CL" sz="1100" dirty="0"/>
              <a:t> de Finanzas</a:t>
            </a:r>
          </a:p>
        </p:txBody>
      </p:sp>
      <p:sp>
        <p:nvSpPr>
          <p:cNvPr id="19" name="E1_HU5_Tareas"/>
          <p:cNvSpPr txBox="1"/>
          <p:nvPr/>
        </p:nvSpPr>
        <p:spPr>
          <a:xfrm>
            <a:off x="6250000" y="5100000"/>
            <a:ext cx="6000000" cy="35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E1_HU5_T9: Implementar motor de reglas para deteccion de excesos de monto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Programar regla que bloquea transacciones &gt;110% del limite asignado y genera alerta.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Regla activa y probada con 5 casos de test documentados (pass/fail).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Motor de reglas disponible en plataforma cloud; equipo TI con capacidad en Sprint 2.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Previene pagos no autorizados y reduce el riesgo de fuga de capital.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Completado en los primeros 5 dias del Sprint 2.</a:t>
            </a:r>
          </a:p>
          <a:p>
            <a:r>
              <a:rPr lang="es-CL" sz="1200" b="1" dirty="0"/>
              <a:t>E1_HU5_T10: Configurar flujo de aprobacion digital para excepciones de gasto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Notificacion push al supervisor + boton aprobar/rechazar en la app con registro de auditoria.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Flujo probado end-to-end: exceso detectado, notificacion enviada, aprobacion registrada en &lt;5 min.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Infraestructura de notificaciones push disponible en plataforma movil.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Cierra el ciclo de control preventivo y cumple requisito de compliance de Finanzas.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Completado antes del dia 10 del Sprint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411480" y="100000"/>
            <a:ext cx="1188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ENTREGABLES_ 2) EPICAS &gt; HISTORIAS DE USUARIO (INVEST) &gt; TAREAS (SMART)</a:t>
            </a:r>
          </a:p>
          <a:p>
            <a:r>
              <a:rPr lang="es-CL" sz="1400" dirty="0"/>
              <a:t>A) 4 Epicas definidas | B) 5 HU con metodo INVEST por Epica | C) 2 Tareas SMART por HU | D) Estimacion de Esfuerzo (Story Points)</a:t>
            </a:r>
          </a:p>
        </p:txBody>
      </p:sp>
      <p:sp>
        <p:nvSpPr>
          <p:cNvPr id="4" name="Epicas"/>
          <p:cNvSpPr txBox="1"/>
          <p:nvPr/>
        </p:nvSpPr>
        <p:spPr>
          <a:xfrm>
            <a:off x="179994" y="623220"/>
            <a:ext cx="12240000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1. EPICAS:</a:t>
            </a:r>
          </a:p>
          <a:p>
            <a:r>
              <a:rPr lang="es-CL" sz="900" dirty="0"/>
              <a:t>1: Control en Origen (TCC y Reglas Automaticas)</a:t>
            </a:r>
          </a:p>
          <a:p>
            <a:r>
              <a:rPr lang="es-CL" sz="900" dirty="0"/>
              <a:t>2: App y Rendicion Digital</a:t>
            </a:r>
          </a:p>
          <a:p>
            <a:r>
              <a:rPr lang="es-CL" sz="900" dirty="0"/>
              <a:t>3: Gobierno del Gasto y Workflow de Excepciones</a:t>
            </a:r>
          </a:p>
          <a:p>
            <a:r>
              <a:rPr lang="es-CL" sz="900" dirty="0"/>
              <a:t>4: Metricas, ROI y Escalabilidad</a:t>
            </a:r>
          </a:p>
        </p:txBody>
      </p:sp>
      <p:sp>
        <p:nvSpPr>
          <p:cNvPr id="11" name="E2_HU6"/>
          <p:cNvSpPr txBox="1"/>
          <p:nvPr/>
        </p:nvSpPr>
        <p:spPr>
          <a:xfrm>
            <a:off x="179994" y="1500000"/>
            <a:ext cx="6000000" cy="2477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EPICA 2 &gt; HU6:</a:t>
            </a:r>
          </a:p>
          <a:p>
            <a:r>
              <a:rPr lang="es-CL" sz="1100" dirty="0"/>
              <a:t>Como colaborador en terreno, quiero fotografiar mis boletas desde la app movil y que el sistema las clasifique automaticamente con IA, para rendir mis gastos sin completar planillas ni enviar correos.</a:t>
            </a:r>
          </a:p>
          <a:p>
            <a:r>
              <a:rPr lang="es-CL" sz="1100" b="1" dirty="0"/>
              <a:t>I: </a:t>
            </a:r>
            <a:r>
              <a:rPr lang="es-CL" sz="1100" dirty="0"/>
              <a:t>Puede desarrollarse en paralelo a la HU de TCC; depende solo del backend de IA.</a:t>
            </a:r>
          </a:p>
          <a:p>
            <a:r>
              <a:rPr lang="es-CL" sz="1100" b="1" dirty="0"/>
              <a:t>N: </a:t>
            </a:r>
            <a:r>
              <a:rPr lang="es-CL" sz="1100" dirty="0"/>
              <a:t>El nivel de clasificacion automatica es ajustable; puede empezar con categorias basicas.</a:t>
            </a:r>
          </a:p>
          <a:p>
            <a:r>
              <a:rPr lang="es-CL" sz="1100" b="1" dirty="0"/>
              <a:t>V: </a:t>
            </a:r>
            <a:r>
              <a:rPr lang="es-CL" sz="1100" dirty="0"/>
              <a:t>Elimina el proceso manual de rendicion, principal fuente de errores y frustracion.</a:t>
            </a:r>
          </a:p>
          <a:p>
            <a:r>
              <a:rPr lang="es-CL" sz="1100" b="1" dirty="0"/>
              <a:t>(Esf) E=8: </a:t>
            </a:r>
            <a:r>
              <a:rPr lang="es-CL" sz="1100" dirty="0"/>
              <a:t>Requiere integracion OCR + motor IA + app movil. Story Points: 8.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Scope: captura de imagen + OCR + clasificacion + borrador de rendicion.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Boleta fotografiada queda clasificada y en borrador de rendicion en menos de 30 segundos.</a:t>
            </a:r>
          </a:p>
          <a:p>
            <a:r>
              <a:rPr lang="es-CL" sz="1100" b="1" dirty="0"/>
              <a:t>Criterio de Aceptacion: </a:t>
            </a:r>
            <a:r>
              <a:rPr lang="es-CL" sz="1100" dirty="0"/>
              <a:t>Colaborador fotografia boleta y en &lt;30 seg el sistema la clasifica y agrega al borrador, sin acción adicional. </a:t>
            </a:r>
            <a:r>
              <a:rPr lang="es-CL" sz="1100" b="1" dirty="0"/>
              <a:t>[Condición de fallo]:</a:t>
            </a:r>
            <a:r>
              <a:rPr lang="es-CL" sz="1100" dirty="0"/>
              <a:t> Si la imagen es ilegible (baja resolución o ilegible), el sistema notifica al usuario y solicita reintento sin crear un borrador incompleto.</a:t>
            </a:r>
          </a:p>
        </p:txBody>
      </p:sp>
      <p:sp>
        <p:nvSpPr>
          <p:cNvPr id="12" name="E2_HU6_Tareas"/>
          <p:cNvSpPr txBox="1"/>
          <p:nvPr/>
        </p:nvSpPr>
        <p:spPr>
          <a:xfrm>
            <a:off x="6250000" y="1500000"/>
            <a:ext cx="6000000" cy="35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E2_HU6_T11: Integrar motor OCR para extraccion de datos de boletas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Conectar API OCR al modulo de captura de la app para extraer RUT, monto, fecha y comercio.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Precision de extraccion &gt;=85% validada con set de 50 boletas de prueba.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API OCR disponible (Google Vision); equipo tiene acceso al entorno de desarrollo.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Base tecnica para que la IA clasifique correctamente el gasto sin intervencion humana.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Completado en los primeros 6 dias del Sprint 1.</a:t>
            </a:r>
          </a:p>
          <a:p>
            <a:r>
              <a:rPr lang="es-CL" sz="1200" b="1" dirty="0"/>
              <a:t>E2_HU6_T12: Implementar clasificacion automatica de gastos con modelo de IA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Desplegar modelo de clasificacion en 6 categorias: alimentacion, alojamiento, combustible, peaje, mantenimiento y otros.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Clasificacion correcta en &gt;=80% de los casos de prueba documentados.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Dataset de boletas historicas disponible en Finanzas; equipo de datos con capacidad.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Reduce a cero la carga manual de categorizacion; habilita rendicion automatica en borrador.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Modelo en produccion antes del fin del Sprint 1.</a:t>
            </a:r>
          </a:p>
        </p:txBody>
      </p:sp>
      <p:sp>
        <p:nvSpPr>
          <p:cNvPr id="18" name="E2_HU10"/>
          <p:cNvSpPr txBox="1"/>
          <p:nvPr/>
        </p:nvSpPr>
        <p:spPr>
          <a:xfrm>
            <a:off x="179994" y="5100000"/>
            <a:ext cx="6000000" cy="26468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EPICA 2 &gt; HU10:</a:t>
            </a:r>
          </a:p>
          <a:p>
            <a:r>
              <a:rPr lang="es-CL" sz="1100" dirty="0"/>
              <a:t>Como colaborador en ruta sin senial de internet, quiero registrar mis gastos offline en la app y que se sincronicen automaticamente al recuperar conectividad, para no perder ningun comprobante por problemas de conexion.</a:t>
            </a:r>
          </a:p>
          <a:p>
            <a:r>
              <a:rPr lang="es-CL" sz="1100" b="1" dirty="0"/>
              <a:t>I: </a:t>
            </a:r>
            <a:r>
              <a:rPr lang="es-CL" sz="1100" dirty="0"/>
              <a:t>Independiente; requiere solo almacenamiento local en el dispositivo movil.</a:t>
            </a:r>
          </a:p>
          <a:p>
            <a:r>
              <a:rPr lang="es-CL" sz="1100" b="1" dirty="0"/>
              <a:t>N: </a:t>
            </a:r>
            <a:r>
              <a:rPr lang="es-CL" sz="1100" dirty="0"/>
              <a:t>El tiempo de retencion offline y tipos de datos son negociables con TI.</a:t>
            </a:r>
          </a:p>
          <a:p>
            <a:r>
              <a:rPr lang="es-CL" sz="1100" b="1" dirty="0"/>
              <a:t>V: </a:t>
            </a:r>
            <a:r>
              <a:rPr lang="es-CL" sz="1100" dirty="0"/>
              <a:t>Resuelve una restriccion operativa critica: conductores en ruta 3 dias sin senial.</a:t>
            </a:r>
          </a:p>
          <a:p>
            <a:r>
              <a:rPr lang="es-CL" sz="1100" b="1" dirty="0"/>
              <a:t>(Esf) E=5: </a:t>
            </a:r>
            <a:r>
              <a:rPr lang="es-CL" sz="1100" dirty="0"/>
              <a:t>Funcionalidad de cache offline estandar en apps moviles. Story Points: 5.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Scope acotado: almacenamiento local + cola de sincronizacion + indicador visual de estado.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Gasto registrado offline aparece sincronizado en la plataforma al reconectar, sin perdida de datos.</a:t>
            </a:r>
          </a:p>
          <a:p>
            <a:r>
              <a:rPr lang="es-CL" sz="1100" b="1" dirty="0"/>
              <a:t>Criterio de Aceptacion: </a:t>
            </a:r>
            <a:r>
              <a:rPr lang="es-CL" sz="1100" dirty="0"/>
              <a:t>Dado que el colaborador está sin señal, cuando registra un gasto en la app, entonces queda guardado localmente sin pérdida de datos (hasta 50 gastos). Al reconectar, sincroniza en ≤2 min. </a:t>
            </a:r>
            <a:r>
              <a:rPr lang="es-CL" sz="1100" b="1" dirty="0"/>
              <a:t>[Anti-duplicado]:</a:t>
            </a:r>
            <a:r>
              <a:rPr lang="es-CL" sz="1100" dirty="0"/>
              <a:t> Si el mismo gasto se detecta dos veces, el sistema lo identifica por hash y elimina la entrada duplicada.</a:t>
            </a:r>
          </a:p>
        </p:txBody>
      </p:sp>
      <p:sp>
        <p:nvSpPr>
          <p:cNvPr id="19" name="E2_HU10_Tareas"/>
          <p:cNvSpPr txBox="1"/>
          <p:nvPr/>
        </p:nvSpPr>
        <p:spPr>
          <a:xfrm>
            <a:off x="6250000" y="5100000"/>
            <a:ext cx="6000000" cy="35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200" b="1" dirty="0"/>
              <a:t>E2_HU10_T19: Implementar almacenamiento local offline en la app movil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Desarrollar modulo de cache local que almacene gastos y foto de boleta cuando no hay conexion.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App almacena hasta 50 gastos offline sin perdida de datos, validado en test sin conexion.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Framework movil soporta SQLite local; equipo tiene experiencia con este patron.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Habilita el uso de la app en zonas remotas, resolviendo restriccion de conductores en terreno.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Completado en los primeros 5 dias del Sprint 2.</a:t>
            </a:r>
          </a:p>
          <a:p>
            <a:r>
              <a:rPr lang="es-CL" sz="1200" b="1" dirty="0"/>
              <a:t>E2_HU10_T20: Desarrollar cola de sincronizacion automatica al recuperar conectividad</a:t>
            </a:r>
          </a:p>
          <a:p>
            <a:r>
              <a:rPr lang="es-CL" sz="1100" b="1" dirty="0"/>
              <a:t>S: </a:t>
            </a:r>
            <a:r>
              <a:rPr lang="es-CL" sz="1100" dirty="0"/>
              <a:t>Proceso background que detecta reconexion y sincroniza gastos pendientes con el servidor.</a:t>
            </a:r>
          </a:p>
          <a:p>
            <a:r>
              <a:rPr lang="es-CL" sz="1100" b="1" dirty="0"/>
              <a:t>M: </a:t>
            </a:r>
            <a:r>
              <a:rPr lang="es-CL" sz="1100" dirty="0"/>
              <a:t>Sincronizacion completada en &lt;2 min desde reconexion, con confirmacion visual al usuario.</a:t>
            </a:r>
          </a:p>
          <a:p>
            <a:r>
              <a:rPr lang="es-CL" sz="1100" b="1" dirty="0"/>
              <a:t>A: </a:t>
            </a:r>
            <a:r>
              <a:rPr lang="es-CL" sz="1100" dirty="0"/>
              <a:t>Infraestructura cloud disponible; patron de sincronizacion documentado en el equipo.</a:t>
            </a:r>
          </a:p>
          <a:p>
            <a:r>
              <a:rPr lang="es-CL" sz="1100" b="1" dirty="0"/>
              <a:t>R: </a:t>
            </a:r>
            <a:r>
              <a:rPr lang="es-CL" sz="1100" dirty="0"/>
              <a:t>Garantiza integridad de datos y elimina el riesgo de perdida de boletas en terreno.</a:t>
            </a:r>
          </a:p>
          <a:p>
            <a:r>
              <a:rPr lang="es-CL" sz="1100" b="1" dirty="0"/>
              <a:t>T: </a:t>
            </a:r>
            <a:r>
              <a:rPr lang="es-CL" sz="1100" dirty="0"/>
              <a:t>Completado antes del fin del Sprint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6C5EAF5-965D-4111-09DC-A8DBEB83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41" y="3624834"/>
            <a:ext cx="11751506" cy="291785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2E0CC06-0ECE-E8E0-8B0A-899B57C911B0}"/>
              </a:ext>
            </a:extLst>
          </p:cNvPr>
          <p:cNvSpPr txBox="1"/>
          <p:nvPr/>
        </p:nvSpPr>
        <p:spPr>
          <a:xfrm>
            <a:off x="1592316" y="1529283"/>
            <a:ext cx="799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ENTREGABLES_ CASUÍSTICAS OBLIGATORIAS RESUELTAS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8650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411480" y="50000"/>
            <a:ext cx="11547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/>
              <a:t>ENTREGABLES_ 3) WSJF - Weighted Shortest Job First | WSJF = CoD (Valor+Urgencia+Riesgo) / Tamano del Trabajo (Story Points)</a:t>
            </a:r>
          </a:p>
          <a:p>
            <a:r>
              <a:rPr lang="es-CL" sz="1200" dirty="0"/>
              <a:t>Escala 1-10 para cada variable. WSJF Alto = Hazlo Primero. WSJF Bajo = Puede Esperar.</a:t>
            </a:r>
          </a:p>
        </p:txBody>
      </p:sp>
      <p:sp>
        <p:nvSpPr>
          <p:cNvPr id="4" name="WSJF_E1"/>
          <p:cNvSpPr txBox="1"/>
          <p:nvPr/>
        </p:nvSpPr>
        <p:spPr>
          <a:xfrm>
            <a:off x="179994" y="600000"/>
            <a:ext cx="5900000" cy="60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100" b="1" dirty="0"/>
              <a:t>EPICA 1:</a:t>
            </a:r>
          </a:p>
          <a:p>
            <a:r>
              <a:rPr lang="es-CL" sz="1000" b="1" dirty="0"/>
              <a:t>HU1 - Asignacion TCC digital por cargo: </a:t>
            </a:r>
            <a:r>
              <a:rPr lang="es-CL" sz="1000" dirty="0"/>
              <a:t>Valor=9 | Urgencia=9 | Riesgo=8 | CoD=26 | Tamano=5 | WSJF=5.2</a:t>
            </a:r>
          </a:p>
          <a:p>
            <a:r>
              <a:rPr lang="es-CL" sz="1000" b="1" dirty="0"/>
              <a:t>HU2 - Configurar limites automaticos por categoria: </a:t>
            </a:r>
            <a:r>
              <a:rPr lang="es-CL" sz="1000" dirty="0"/>
              <a:t>Valor=9 | Urgencia=8 | Riesgo=7 | CoD=24 | Tamano=5 | WSJF=4.8</a:t>
            </a:r>
          </a:p>
          <a:p>
            <a:r>
              <a:rPr lang="es-CL" sz="1000" b="1" dirty="0"/>
              <a:t>HU3 - Bloqueo automatico de gastos fuera de politica: </a:t>
            </a:r>
            <a:r>
              <a:rPr lang="es-CL" sz="1000" dirty="0"/>
              <a:t>Valor=8 | Urgencia=9 | Riesgo=9 | CoD=26 | Tamano=8 | WSJF=3.2</a:t>
            </a:r>
          </a:p>
          <a:p>
            <a:r>
              <a:rPr lang="es-CL" sz="1000" b="1" dirty="0"/>
              <a:t>HU4 - Notificacion en tiempo real al colaborador: </a:t>
            </a:r>
            <a:r>
              <a:rPr lang="es-CL" sz="1000" dirty="0"/>
              <a:t>Valor=8 | Urgencia=7 | Riesgo=6 | CoD=21 | Tamano=3 | WSJF=7.0</a:t>
            </a:r>
          </a:p>
          <a:p>
            <a:r>
              <a:rPr lang="es-CL" sz="1000" b="1" dirty="0"/>
              <a:t>HU5 - Flujo de aprobacion de excepciones: </a:t>
            </a:r>
            <a:r>
              <a:rPr lang="es-CL" sz="1000" dirty="0"/>
              <a:t>Valor=9 | Urgencia=8 | Riesgo=9 | CoD=26 | Tamano=8 | WSJF=3.2</a:t>
            </a:r>
          </a:p>
        </p:txBody>
      </p:sp>
      <p:sp>
        <p:nvSpPr>
          <p:cNvPr id="5" name="WSJF_E2"/>
          <p:cNvSpPr txBox="1"/>
          <p:nvPr/>
        </p:nvSpPr>
        <p:spPr>
          <a:xfrm>
            <a:off x="6150000" y="600000"/>
            <a:ext cx="6120000" cy="60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100" b="1" dirty="0"/>
              <a:t>EPICA 2:</a:t>
            </a:r>
          </a:p>
          <a:p>
            <a:r>
              <a:rPr lang="es-CL" sz="1000" b="1" dirty="0"/>
              <a:t>HU6 - Captura de boletas via foto con OCR+IA: </a:t>
            </a:r>
            <a:r>
              <a:rPr lang="es-CL" sz="1000" dirty="0"/>
              <a:t>Valor=9 | Urgencia=8 | Riesgo=7 | CoD=24 | Tamano=8 | WSJF=3.0</a:t>
            </a:r>
          </a:p>
          <a:p>
            <a:r>
              <a:rPr lang="es-CL" sz="1000" b="1" dirty="0"/>
              <a:t>HU7 - Rendicion automatica en borrador: </a:t>
            </a:r>
            <a:r>
              <a:rPr lang="es-CL" sz="1000" dirty="0"/>
              <a:t>Valor=9 | Urgencia=9 | Riesgo=8 | CoD=26 | Tamano=8 | WSJF=3.2</a:t>
            </a:r>
          </a:p>
          <a:p>
            <a:r>
              <a:rPr lang="es-CL" sz="1000" b="1" dirty="0"/>
              <a:t>HU8 - Dashboard estado del tramite en tiempo real: </a:t>
            </a:r>
            <a:r>
              <a:rPr lang="es-CL" sz="1000" dirty="0"/>
              <a:t>Valor=8 | Urgencia=7 | Riesgo=6 | CoD=21 | Tamano=5 | WSJF=4.2</a:t>
            </a:r>
          </a:p>
          <a:p>
            <a:r>
              <a:rPr lang="es-CL" sz="1000" b="1" dirty="0"/>
              <a:t>HU9 - Registro offline + sincronizacion automatica: </a:t>
            </a:r>
            <a:r>
              <a:rPr lang="es-CL" sz="1000" dirty="0"/>
              <a:t>Valor=8 | Urgencia=8 | Riesgo=9 | CoD=25 | Tamano=5 | WSJF=5.0</a:t>
            </a:r>
          </a:p>
          <a:p>
            <a:r>
              <a:rPr lang="es-CL" sz="1000" b="1" dirty="0"/>
              <a:t>HU10 - Notificaciones push de estado y pago: </a:t>
            </a:r>
            <a:r>
              <a:rPr lang="es-CL" sz="1000" dirty="0"/>
              <a:t>Valor=7 | Urgencia=6 | Riesgo=5 | CoD=18 | Tamano=3 | WSJF=6.0</a:t>
            </a:r>
          </a:p>
        </p:txBody>
      </p:sp>
      <p:sp>
        <p:nvSpPr>
          <p:cNvPr id="6" name="WSJF_E3"/>
          <p:cNvSpPr txBox="1"/>
          <p:nvPr/>
        </p:nvSpPr>
        <p:spPr>
          <a:xfrm>
            <a:off x="179994" y="6700000"/>
            <a:ext cx="5900000" cy="17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100" b="1" dirty="0"/>
              <a:t>EPICA 3:</a:t>
            </a:r>
          </a:p>
          <a:p>
            <a:r>
              <a:rPr lang="es-CL" sz="1000" b="1" dirty="0"/>
              <a:t>HU11 - Motor de reglas de gobierno del gasto: </a:t>
            </a:r>
            <a:r>
              <a:rPr lang="es-CL" sz="1000" dirty="0"/>
              <a:t>Valor=9 | Urgencia=9 | Riesgo=9 | CoD=27 | Tamano=8 | WSJF=3.4</a:t>
            </a:r>
          </a:p>
          <a:p>
            <a:r>
              <a:rPr lang="es-CL" sz="1000" b="1" dirty="0"/>
              <a:t>HU12 - Workflow de aprobacion jerarquica: </a:t>
            </a:r>
            <a:r>
              <a:rPr lang="es-CL" sz="1000" dirty="0"/>
              <a:t>Valor=9 | Urgencia=8 | Riesgo=8 | CoD=25 | Tamano=8 | WSJF=3.1</a:t>
            </a:r>
          </a:p>
          <a:p>
            <a:r>
              <a:rPr lang="es-CL" sz="1000" b="1" dirty="0"/>
              <a:t>HU13 - Panel de auditoria para Finanzas: </a:t>
            </a:r>
            <a:r>
              <a:rPr lang="es-CL" sz="1000" dirty="0"/>
              <a:t>Valor=8 | Urgencia=7 | Riesgo=7 | CoD=22 | Tamano=5 | WSJF=4.4</a:t>
            </a:r>
          </a:p>
          <a:p>
            <a:r>
              <a:rPr lang="es-CL" sz="1000" b="1" dirty="0"/>
              <a:t>HU14 - Reporte forecast de flujo de caja: </a:t>
            </a:r>
            <a:r>
              <a:rPr lang="es-CL" sz="1000" dirty="0"/>
              <a:t>Valor=7 | Urgencia=6 | Riesgo=6 | CoD=19 | Tamano=5 | WSJF=3.8</a:t>
            </a:r>
          </a:p>
          <a:p>
            <a:r>
              <a:rPr lang="es-CL" sz="1000" b="1" dirty="0"/>
              <a:t>HU15 - Politicas de viaticos visibles en la app: </a:t>
            </a:r>
            <a:r>
              <a:rPr lang="es-CL" sz="1000" dirty="0"/>
              <a:t>Valor=6 | Urgencia=5 | Riesgo=5 | CoD=16 | Tamano=3 | WSJF=5.3</a:t>
            </a:r>
          </a:p>
        </p:txBody>
      </p:sp>
      <p:sp>
        <p:nvSpPr>
          <p:cNvPr id="7" name="WSJF_E4"/>
          <p:cNvSpPr txBox="1"/>
          <p:nvPr/>
        </p:nvSpPr>
        <p:spPr>
          <a:xfrm>
            <a:off x="6150000" y="6700000"/>
            <a:ext cx="6120000" cy="17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100" b="1" dirty="0"/>
              <a:t>EPICA 4:</a:t>
            </a:r>
          </a:p>
          <a:p>
            <a:r>
              <a:rPr lang="es-CL" sz="1000" b="1" dirty="0"/>
              <a:t>HU16 - KPIs en tiempo real (ciclo, error, SUS): </a:t>
            </a:r>
            <a:r>
              <a:rPr lang="es-CL" sz="1000" dirty="0"/>
              <a:t>Valor=8 | Urgencia=7 | Riesgo=7 | CoD=22 | Tamano=5 | WSJF=4.4</a:t>
            </a:r>
          </a:p>
          <a:p>
            <a:r>
              <a:rPr lang="es-CL" sz="1000" b="1" dirty="0"/>
              <a:t>HU17 - Calculo automatico de ROI mensual: </a:t>
            </a:r>
            <a:r>
              <a:rPr lang="es-CL" sz="1000" dirty="0"/>
              <a:t>Valor=7 | Urgencia=6 | Riesgo=6 | CoD=19 | Tamano=5 | WSJF=3.8</a:t>
            </a:r>
          </a:p>
          <a:p>
            <a:r>
              <a:rPr lang="es-CL" sz="1000" b="1" dirty="0"/>
              <a:t>HU18 - API de integracion con ERP (disenio): </a:t>
            </a:r>
            <a:r>
              <a:rPr lang="es-CL" sz="1000" dirty="0"/>
              <a:t>Valor=8 | Urgencia=5 | Riesgo=7 | CoD=20 | Tamano=13 | WSJF=1.5</a:t>
            </a:r>
          </a:p>
          <a:p>
            <a:r>
              <a:rPr lang="es-CL" sz="1000" b="1" dirty="0"/>
              <a:t>HU19 - Escalabilidad: arquitectura microservicios: </a:t>
            </a:r>
            <a:r>
              <a:rPr lang="es-CL" sz="1000" dirty="0"/>
              <a:t>Valor=7 | Urgencia=4 | Riesgo=6 | CoD=17 | Tamano=13 | WSJF=1.3</a:t>
            </a:r>
          </a:p>
          <a:p>
            <a:r>
              <a:rPr lang="es-CL" sz="1000" b="1" dirty="0"/>
              <a:t>HU20 - Capacitacion digital integrada al sistema: </a:t>
            </a:r>
            <a:r>
              <a:rPr lang="es-CL" sz="1000" dirty="0"/>
              <a:t>Valor=6 | Urgencia=5 | Riesgo=4 | CoD=15 | Tamano=3 | WSJF=5.0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79994" y="60000"/>
            <a:ext cx="1218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ENTREGABLES_ 2B) RESUMEN COMPLETO: 40 TAREAS SMART (2 por cada HU) | 1 Scrum | 6 Sprints x 2 Semanas</a:t>
            </a:r>
          </a:p>
          <a:p>
            <a:r>
              <a:rPr lang="es-CL" dirty="0"/>
              <a:t>4 Epicas | 20 Historias de Usuario | 40 Tareas SMART</a:t>
            </a:r>
          </a:p>
        </p:txBody>
      </p:sp>
      <p:sp>
        <p:nvSpPr>
          <p:cNvPr id="10" name="Col1"/>
          <p:cNvSpPr txBox="1"/>
          <p:nvPr/>
        </p:nvSpPr>
        <p:spPr>
          <a:xfrm>
            <a:off x="179994" y="900000"/>
            <a:ext cx="2900000" cy="5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50" b="1" dirty="0"/>
              <a:t>EPICA 1: Control en Origen (TCC y Reglas Automaticas)</a:t>
            </a:r>
          </a:p>
          <a:p>
            <a:r>
              <a:rPr lang="es-CL" sz="850" b="1" dirty="0"/>
              <a:t>  HU1:</a:t>
            </a:r>
          </a:p>
          <a:p>
            <a:r>
              <a:rPr lang="es-CL" sz="780" b="1" dirty="0"/>
              <a:t>   T1: </a:t>
            </a:r>
            <a:r>
              <a:rPr lang="es-CL" sz="780" dirty="0"/>
              <a:t>Configurar 4 perfiles de limite de gasto por cargo en plataforma bancaria (dia 5, S1)</a:t>
            </a:r>
          </a:p>
          <a:p>
            <a:r>
              <a:rPr lang="es-CL" sz="780" b="1" dirty="0"/>
              <a:t>   T2: </a:t>
            </a:r>
            <a:r>
              <a:rPr lang="es-CL" sz="780" dirty="0"/>
              <a:t>Emitir y activar TCC digital para 10 choferes piloto con 1 transaccion exitosa c/u (S1)</a:t>
            </a:r>
          </a:p>
          <a:p>
            <a:r>
              <a:rPr lang="es-CL" sz="850" b="1" dirty="0"/>
              <a:t>  HU2:</a:t>
            </a:r>
          </a:p>
          <a:p>
            <a:r>
              <a:rPr lang="es-CL" sz="780" b="1" dirty="0"/>
              <a:t>   T3: </a:t>
            </a:r>
            <a:r>
              <a:rPr lang="es-CL" sz="780" dirty="0"/>
              <a:t>Mapear y parametrizar 6 categorias de gasto en motor de reglas del TCC (S1)</a:t>
            </a:r>
          </a:p>
          <a:p>
            <a:r>
              <a:rPr lang="es-CL" sz="780" b="1" dirty="0"/>
              <a:t>   T4: </a:t>
            </a:r>
            <a:r>
              <a:rPr lang="es-CL" sz="780" dirty="0"/>
              <a:t>Validar topes por categoria con Finanzas: test de 10 transacciones cruzadas (S1)</a:t>
            </a:r>
          </a:p>
          <a:p>
            <a:r>
              <a:rPr lang="es-CL" sz="850" b="1" dirty="0"/>
              <a:t>  HU3:</a:t>
            </a:r>
          </a:p>
          <a:p>
            <a:r>
              <a:rPr lang="es-CL" sz="780" b="1" dirty="0"/>
              <a:t>   T5: </a:t>
            </a:r>
            <a:r>
              <a:rPr lang="es-CL" sz="780" dirty="0"/>
              <a:t>Programar regla de bloqueo automatico al 100% del limite y notificacion al colaborador (S1)</a:t>
            </a:r>
          </a:p>
          <a:p>
            <a:r>
              <a:rPr lang="es-CL" sz="780" b="1" dirty="0"/>
              <a:t>   T6: </a:t>
            </a:r>
            <a:r>
              <a:rPr lang="es-CL" sz="780" dirty="0"/>
              <a:t>Prueba de stress: 50 transacciones fuera de politica bloqueadas y registradas correctamente (S1)</a:t>
            </a:r>
          </a:p>
          <a:p>
            <a:r>
              <a:rPr lang="es-CL" sz="850" b="1" dirty="0"/>
              <a:t>  HU4:</a:t>
            </a:r>
          </a:p>
          <a:p>
            <a:r>
              <a:rPr lang="es-CL" sz="780" b="1" dirty="0"/>
              <a:t>   T7: </a:t>
            </a:r>
            <a:r>
              <a:rPr lang="es-CL" sz="780" dirty="0"/>
              <a:t>Configurar notificacion push: evento trigger + plantilla de mensaje + canal (S1)</a:t>
            </a:r>
          </a:p>
          <a:p>
            <a:r>
              <a:rPr lang="es-CL" sz="780" b="1" dirty="0"/>
              <a:t>   T8: </a:t>
            </a:r>
            <a:r>
              <a:rPr lang="es-CL" sz="780" dirty="0"/>
              <a:t>Probar notificacion end-to-end: gasto -&gt; regla -&gt; push en &lt;10 seg en 3 dispositivos (S1)</a:t>
            </a:r>
          </a:p>
          <a:p>
            <a:r>
              <a:rPr lang="es-CL" sz="850" b="1" dirty="0"/>
              <a:t>  HU5:</a:t>
            </a:r>
          </a:p>
          <a:p>
            <a:r>
              <a:rPr lang="es-CL" sz="780" b="1" dirty="0"/>
              <a:t>   T9: </a:t>
            </a:r>
            <a:r>
              <a:rPr lang="es-CL" sz="780" dirty="0"/>
              <a:t>Implementar motor de reglas que bloquea transacciones &gt;110% y genera alerta supervisor (S2)</a:t>
            </a:r>
          </a:p>
          <a:p>
            <a:r>
              <a:rPr lang="es-CL" sz="780" b="1" dirty="0"/>
              <a:t>   T10: </a:t>
            </a:r>
            <a:r>
              <a:rPr lang="es-CL" sz="780" dirty="0"/>
              <a:t>Configurar flujo aprobacion digital: notif push + boton aprobar/rechazar + auditoria (S2)</a:t>
            </a:r>
          </a:p>
        </p:txBody>
      </p:sp>
      <p:sp>
        <p:nvSpPr>
          <p:cNvPr id="11" name="Col2"/>
          <p:cNvSpPr txBox="1"/>
          <p:nvPr/>
        </p:nvSpPr>
        <p:spPr>
          <a:xfrm>
            <a:off x="3179994" y="900000"/>
            <a:ext cx="2900000" cy="5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50" b="1" dirty="0"/>
              <a:t>EPICA 2: App y Rendicion Digital</a:t>
            </a:r>
          </a:p>
          <a:p>
            <a:r>
              <a:rPr lang="es-CL" sz="850" b="1" dirty="0"/>
              <a:t>  HU6:</a:t>
            </a:r>
          </a:p>
          <a:p>
            <a:r>
              <a:rPr lang="es-CL" sz="780" b="1" dirty="0"/>
              <a:t>   T11: </a:t>
            </a:r>
            <a:r>
              <a:rPr lang="es-CL" sz="780" dirty="0"/>
              <a:t>Integrar API OCR (Google Vision) para extraer RUT, monto, fecha, comercio &gt;= 85% precision (S2)</a:t>
            </a:r>
          </a:p>
          <a:p>
            <a:r>
              <a:rPr lang="es-CL" sz="780" b="1" dirty="0"/>
              <a:t>   T12: </a:t>
            </a:r>
            <a:r>
              <a:rPr lang="es-CL" sz="780" dirty="0"/>
              <a:t>Desplegar modelo IA en 6 categorias: alim., alojam., comb., peaje, mant., otros &gt;= 80% (S2)</a:t>
            </a:r>
          </a:p>
          <a:p>
            <a:r>
              <a:rPr lang="es-CL" sz="850" b="1" dirty="0"/>
              <a:t>  HU7:</a:t>
            </a:r>
          </a:p>
          <a:p>
            <a:r>
              <a:rPr lang="es-CL" sz="780" b="1" dirty="0"/>
              <a:t>   T13: </a:t>
            </a:r>
            <a:r>
              <a:rPr lang="es-CL" sz="780" dirty="0"/>
              <a:t>Desarrollar modulo de borrador automatico: OCR -&gt; clasificacion -&gt; formulario prellenado (S2)</a:t>
            </a:r>
          </a:p>
          <a:p>
            <a:r>
              <a:rPr lang="es-CL" sz="780" b="1" dirty="0"/>
              <a:t>   T14: </a:t>
            </a:r>
            <a:r>
              <a:rPr lang="es-CL" sz="780" dirty="0"/>
              <a:t>Prueba usuario: 20 colaboradores generan rendicion desde foto en &lt;2 min sin intervencion (S2)</a:t>
            </a:r>
          </a:p>
          <a:p>
            <a:r>
              <a:rPr lang="es-CL" sz="850" b="1" dirty="0"/>
              <a:t>  HU8:</a:t>
            </a:r>
          </a:p>
          <a:p>
            <a:r>
              <a:rPr lang="es-CL" sz="780" b="1" dirty="0"/>
              <a:t>   T15: </a:t>
            </a:r>
            <a:r>
              <a:rPr lang="es-CL" sz="780" dirty="0"/>
              <a:t>Diseniar e implementar dashboard de estado: etapas, SLA, semaforo (S4)</a:t>
            </a:r>
          </a:p>
          <a:p>
            <a:r>
              <a:rPr lang="es-CL" sz="780" b="1" dirty="0"/>
              <a:t>   T16: </a:t>
            </a:r>
            <a:r>
              <a:rPr lang="es-CL" sz="780" dirty="0"/>
              <a:t>Validar actualizacion en tiempo real: cambio de estado reflejado en &lt;5 seg (S4)</a:t>
            </a:r>
          </a:p>
          <a:p>
            <a:r>
              <a:rPr lang="es-CL" sz="850" b="1" dirty="0"/>
              <a:t>  HU9:</a:t>
            </a:r>
          </a:p>
          <a:p>
            <a:r>
              <a:rPr lang="es-CL" sz="780" b="1" dirty="0"/>
              <a:t>   T17: </a:t>
            </a:r>
            <a:r>
              <a:rPr lang="es-CL" sz="780" dirty="0"/>
              <a:t>Desarrollar cache SQLite offline: almacena hasta 50 gastos + foto sin conexion (S3)</a:t>
            </a:r>
          </a:p>
          <a:p>
            <a:r>
              <a:rPr lang="es-CL" sz="780" b="1" dirty="0"/>
              <a:t>   T18: </a:t>
            </a:r>
            <a:r>
              <a:rPr lang="es-CL" sz="780" dirty="0"/>
              <a:t>Crear cola de sincronizacion background: reconecta y sincroniza en &lt;2 min (S3)</a:t>
            </a:r>
          </a:p>
          <a:p>
            <a:r>
              <a:rPr lang="es-CL" sz="850" b="1" dirty="0"/>
              <a:t>  HU10:</a:t>
            </a:r>
          </a:p>
          <a:p>
            <a:r>
              <a:rPr lang="es-CL" sz="780" b="1" dirty="0"/>
              <a:t>   T19: </a:t>
            </a:r>
            <a:r>
              <a:rPr lang="es-CL" sz="780" dirty="0"/>
              <a:t>Implementar almacenamiento local offline en app movil hasta 50 gastos sin perdida (S3)</a:t>
            </a:r>
          </a:p>
          <a:p>
            <a:r>
              <a:rPr lang="es-CL" sz="780" b="1" dirty="0"/>
              <a:t>   T20: </a:t>
            </a:r>
            <a:r>
              <a:rPr lang="es-CL" sz="780" dirty="0"/>
              <a:t>Desarrollar cola de sincronizacion automatica al recuperar conectividad en &lt;2 min (S3)</a:t>
            </a:r>
          </a:p>
        </p:txBody>
      </p:sp>
      <p:sp>
        <p:nvSpPr>
          <p:cNvPr id="12" name="Col3"/>
          <p:cNvSpPr txBox="1"/>
          <p:nvPr/>
        </p:nvSpPr>
        <p:spPr>
          <a:xfrm>
            <a:off x="6179994" y="900000"/>
            <a:ext cx="2900000" cy="5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50" b="1" dirty="0"/>
              <a:t>EPICA 3: Gobierno del Gasto y Workflow de Excepciones</a:t>
            </a:r>
          </a:p>
          <a:p>
            <a:r>
              <a:rPr lang="es-CL" sz="850" b="1" dirty="0"/>
              <a:t>  HU11:</a:t>
            </a:r>
          </a:p>
          <a:p>
            <a:r>
              <a:rPr lang="es-CL" sz="780" b="1" dirty="0"/>
              <a:t>   T21: </a:t>
            </a:r>
            <a:r>
              <a:rPr lang="es-CL" sz="780" dirty="0"/>
              <a:t>Configurar motor de reglas: 8 reglas de negocio cargadas y probadas en ambiente QA (S3)</a:t>
            </a:r>
          </a:p>
          <a:p>
            <a:r>
              <a:rPr lang="es-CL" sz="780" b="1" dirty="0"/>
              <a:t>   T22: </a:t>
            </a:r>
            <a:r>
              <a:rPr lang="es-CL" sz="780" dirty="0"/>
              <a:t>Validar motor: 30 casos de prueba cubren todos los flujos de excepcion documentados (S3)</a:t>
            </a:r>
          </a:p>
          <a:p>
            <a:r>
              <a:rPr lang="es-CL" sz="850" b="1" dirty="0"/>
              <a:t>  HU12:</a:t>
            </a:r>
          </a:p>
          <a:p>
            <a:r>
              <a:rPr lang="es-CL" sz="780" b="1" dirty="0"/>
              <a:t>   T23: </a:t>
            </a:r>
            <a:r>
              <a:rPr lang="es-CL" sz="780" dirty="0"/>
              <a:t>Implementar workflow jerarquico: N1 supervisor, N2 gerente, N3 finanzas con SLA 24h (S3)</a:t>
            </a:r>
          </a:p>
          <a:p>
            <a:r>
              <a:rPr lang="es-CL" sz="780" b="1" dirty="0"/>
              <a:t>   T24: </a:t>
            </a:r>
            <a:r>
              <a:rPr lang="es-CL" sz="780" dirty="0"/>
              <a:t>Prueba end-to-end: excepcion -&gt; notif -&gt; aprobacion N1 -&gt; escala N2 si &gt;24h (S3)</a:t>
            </a:r>
          </a:p>
          <a:p>
            <a:r>
              <a:rPr lang="es-CL" sz="850" b="1" dirty="0"/>
              <a:t>  HU13:</a:t>
            </a:r>
          </a:p>
          <a:p>
            <a:r>
              <a:rPr lang="es-CL" sz="780" b="1" dirty="0"/>
              <a:t>   T25: </a:t>
            </a:r>
            <a:r>
              <a:rPr lang="es-CL" sz="780" dirty="0"/>
              <a:t>Desarrollar panel auditoria Finanzas: filtros por periodo, usuario, categoria, estado (S4)</a:t>
            </a:r>
          </a:p>
          <a:p>
            <a:r>
              <a:rPr lang="es-CL" sz="780" b="1" dirty="0"/>
              <a:t>   T26: </a:t>
            </a:r>
            <a:r>
              <a:rPr lang="es-CL" sz="780" dirty="0"/>
              <a:t>Exportar reporte auditoria a Excel/PDF: 100% de transacciones trazables sin gap (S4)</a:t>
            </a:r>
          </a:p>
          <a:p>
            <a:r>
              <a:rPr lang="es-CL" sz="850" b="1" dirty="0"/>
              <a:t>  HU14:</a:t>
            </a:r>
          </a:p>
          <a:p>
            <a:r>
              <a:rPr lang="es-CL" sz="780" b="1" dirty="0"/>
              <a:t>   T27: </a:t>
            </a:r>
            <a:r>
              <a:rPr lang="es-CL" sz="780" dirty="0"/>
              <a:t>Implementar modelo forecast flujo de caja con datos historicos 6 meses (S5)</a:t>
            </a:r>
          </a:p>
          <a:p>
            <a:r>
              <a:rPr lang="es-CL" sz="780" b="1" dirty="0"/>
              <a:t>   T28: </a:t>
            </a:r>
            <a:r>
              <a:rPr lang="es-CL" sz="780" dirty="0"/>
              <a:t>Dashboard forecast: variacion real vs proyectado con alerta si desvia &gt;15% (S5)</a:t>
            </a:r>
          </a:p>
          <a:p>
            <a:r>
              <a:rPr lang="es-CL" sz="850" b="1" dirty="0"/>
              <a:t>  HU15:</a:t>
            </a:r>
          </a:p>
          <a:p>
            <a:r>
              <a:rPr lang="es-CL" sz="780" b="1" dirty="0"/>
              <a:t>   T29: </a:t>
            </a:r>
            <a:r>
              <a:rPr lang="es-CL" sz="780" dirty="0"/>
              <a:t>Publicar politicas de viaticos en app: por rol/cargo, siempre visible antes de gastar (S5)</a:t>
            </a:r>
          </a:p>
          <a:p>
            <a:r>
              <a:rPr lang="es-CL" sz="780" b="1" dirty="0"/>
              <a:t>   T30: </a:t>
            </a:r>
            <a:r>
              <a:rPr lang="es-CL" sz="780" dirty="0"/>
              <a:t>Validar comprension: 90% de usuarios identifican su limite correcto en &lt;30 seg (S5)</a:t>
            </a:r>
          </a:p>
        </p:txBody>
      </p:sp>
      <p:sp>
        <p:nvSpPr>
          <p:cNvPr id="13" name="Col4"/>
          <p:cNvSpPr txBox="1"/>
          <p:nvPr/>
        </p:nvSpPr>
        <p:spPr>
          <a:xfrm>
            <a:off x="9179994" y="900000"/>
            <a:ext cx="2900000" cy="5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50" b="1" dirty="0"/>
              <a:t>EPICA 4: Metricas, ROI y Escalabilidad</a:t>
            </a:r>
          </a:p>
          <a:p>
            <a:r>
              <a:rPr lang="es-CL" sz="850" b="1" dirty="0"/>
              <a:t>  HU16:</a:t>
            </a:r>
          </a:p>
          <a:p>
            <a:r>
              <a:rPr lang="es-CL" sz="780" b="1" dirty="0"/>
              <a:t>   T31: </a:t>
            </a:r>
            <a:r>
              <a:rPr lang="es-CL" sz="780" dirty="0"/>
              <a:t>Implementar modulo KPIs: ciclo de aprobacion, tasa error, SUS actualizados en tiempo real (S4)</a:t>
            </a:r>
          </a:p>
          <a:p>
            <a:r>
              <a:rPr lang="es-CL" sz="780" b="1" dirty="0"/>
              <a:t>   T32: </a:t>
            </a:r>
            <a:r>
              <a:rPr lang="es-CL" sz="780" dirty="0"/>
              <a:t>Dashboard ejecutivo KPIs disponible para gerencia con drill-down por periodo y area (S4)</a:t>
            </a:r>
          </a:p>
          <a:p>
            <a:r>
              <a:rPr lang="es-CL" sz="850" b="1" dirty="0"/>
              <a:t>  HU17:</a:t>
            </a:r>
          </a:p>
          <a:p>
            <a:r>
              <a:rPr lang="es-CL" sz="780" b="1" dirty="0"/>
              <a:t>   T33: </a:t>
            </a:r>
            <a:r>
              <a:rPr lang="es-CL" sz="780" dirty="0"/>
              <a:t>Desarrollar calculo ROI mensual automatico: ingresos - Opex vs linea base (S5)</a:t>
            </a:r>
          </a:p>
          <a:p>
            <a:r>
              <a:rPr lang="es-CL" sz="780" b="1" dirty="0"/>
              <a:t>   T34: </a:t>
            </a:r>
            <a:r>
              <a:rPr lang="es-CL" sz="780" dirty="0"/>
              <a:t>Configurar reporte ROI mensual enviado automaticamente a PO y Finanzas el dia 1 (S5)</a:t>
            </a:r>
          </a:p>
          <a:p>
            <a:r>
              <a:rPr lang="es-CL" sz="850" b="1" dirty="0"/>
              <a:t>  HU18:</a:t>
            </a:r>
          </a:p>
          <a:p>
            <a:r>
              <a:rPr lang="es-CL" sz="780" b="1" dirty="0"/>
              <a:t>   T35: </a:t>
            </a:r>
            <a:r>
              <a:rPr lang="es-CL" sz="780" dirty="0"/>
              <a:t>Diseniar arquitectura API ERP: endpoints, contratos y POC en ambiente sandbox (S6)</a:t>
            </a:r>
          </a:p>
          <a:p>
            <a:r>
              <a:rPr lang="es-CL" sz="780" b="1" dirty="0"/>
              <a:t>   T36: </a:t>
            </a:r>
            <a:r>
              <a:rPr lang="es-CL" sz="780" dirty="0"/>
              <a:t>Documentar integracion ERP: diagrama, flujos de datos y criterios de aceptacion (S6)</a:t>
            </a:r>
          </a:p>
          <a:p>
            <a:r>
              <a:rPr lang="es-CL" sz="850" b="1" dirty="0"/>
              <a:t>  HU19:</a:t>
            </a:r>
          </a:p>
          <a:p>
            <a:r>
              <a:rPr lang="es-CL" sz="780" b="1" dirty="0"/>
              <a:t>   T37: </a:t>
            </a:r>
            <a:r>
              <a:rPr lang="es-CL" sz="780" dirty="0"/>
              <a:t>Diseniar arquitectura microservicios: separacion de dominios y contratos de API interna (S6)</a:t>
            </a:r>
          </a:p>
          <a:p>
            <a:r>
              <a:rPr lang="es-CL" sz="780" b="1" dirty="0"/>
              <a:t>   T38: </a:t>
            </a:r>
            <a:r>
              <a:rPr lang="es-CL" sz="780" dirty="0"/>
              <a:t>Implementar POC microservicio rendicion: contenedorizado, desplegado en cloud, monitoreado (S6)</a:t>
            </a:r>
          </a:p>
          <a:p>
            <a:r>
              <a:rPr lang="es-CL" sz="850" b="1" dirty="0"/>
              <a:t>  HU20:</a:t>
            </a:r>
          </a:p>
          <a:p>
            <a:r>
              <a:rPr lang="es-CL" sz="780" b="1" dirty="0"/>
              <a:t>   T39: </a:t>
            </a:r>
            <a:r>
              <a:rPr lang="es-CL" sz="780" dirty="0"/>
              <a:t>Crear modulo capacitacion in-app: tutorial interactivo 5 pasos, accesible desde menu (S5)</a:t>
            </a:r>
          </a:p>
          <a:p>
            <a:r>
              <a:rPr lang="es-CL" sz="780" b="1" dirty="0"/>
              <a:t>   T40: </a:t>
            </a:r>
            <a:r>
              <a:rPr lang="es-CL" sz="780" dirty="0"/>
              <a:t>Medir efectividad: 80% de nuevos usuarios completan primer rendicion sin asistencia (S5)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411480" y="50000"/>
            <a:ext cx="1188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ENTREGABLES_ 4) PRODUCT BACKLOG - Priorizado por WSJF | 1 Scrum | 6 Sprints x 2 semanas | Max 1 Trimestre | TechLogistics S.A.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1535A3-A04C-BB8D-8E65-9AD9CD6C6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66" y="1004048"/>
            <a:ext cx="11961656" cy="69924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411480" y="50000"/>
            <a:ext cx="11421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/>
              <a:t>ENTREGABLES_ 5) TABLERO KANBAN - Sprint 1 (Sem 1-2) | 1 Solo Scrum | 6 Sprints x 2 sem | Viaticos TechLogistics S.A. | WIP Limit: 3</a:t>
            </a:r>
          </a:p>
        </p:txBody>
      </p:sp>
      <p:sp>
        <p:nvSpPr>
          <p:cNvPr id="10" name="Pendientes"/>
          <p:cNvSpPr txBox="1"/>
          <p:nvPr/>
        </p:nvSpPr>
        <p:spPr>
          <a:xfrm>
            <a:off x="100000" y="500000"/>
            <a:ext cx="1980000" cy="7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Pendientes</a:t>
            </a:r>
          </a:p>
          <a:p>
            <a:r>
              <a:rPr lang="es-CL" sz="850" dirty="0"/>
              <a:t>- BK-006: Flujo aprobacion excepciones (E1/HU5) - 8SP</a:t>
            </a:r>
          </a:p>
          <a:p>
            <a:r>
              <a:rPr lang="es-CL" sz="850" dirty="0"/>
              <a:t>- BK-007: Motor de reglas gobierno gasto (E3/HU11) - 8SP</a:t>
            </a:r>
          </a:p>
          <a:p>
            <a:r>
              <a:rPr lang="es-CL" sz="850" dirty="0"/>
              <a:t>- BK-008: Workflow aprobacion jerarquica (E3/HU12) - 8SP</a:t>
            </a:r>
          </a:p>
          <a:p>
            <a:r>
              <a:rPr lang="es-CL" sz="850" dirty="0"/>
              <a:t>- BK-010: Registro offline + sync (E2/HU9) - 5SP</a:t>
            </a:r>
          </a:p>
          <a:p>
            <a:r>
              <a:rPr lang="es-CL" sz="850" dirty="0"/>
              <a:t>- BK-011: Dashboard estado tramite (E2/HU8) - 5SP</a:t>
            </a:r>
          </a:p>
          <a:p>
            <a:r>
              <a:rPr lang="es-CL" sz="850" dirty="0"/>
              <a:t>- BK-012: Panel auditoria Finanzas (E3/HU13) - 5SP</a:t>
            </a:r>
          </a:p>
        </p:txBody>
      </p:sp>
      <p:sp>
        <p:nvSpPr>
          <p:cNvPr id="11" name="Ready"/>
          <p:cNvSpPr txBox="1"/>
          <p:nvPr/>
        </p:nvSpPr>
        <p:spPr>
          <a:xfrm>
            <a:off x="2120000" y="500000"/>
            <a:ext cx="1980000" cy="7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Ready</a:t>
            </a:r>
          </a:p>
          <a:p>
            <a:r>
              <a:rPr lang="es-CL" sz="850" dirty="0"/>
              <a:t>- BK-004: OCR+IA captura boletas (E2/HU6) - 8SP</a:t>
            </a:r>
          </a:p>
          <a:p>
            <a:r>
              <a:rPr lang="es-CL" sz="850" dirty="0"/>
              <a:t>- BK-005: Rendicion automatica borrador (E2/HU7) - 8SP</a:t>
            </a:r>
          </a:p>
          <a:p>
            <a:r>
              <a:rPr lang="es-CL" sz="850" dirty="0"/>
              <a:t>- BK-009: Notificacion tiempo real (E1/HU4) - 3SP</a:t>
            </a:r>
          </a:p>
        </p:txBody>
      </p:sp>
      <p:sp>
        <p:nvSpPr>
          <p:cNvPr id="12" name="InProgress"/>
          <p:cNvSpPr txBox="1"/>
          <p:nvPr/>
        </p:nvSpPr>
        <p:spPr>
          <a:xfrm>
            <a:off x="4140000" y="500000"/>
            <a:ext cx="1980000" cy="7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In Progress (WIP=3)</a:t>
            </a:r>
          </a:p>
          <a:p>
            <a:r>
              <a:rPr lang="es-CL" sz="850" dirty="0"/>
              <a:t>- BK-001: TCC digital por cargo (E1/HU1) - 5SP</a:t>
            </a:r>
          </a:p>
          <a:p>
            <a:r>
              <a:rPr lang="es-CL" sz="850" dirty="0"/>
              <a:t>- BK-002: Limites automaticos categoria (E1/HU2) - 5SP</a:t>
            </a:r>
          </a:p>
          <a:p>
            <a:r>
              <a:rPr lang="es-CL" sz="850" dirty="0"/>
              <a:t>- BK-003: Bloqueo gastos fuera politica (E1/HU3) - 8SP</a:t>
            </a:r>
          </a:p>
        </p:txBody>
      </p:sp>
      <p:sp>
        <p:nvSpPr>
          <p:cNvPr id="13" name="QA"/>
          <p:cNvSpPr txBox="1"/>
          <p:nvPr/>
        </p:nvSpPr>
        <p:spPr>
          <a:xfrm>
            <a:off x="6160000" y="500000"/>
            <a:ext cx="1980000" cy="2277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QA</a:t>
            </a:r>
          </a:p>
          <a:p>
            <a:r>
              <a:rPr lang="es-CL" sz="850" dirty="0"/>
              <a:t>- (Sprint 1 - aun sin items en QA)</a:t>
            </a:r>
          </a:p>
          <a:p>
            <a:r>
              <a:rPr lang="es-CL" sz="850" dirty="0"/>
              <a:t>- Criterio: test funcional + integracion</a:t>
            </a:r>
          </a:p>
          <a:p>
            <a:r>
              <a:rPr lang="es-CL" sz="850" dirty="0"/>
              <a:t>- SLA de QA: max 2 dias por </a:t>
            </a:r>
            <a:r>
              <a:rPr lang="es-CL" sz="850" dirty="0" err="1"/>
              <a:t>item</a:t>
            </a:r>
            <a:endParaRPr lang="es-CL" sz="850" dirty="0"/>
          </a:p>
          <a:p>
            <a:r>
              <a:rPr lang="es-CL" sz="900" b="1" dirty="0" err="1"/>
              <a:t>DoD</a:t>
            </a:r>
            <a:r>
              <a:rPr lang="es-CL" sz="900" b="1" dirty="0"/>
              <a:t> In </a:t>
            </a:r>
            <a:r>
              <a:rPr lang="es-CL" sz="900" b="1" dirty="0" err="1"/>
              <a:t>Progress</a:t>
            </a:r>
            <a:r>
              <a:rPr lang="es-CL" sz="900" b="1" dirty="0"/>
              <a:t> → QA:</a:t>
            </a:r>
            <a:endParaRPr lang="es-CL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es-CL" sz="900" dirty="0"/>
              <a:t>Código revisado por par (peer </a:t>
            </a:r>
            <a:r>
              <a:rPr lang="es-CL" sz="900" dirty="0" err="1"/>
              <a:t>review</a:t>
            </a:r>
            <a:r>
              <a:rPr lang="es-CL" sz="9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900" dirty="0"/>
              <a:t>Prueba unitaria documentada (</a:t>
            </a:r>
            <a:r>
              <a:rPr lang="es-CL" sz="900" dirty="0" err="1"/>
              <a:t>pass</a:t>
            </a:r>
            <a:r>
              <a:rPr lang="es-CL" sz="900" dirty="0"/>
              <a:t>/</a:t>
            </a:r>
            <a:r>
              <a:rPr lang="es-CL" sz="900" dirty="0" err="1"/>
              <a:t>fail</a:t>
            </a:r>
            <a:r>
              <a:rPr lang="es-CL" sz="9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900" dirty="0"/>
              <a:t>Sin bugs bloqueantes abiertos</a:t>
            </a:r>
          </a:p>
          <a:p>
            <a:r>
              <a:rPr lang="es-CL" sz="900" b="1" dirty="0" err="1"/>
              <a:t>DoD</a:t>
            </a:r>
            <a:r>
              <a:rPr lang="es-CL" sz="900" b="1" dirty="0"/>
              <a:t> QA → Done:</a:t>
            </a:r>
            <a:endParaRPr lang="es-CL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es-CL" sz="900" dirty="0"/>
              <a:t>Test funcional aprobado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900" dirty="0"/>
              <a:t>Criterio de Aceptación de la HU verificado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900" dirty="0"/>
              <a:t>Aprobación del PO registrada</a:t>
            </a:r>
          </a:p>
          <a:p>
            <a:endParaRPr lang="es-CL" sz="850" dirty="0"/>
          </a:p>
        </p:txBody>
      </p:sp>
      <p:sp>
        <p:nvSpPr>
          <p:cNvPr id="14" name="Buffer"/>
          <p:cNvSpPr txBox="1"/>
          <p:nvPr/>
        </p:nvSpPr>
        <p:spPr>
          <a:xfrm>
            <a:off x="8180000" y="500000"/>
            <a:ext cx="1980000" cy="7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Buffer</a:t>
            </a:r>
          </a:p>
          <a:p>
            <a:r>
              <a:rPr lang="es-CL" sz="850" dirty="0"/>
              <a:t>- Espacio para reprocesos o bloqueos</a:t>
            </a:r>
          </a:p>
          <a:p>
            <a:r>
              <a:rPr lang="es-CL" sz="850" dirty="0"/>
              <a:t>- Limite: max 1 item en buffer a la vez</a:t>
            </a:r>
          </a:p>
          <a:p>
            <a:r>
              <a:rPr lang="es-CL" sz="850" dirty="0"/>
              <a:t>- Accion: revisar en daily si aparece item</a:t>
            </a:r>
          </a:p>
        </p:txBody>
      </p:sp>
      <p:sp>
        <p:nvSpPr>
          <p:cNvPr id="15" name="Done"/>
          <p:cNvSpPr txBox="1"/>
          <p:nvPr/>
        </p:nvSpPr>
        <p:spPr>
          <a:xfrm>
            <a:off x="10200000" y="500000"/>
            <a:ext cx="2100000" cy="76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900" b="1" dirty="0"/>
              <a:t>Done</a:t>
            </a:r>
          </a:p>
          <a:p>
            <a:r>
              <a:rPr lang="es-CL" sz="850" dirty="0"/>
              <a:t>- Project Charter aprobado</a:t>
            </a:r>
          </a:p>
          <a:p>
            <a:r>
              <a:rPr lang="es-CL" sz="850" dirty="0"/>
              <a:t>- Backlog priorizado (WSJF) validado</a:t>
            </a:r>
          </a:p>
          <a:p>
            <a:r>
              <a:rPr lang="es-CL" sz="850" dirty="0"/>
              <a:t>- Epicas y HU definidas y estimadas</a:t>
            </a:r>
          </a:p>
          <a:p>
            <a:r>
              <a:rPr lang="es-CL" sz="850" dirty="0"/>
              <a:t>- Arquitectura MVP aprobada por 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411480" y="50000"/>
            <a:ext cx="1188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/>
              <a:t>ENTREGABLES_ 6) PRESUPUESTO | Capex: $40.000.000 | Opex: $3.000.000 CLP | Payback esperado: menor a 18 meses</a:t>
            </a:r>
          </a:p>
        </p:txBody>
      </p:sp>
      <p:sp>
        <p:nvSpPr>
          <p:cNvPr id="4" name="Opcion"/>
          <p:cNvSpPr txBox="1"/>
          <p:nvPr/>
        </p:nvSpPr>
        <p:spPr>
          <a:xfrm>
            <a:off x="179994" y="1267644"/>
            <a:ext cx="122400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600" b="1" dirty="0"/>
              <a:t>OPCION SELECCIONADA: Opcion 3 - Automatizacion Inteligente (Balance, foco en metricas)</a:t>
            </a:r>
          </a:p>
          <a:p>
            <a:r>
              <a:rPr lang="es-CL" sz="1600" b="1" dirty="0"/>
              <a:t>Justificacion como Product Owner:</a:t>
            </a:r>
          </a:p>
          <a:p>
            <a:r>
              <a:rPr lang="es-CL" sz="1600" dirty="0"/>
              <a:t>La Opcion 3 es la unica que alinea la inversion con los tres pilares estrategicos 2026 simultaniamente.</a:t>
            </a:r>
          </a:p>
          <a:p>
            <a:r>
              <a:rPr lang="es-CL" sz="1600" dirty="0"/>
              <a:t>- La Opcion 1 (Adopcion rapida) invierte demasiado en onboarding sin garantizar automatizacion real del proceso.</a:t>
            </a:r>
          </a:p>
          <a:p>
            <a:r>
              <a:rPr lang="es-CL" sz="1600" dirty="0"/>
              <a:t>- La Opcion 2 (Minimo Viable) tiene alto riesgo de baja adopcion y resultados debiles; no resuelve el problema estructural.</a:t>
            </a:r>
          </a:p>
          <a:p>
            <a:r>
              <a:rPr lang="es-CL" sz="1600" dirty="0"/>
              <a:t>- La Opcion 3 invierte de forma inteligente: automatizacion que empuja el comportamiento correcto desde el diseno.</a:t>
            </a:r>
          </a:p>
          <a:p>
            <a:r>
              <a:rPr lang="es-CL" sz="1600" dirty="0"/>
              <a:t>Principio PO: no automatizamos el proceso actual, lo transformamos. El sistema define el flujo correcto, no el usuario.</a:t>
            </a:r>
          </a:p>
        </p:txBody>
      </p:sp>
      <p:sp>
        <p:nvSpPr>
          <p:cNvPr id="5" name="Capex"/>
          <p:cNvSpPr txBox="1"/>
          <p:nvPr/>
        </p:nvSpPr>
        <p:spPr>
          <a:xfrm>
            <a:off x="179994" y="3400000"/>
            <a:ext cx="590000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400" b="1" dirty="0"/>
              <a:t>DESGLOSE CAPEX ($40.000.000):</a:t>
            </a:r>
          </a:p>
          <a:p>
            <a:r>
              <a:rPr lang="es-CL" sz="1400" dirty="0"/>
              <a:t>- Desarrollo app movil (2 sprints MVP): $14.000.000</a:t>
            </a:r>
          </a:p>
          <a:p>
            <a:r>
              <a:rPr lang="es-CL" sz="1400" dirty="0"/>
              <a:t>- Integracion API bancaria TCC: $8.000.000</a:t>
            </a:r>
          </a:p>
          <a:p>
            <a:r>
              <a:rPr lang="es-CL" sz="1400" dirty="0"/>
              <a:t>- Motor de reglas + Motor IA/OCR: $10.000.000</a:t>
            </a:r>
          </a:p>
          <a:p>
            <a:r>
              <a:rPr lang="es-CL" sz="1400" dirty="0"/>
              <a:t>- Infraestructura cloud (setup inicial): $4.000.000</a:t>
            </a:r>
          </a:p>
          <a:p>
            <a:r>
              <a:rPr lang="es-CL" sz="1400" dirty="0"/>
              <a:t>- QA, testing y onboarding inicial: $4.000.000</a:t>
            </a:r>
          </a:p>
          <a:p>
            <a:r>
              <a:rPr lang="es-CL" sz="1400" b="1" dirty="0"/>
              <a:t>DESGLOSE OPEX MENSUAL ($3.000.000):</a:t>
            </a:r>
          </a:p>
          <a:p>
            <a:r>
              <a:rPr lang="es-CL" sz="1400" dirty="0"/>
              <a:t>- Hosting cloud + API bancaria: $1.200.000</a:t>
            </a:r>
          </a:p>
          <a:p>
            <a:r>
              <a:rPr lang="es-CL" sz="1400" dirty="0"/>
              <a:t>- Mantenimiento y soporte TI: $1.000.000</a:t>
            </a:r>
          </a:p>
          <a:p>
            <a:r>
              <a:rPr lang="es-CL" sz="1400" dirty="0"/>
              <a:t>- Licencias y actualizaciones: $800.000</a:t>
            </a:r>
          </a:p>
        </p:txBody>
      </p:sp>
      <p:sp>
        <p:nvSpPr>
          <p:cNvPr id="6" name="ROI"/>
          <p:cNvSpPr txBox="1"/>
          <p:nvPr/>
        </p:nvSpPr>
        <p:spPr>
          <a:xfrm>
            <a:off x="6150000" y="3400000"/>
            <a:ext cx="6120000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1400" b="1" dirty="0"/>
              <a:t>ANALISIS ROI:</a:t>
            </a:r>
          </a:p>
          <a:p>
            <a:r>
              <a:rPr lang="es-CL" sz="1400" dirty="0"/>
              <a:t>Ahorro mensual estimado por automatizacion:</a:t>
            </a:r>
          </a:p>
          <a:p>
            <a:r>
              <a:rPr lang="es-CL" sz="1400" dirty="0"/>
              <a:t>- Reduccion errores 12%-&gt;2%: evita reprocesos en ~54 rendiciones/mes x $65.000 = $3.510.000/mes</a:t>
            </a:r>
          </a:p>
          <a:p>
            <a:r>
              <a:rPr lang="es-CL" sz="1400" dirty="0"/>
              <a:t>- Reduccion horas analiticas: 2 analistas liberan 60% tiempo = ahorro $1.800.000/mes</a:t>
            </a:r>
          </a:p>
          <a:p>
            <a:r>
              <a:rPr lang="es-CL" sz="1400" dirty="0"/>
              <a:t>- Reduccion reclamos (120-&gt;20/mes): menor costo de gestion = $500.000/mes aprox.</a:t>
            </a:r>
          </a:p>
          <a:p>
            <a:r>
              <a:rPr lang="es-CL" sz="1400" dirty="0"/>
              <a:t>Beneficio mensual neto estimado: $5.810.000 - $3.000.000 (Opex) = $2.810.000</a:t>
            </a:r>
          </a:p>
          <a:p>
            <a:r>
              <a:rPr lang="es-CL" sz="1400" dirty="0"/>
              <a:t>Payback: $40.000.000 / $2.810.000 = 14.2 meses  (dentro del limite de 18 meses)</a:t>
            </a:r>
          </a:p>
          <a:p>
            <a:r>
              <a:rPr lang="es-CL" sz="1400" dirty="0"/>
              <a:t>ROI a 24 meses: ((24x$2.810.000) - $40.000.000) / $40.000.000 x 100 = +68,6%</a:t>
            </a:r>
          </a:p>
          <a:p>
            <a:r>
              <a:rPr lang="es-CL" sz="1400" b="1" dirty="0">
                <a:highlight>
                  <a:srgbClr val="FFFF00"/>
                </a:highlight>
              </a:rPr>
              <a:t>Criterio financiero: ROI positivo y payback &lt;= 18 meses. CUMPLE.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56134"/>
            <a:ext cx="12599988" cy="100800"/>
          </a:xfrm>
          <a:prstGeom prst="rect">
            <a:avLst/>
          </a:prstGeom>
          <a:solidFill>
            <a:srgbClr val="F4A61C"/>
          </a:solidFill>
          <a:ln w="12700">
            <a:solidFill>
              <a:srgbClr val="F4A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56934"/>
            <a:ext cx="151200" cy="6986693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8000" y="1134785"/>
            <a:ext cx="15148871" cy="353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kern="0" spc="55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</a:p>
          <a:p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77999" y="3236660"/>
            <a:ext cx="8819991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3 — Transformación real del proceso, no parches</a:t>
            </a:r>
            <a:r>
              <a:rPr lang="en-US" sz="1929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29" dirty="0"/>
          </a:p>
        </p:txBody>
      </p:sp>
      <p:sp>
        <p:nvSpPr>
          <p:cNvPr id="7" name="Shape 5"/>
          <p:cNvSpPr/>
          <p:nvPr/>
        </p:nvSpPr>
        <p:spPr>
          <a:xfrm>
            <a:off x="378000" y="4439132"/>
            <a:ext cx="11843988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8000" y="4628132"/>
            <a:ext cx="3653996" cy="182699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8000" y="4628132"/>
            <a:ext cx="3653996" cy="756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7000" y="4728931"/>
            <a:ext cx="3275997" cy="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b="1" kern="0" spc="207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504000" y="5069131"/>
            <a:ext cx="3401997" cy="818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58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18 meses</a:t>
            </a:r>
            <a:endParaRPr lang="en-US" sz="3858" dirty="0"/>
          </a:p>
        </p:txBody>
      </p:sp>
      <p:sp>
        <p:nvSpPr>
          <p:cNvPr id="12" name="Text 10"/>
          <p:cNvSpPr/>
          <p:nvPr/>
        </p:nvSpPr>
        <p:spPr>
          <a:xfrm>
            <a:off x="504000" y="5862930"/>
            <a:ext cx="3401997" cy="47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límite financiero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4346996" y="4628132"/>
            <a:ext cx="3653996" cy="182699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6996" y="4628132"/>
            <a:ext cx="3653996" cy="75600"/>
          </a:xfrm>
          <a:prstGeom prst="rect">
            <a:avLst/>
          </a:prstGeom>
          <a:solidFill>
            <a:srgbClr val="F4A61C"/>
          </a:solidFill>
          <a:ln w="12700">
            <a:solidFill>
              <a:srgbClr val="F4A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996" y="4728931"/>
            <a:ext cx="3275997" cy="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b="1" kern="0" spc="207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 24 meses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4472996" y="5069131"/>
            <a:ext cx="3401997" cy="818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58" b="1" dirty="0">
                <a:solidFill>
                  <a:srgbClr val="F4A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+68,6%</a:t>
            </a:r>
            <a:endParaRPr lang="en-US" sz="3858" dirty="0"/>
          </a:p>
        </p:txBody>
      </p:sp>
      <p:sp>
        <p:nvSpPr>
          <p:cNvPr id="17" name="Text 15"/>
          <p:cNvSpPr/>
          <p:nvPr/>
        </p:nvSpPr>
        <p:spPr>
          <a:xfrm>
            <a:off x="4472996" y="5862930"/>
            <a:ext cx="3401997" cy="47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sobre inversión total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315992" y="4628132"/>
            <a:ext cx="3653996" cy="1826998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15992" y="4628132"/>
            <a:ext cx="3653996" cy="75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4992" y="4728931"/>
            <a:ext cx="3275997" cy="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b="1" kern="0" spc="207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errores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8441992" y="5069131"/>
            <a:ext cx="3401997" cy="818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58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→ 2%</a:t>
            </a:r>
            <a:endParaRPr lang="en-US" sz="3858" dirty="0"/>
          </a:p>
        </p:txBody>
      </p:sp>
      <p:sp>
        <p:nvSpPr>
          <p:cNvPr id="22" name="Text 20"/>
          <p:cNvSpPr/>
          <p:nvPr/>
        </p:nvSpPr>
        <p:spPr>
          <a:xfrm>
            <a:off x="8441992" y="5862930"/>
            <a:ext cx="3401997" cy="47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rendiciones mensuales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378000" y="6618930"/>
            <a:ext cx="5039995" cy="4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b="1" kern="0" spc="413" dirty="0">
                <a:solidFill>
                  <a:srgbClr val="F4A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378000" y="7085129"/>
            <a:ext cx="2771997" cy="1385999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8000" y="7085129"/>
            <a:ext cx="529199" cy="138599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000" y="7085129"/>
            <a:ext cx="529199" cy="138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9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29" dirty="0"/>
          </a:p>
        </p:txBody>
      </p:sp>
      <p:sp>
        <p:nvSpPr>
          <p:cNvPr id="27" name="Text 25"/>
          <p:cNvSpPr/>
          <p:nvPr/>
        </p:nvSpPr>
        <p:spPr>
          <a:xfrm>
            <a:off x="982799" y="7122929"/>
            <a:ext cx="2078998" cy="3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378" dirty="0"/>
          </a:p>
        </p:txBody>
      </p:sp>
      <p:sp>
        <p:nvSpPr>
          <p:cNvPr id="28" name="Text 26"/>
          <p:cNvSpPr/>
          <p:nvPr/>
        </p:nvSpPr>
        <p:spPr>
          <a:xfrm>
            <a:off x="982799" y="7488329"/>
            <a:ext cx="2078998" cy="62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7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infra cloud + validación técnica</a:t>
            </a:r>
            <a:endParaRPr lang="en-US" sz="1171" dirty="0"/>
          </a:p>
        </p:txBody>
      </p:sp>
      <p:sp>
        <p:nvSpPr>
          <p:cNvPr id="29" name="Text 27"/>
          <p:cNvSpPr/>
          <p:nvPr/>
        </p:nvSpPr>
        <p:spPr>
          <a:xfrm>
            <a:off x="982799" y="8118328"/>
            <a:ext cx="2078998" cy="27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2" b="1" dirty="0">
                <a:solidFill>
                  <a:srgbClr val="F4A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1102" dirty="0"/>
          </a:p>
        </p:txBody>
      </p:sp>
      <p:sp>
        <p:nvSpPr>
          <p:cNvPr id="30" name="Text 28"/>
          <p:cNvSpPr/>
          <p:nvPr/>
        </p:nvSpPr>
        <p:spPr>
          <a:xfrm>
            <a:off x="3149997" y="7526129"/>
            <a:ext cx="252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80" dirty="0"/>
          </a:p>
        </p:txBody>
      </p:sp>
      <p:sp>
        <p:nvSpPr>
          <p:cNvPr id="31" name="Shape 29"/>
          <p:cNvSpPr/>
          <p:nvPr/>
        </p:nvSpPr>
        <p:spPr>
          <a:xfrm>
            <a:off x="3401997" y="7085129"/>
            <a:ext cx="2771997" cy="1385999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01997" y="7085129"/>
            <a:ext cx="529199" cy="138599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997" y="7085129"/>
            <a:ext cx="529199" cy="138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9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29" dirty="0"/>
          </a:p>
        </p:txBody>
      </p:sp>
      <p:sp>
        <p:nvSpPr>
          <p:cNvPr id="34" name="Text 32"/>
          <p:cNvSpPr/>
          <p:nvPr/>
        </p:nvSpPr>
        <p:spPr>
          <a:xfrm>
            <a:off x="4006796" y="7122929"/>
            <a:ext cx="2078998" cy="3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1–2</a:t>
            </a:r>
            <a:endParaRPr lang="en-US" sz="1378" dirty="0"/>
          </a:p>
        </p:txBody>
      </p:sp>
      <p:sp>
        <p:nvSpPr>
          <p:cNvPr id="35" name="Text 33"/>
          <p:cNvSpPr/>
          <p:nvPr/>
        </p:nvSpPr>
        <p:spPr>
          <a:xfrm>
            <a:off x="4006796" y="7488329"/>
            <a:ext cx="2078998" cy="62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7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app móvil + API bancaria TCC</a:t>
            </a:r>
            <a:endParaRPr lang="en-US" sz="1171" dirty="0"/>
          </a:p>
        </p:txBody>
      </p:sp>
      <p:sp>
        <p:nvSpPr>
          <p:cNvPr id="36" name="Text 34"/>
          <p:cNvSpPr/>
          <p:nvPr/>
        </p:nvSpPr>
        <p:spPr>
          <a:xfrm>
            <a:off x="4006796" y="8118328"/>
            <a:ext cx="2078998" cy="27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2" b="1" dirty="0">
                <a:solidFill>
                  <a:srgbClr val="F4A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2" dirty="0"/>
          </a:p>
        </p:txBody>
      </p:sp>
      <p:sp>
        <p:nvSpPr>
          <p:cNvPr id="37" name="Text 35"/>
          <p:cNvSpPr/>
          <p:nvPr/>
        </p:nvSpPr>
        <p:spPr>
          <a:xfrm>
            <a:off x="6173994" y="7526129"/>
            <a:ext cx="252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80" dirty="0"/>
          </a:p>
        </p:txBody>
      </p:sp>
      <p:sp>
        <p:nvSpPr>
          <p:cNvPr id="38" name="Shape 36"/>
          <p:cNvSpPr/>
          <p:nvPr/>
        </p:nvSpPr>
        <p:spPr>
          <a:xfrm>
            <a:off x="6425994" y="7085129"/>
            <a:ext cx="2771997" cy="1385999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25994" y="7085129"/>
            <a:ext cx="529199" cy="138599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5994" y="7085129"/>
            <a:ext cx="529199" cy="138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9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29" dirty="0"/>
          </a:p>
        </p:txBody>
      </p:sp>
      <p:sp>
        <p:nvSpPr>
          <p:cNvPr id="41" name="Text 39"/>
          <p:cNvSpPr/>
          <p:nvPr/>
        </p:nvSpPr>
        <p:spPr>
          <a:xfrm>
            <a:off x="7030793" y="7122929"/>
            <a:ext cx="2078998" cy="3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3–4</a:t>
            </a:r>
            <a:endParaRPr lang="en-US" sz="1378" dirty="0"/>
          </a:p>
        </p:txBody>
      </p:sp>
      <p:sp>
        <p:nvSpPr>
          <p:cNvPr id="42" name="Text 40"/>
          <p:cNvSpPr/>
          <p:nvPr/>
        </p:nvSpPr>
        <p:spPr>
          <a:xfrm>
            <a:off x="7030793" y="7488329"/>
            <a:ext cx="2078998" cy="62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7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IA/OCR + QA + onboarding piloto</a:t>
            </a:r>
            <a:endParaRPr lang="en-US" sz="1171" dirty="0"/>
          </a:p>
        </p:txBody>
      </p:sp>
      <p:sp>
        <p:nvSpPr>
          <p:cNvPr id="43" name="Text 41"/>
          <p:cNvSpPr/>
          <p:nvPr/>
        </p:nvSpPr>
        <p:spPr>
          <a:xfrm>
            <a:off x="7030793" y="8118328"/>
            <a:ext cx="2078998" cy="27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2" b="1" dirty="0">
                <a:solidFill>
                  <a:srgbClr val="F4A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2" dirty="0"/>
          </a:p>
        </p:txBody>
      </p:sp>
      <p:sp>
        <p:nvSpPr>
          <p:cNvPr id="44" name="Text 42"/>
          <p:cNvSpPr/>
          <p:nvPr/>
        </p:nvSpPr>
        <p:spPr>
          <a:xfrm>
            <a:off x="9197991" y="7526129"/>
            <a:ext cx="252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80" dirty="0"/>
          </a:p>
        </p:txBody>
      </p:sp>
      <p:sp>
        <p:nvSpPr>
          <p:cNvPr id="45" name="Shape 43"/>
          <p:cNvSpPr/>
          <p:nvPr/>
        </p:nvSpPr>
        <p:spPr>
          <a:xfrm>
            <a:off x="9449991" y="7085129"/>
            <a:ext cx="2771997" cy="1385999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449991" y="7085129"/>
            <a:ext cx="529199" cy="138599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49991" y="7085129"/>
            <a:ext cx="529199" cy="138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9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29" dirty="0"/>
          </a:p>
        </p:txBody>
      </p:sp>
      <p:sp>
        <p:nvSpPr>
          <p:cNvPr id="48" name="Text 46"/>
          <p:cNvSpPr/>
          <p:nvPr/>
        </p:nvSpPr>
        <p:spPr>
          <a:xfrm>
            <a:off x="10054790" y="7122929"/>
            <a:ext cx="2078998" cy="3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7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5–6</a:t>
            </a:r>
            <a:endParaRPr lang="en-US" sz="1378" dirty="0"/>
          </a:p>
        </p:txBody>
      </p:sp>
      <p:sp>
        <p:nvSpPr>
          <p:cNvPr id="49" name="Text 47"/>
          <p:cNvSpPr/>
          <p:nvPr/>
        </p:nvSpPr>
        <p:spPr>
          <a:xfrm>
            <a:off x="10054790" y="7488329"/>
            <a:ext cx="2078998" cy="62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7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+ monitoreo ROI en tiempo real</a:t>
            </a:r>
            <a:endParaRPr lang="en-US" sz="1171" dirty="0"/>
          </a:p>
        </p:txBody>
      </p:sp>
      <p:sp>
        <p:nvSpPr>
          <p:cNvPr id="50" name="Text 48"/>
          <p:cNvSpPr/>
          <p:nvPr/>
        </p:nvSpPr>
        <p:spPr>
          <a:xfrm>
            <a:off x="10054790" y="8118328"/>
            <a:ext cx="2078998" cy="27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2" b="1" dirty="0">
                <a:solidFill>
                  <a:srgbClr val="F4A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2" dirty="0"/>
          </a:p>
        </p:txBody>
      </p:sp>
      <p:sp>
        <p:nvSpPr>
          <p:cNvPr id="51" name="Shape 49"/>
          <p:cNvSpPr/>
          <p:nvPr/>
        </p:nvSpPr>
        <p:spPr>
          <a:xfrm>
            <a:off x="0" y="8590828"/>
            <a:ext cx="12599988" cy="35280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8000" y="8584528"/>
            <a:ext cx="11843988" cy="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9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automatizamos el proceso actual — lo transformamos."  </a:t>
            </a:r>
            <a:r>
              <a:rPr lang="en-US" sz="1309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Criterio CUMPLIDO: ROI positivo y Payback ≤ 18 meses  ✓</a:t>
            </a:r>
            <a:endParaRPr lang="en-US" sz="130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15C56D-8EA3-D4BB-6764-FCAEC75A4A24}"/>
              </a:ext>
            </a:extLst>
          </p:cNvPr>
          <p:cNvSpPr txBox="1"/>
          <p:nvPr/>
        </p:nvSpPr>
        <p:spPr>
          <a:xfrm>
            <a:off x="2994212" y="392582"/>
            <a:ext cx="84268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https://gsandoval.atlassian.net/jira/software/projects/SCRUM/boards/1/backlog?atlOrigin=eyJpIjoiODY5YTk1MGYyYWUyNDQwZWI0ZjZmMDFmZGEyZjQ0OGEiLCJwIjoiaiJ9</a:t>
            </a:r>
            <a:endParaRPr lang="es-ES_tradnl" dirty="0">
              <a:solidFill>
                <a:srgbClr val="002060"/>
              </a:solidFill>
            </a:endParaRPr>
          </a:p>
          <a:p>
            <a:endParaRPr lang="es-ES_tradnl" dirty="0">
              <a:solidFill>
                <a:srgbClr val="00206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73406A-6F3F-2F23-235F-BAD66B66AB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220" r="574"/>
          <a:stretch/>
        </p:blipFill>
        <p:spPr>
          <a:xfrm>
            <a:off x="-1" y="6060140"/>
            <a:ext cx="6299993" cy="37693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798B1DD-6DF5-3FC2-BFBC-F34A40B313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/>
          <a:stretch/>
        </p:blipFill>
        <p:spPr>
          <a:xfrm>
            <a:off x="6299994" y="6060141"/>
            <a:ext cx="6299994" cy="37693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AFDCAF-8FDC-5858-ED89-E26641BCA9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118" y="1315912"/>
            <a:ext cx="8449463" cy="4545634"/>
          </a:xfrm>
          <a:prstGeom prst="rect">
            <a:avLst/>
          </a:prstGeom>
        </p:spPr>
      </p:pic>
      <p:pic>
        <p:nvPicPr>
          <p:cNvPr id="2050" name="Picture 2" descr="Getting Started with Jira REST API | by Elif ÇETİNER | Medium">
            <a:extLst>
              <a:ext uri="{FF2B5EF4-FFF2-40B4-BE49-F238E27FC236}">
                <a16:creationId xmlns:a16="http://schemas.microsoft.com/office/drawing/2014/main" id="{ED8BF75B-6BDF-54CB-408D-FEF1F057C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80" y="190576"/>
            <a:ext cx="2692032" cy="1408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80360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ería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{B933763D-94D3-E24E-ACF7-CD4C69AAA873}tf10001119</Template>
  <TotalTime>5668</TotalTime>
  <Words>4300</Words>
  <Application>Microsoft Macintosh PowerPoint</Application>
  <PresentationFormat>Personalizado</PresentationFormat>
  <Paragraphs>293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Palatino Linotype</vt:lpstr>
      <vt:lpstr>Verdana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Luis Tolosa Arias</dc:creator>
  <cp:lastModifiedBy>GABRIEL SANDOVAL</cp:lastModifiedBy>
  <cp:revision>16</cp:revision>
  <dcterms:created xsi:type="dcterms:W3CDTF">2026-02-09T05:07:28Z</dcterms:created>
  <dcterms:modified xsi:type="dcterms:W3CDTF">2026-02-24T23:25:21Z</dcterms:modified>
</cp:coreProperties>
</file>